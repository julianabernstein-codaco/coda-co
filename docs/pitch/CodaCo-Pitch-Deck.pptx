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charts/chart1.xml" ContentType="application/vnd.openxmlformats-officedocument.drawingml.chart+xml"/>
  <Override PartName="/ppt/slideMasters/slideMaster7.xml" ContentType="application/vnd.openxmlformats-officedocument.presentationml.slideMaster+xml"/>
  <Override PartName="/ppt/slides/slide7.xml" ContentType="application/vnd.openxmlformats-officedocument.presentationml.slide+xml"/>
  <Override PartName="/ppt/charts/chart2.xml" ContentType="application/vnd.openxmlformats-officedocument.drawingml.chart+xml"/>
  <Override PartName="/ppt/slideMasters/slideMaster8.xml" ContentType="application/vnd.openxmlformats-officedocument.presentationml.slideMaster+xml"/>
  <Override PartName="/ppt/slides/slide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Lst>
  <p:notesMasterIdLst>
    <p:notesMasterId r:id="rId1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notesMaster" Target="notesMasters/notesMaster1.xml"/><Relationship Id="rId11" Type="http://schemas.openxmlformats.org/officeDocument/2006/relationships/presProps" Target="presProps.xml"/><Relationship Id="rId12" Type="http://schemas.openxmlformats.org/officeDocument/2006/relationships/viewProps" Target="viewProps.xml"/><Relationship Id="rId13" Type="http://schemas.openxmlformats.org/officeDocument/2006/relationships/theme" Target="theme/theme1.xml"/><Relationship Id="rId14"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2C2825"/>
                </a:solidFill>
                <a:latin typeface="Calibri"/>
              </a:defRPr>
            </a:pPr>
            <a:r>
              <a:rPr sz="1300" b="0" i="0" u="none" strike="noStrike">
                <a:solidFill>
                  <a:srgbClr val="2C2825"/>
                </a:solidFill>
                <a:latin typeface="Calibri"/>
              </a:rPr>
              <a:t>Monthly subscription revenue by market</a:t>
            </a:r>
          </a:p>
        </c:rich>
      </c:tx>
      <c:layout/>
      <c:overlay val="0"/>
    </c:title>
    <c:autoTitleDeleted val="0"/>
    <c:plotArea>
      <c:layout/>
      <c:barChart>
        <c:barDir val="col"/>
        <c:grouping val="stacked"/>
        <c:varyColors val="0"/>
        <c:ser>
          <c:idx val="0"/>
          <c:order val="0"/>
          <c:tx>
            <c:strRef>
              <c:f>Sheet1!$B$1</c:f>
              <c:strCache>
                <c:ptCount val="1"/>
                <c:pt idx="0">
                  <c:v>Portland</c:v>
                </c:pt>
              </c:strCache>
            </c:strRef>
          </c:tx>
          <c:spPr>
            <a:solidFill>
              <a:srgbClr val="C1634F"/>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Sheet1!$A$2:$A$13</c:f>
              <c:multiLvlStrCache>
                <c:ptCount val="12"/>
                <c:lvl>
                  <c:pt idx="0">
                    <c:v>Nov '26</c:v>
                  </c:pt>
                  <c:pt idx="1">
                    <c:v>Dec</c:v>
                  </c:pt>
                  <c:pt idx="2">
                    <c:v>Jan '27</c:v>
                  </c:pt>
                  <c:pt idx="3">
                    <c:v>Feb</c:v>
                  </c:pt>
                  <c:pt idx="4">
                    <c:v>Mar</c:v>
                  </c:pt>
                  <c:pt idx="5">
                    <c:v>Apr</c:v>
                  </c:pt>
                  <c:pt idx="6">
                    <c:v>May</c:v>
                  </c:pt>
                  <c:pt idx="7">
                    <c:v>Jun</c:v>
                  </c:pt>
                  <c:pt idx="8">
                    <c:v>Jul</c:v>
                  </c:pt>
                  <c:pt idx="9">
                    <c:v>Aug</c:v>
                  </c:pt>
                  <c:pt idx="10">
                    <c:v>Sep</c:v>
                  </c:pt>
                  <c:pt idx="11">
                    <c:v>Oct '27</c:v>
                  </c:pt>
                </c:lvl>
              </c:multiLvlStrCache>
            </c:multiLvlStrRef>
          </c:cat>
          <c:val>
            <c:numRef>
              <c:f>Sheet1!$B$2:$B$13</c:f>
              <c:numCache>
                <c:formatCode>General</c:formatCode>
                <c:ptCount val="12"/>
                <c:pt idx="0">
                  <c:v>0</c:v>
                </c:pt>
                <c:pt idx="1">
                  <c:v>870</c:v>
                </c:pt>
                <c:pt idx="2">
                  <c:v>1363</c:v>
                </c:pt>
                <c:pt idx="3">
                  <c:v>1885</c:v>
                </c:pt>
                <c:pt idx="4">
                  <c:v>2407</c:v>
                </c:pt>
                <c:pt idx="5">
                  <c:v>2813</c:v>
                </c:pt>
                <c:pt idx="6">
                  <c:v>3219</c:v>
                </c:pt>
                <c:pt idx="7">
                  <c:v>3625</c:v>
                </c:pt>
                <c:pt idx="8">
                  <c:v>4031</c:v>
                </c:pt>
                <c:pt idx="9">
                  <c:v>4321</c:v>
                </c:pt>
                <c:pt idx="10">
                  <c:v>4640</c:v>
                </c:pt>
                <c:pt idx="11">
                  <c:v>4959</c:v>
                </c:pt>
              </c:numCache>
            </c:numRef>
          </c:val>
        </c:ser>
        <c:ser>
          <c:idx val="1"/>
          <c:order val="1"/>
          <c:tx>
            <c:strRef>
              <c:f>Sheet1!$C$1</c:f>
              <c:strCache>
                <c:ptCount val="1"/>
                <c:pt idx="0">
                  <c:v>Denver</c:v>
                </c:pt>
              </c:strCache>
            </c:strRef>
          </c:tx>
          <c:spPr>
            <a:solidFill>
              <a:srgbClr val="7A9E82"/>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Sheet1!$A$2:$A$13</c:f>
              <c:multiLvlStrCache>
                <c:ptCount val="12"/>
                <c:lvl>
                  <c:pt idx="0">
                    <c:v>Nov '26</c:v>
                  </c:pt>
                  <c:pt idx="1">
                    <c:v>Dec</c:v>
                  </c:pt>
                  <c:pt idx="2">
                    <c:v>Jan '27</c:v>
                  </c:pt>
                  <c:pt idx="3">
                    <c:v>Feb</c:v>
                  </c:pt>
                  <c:pt idx="4">
                    <c:v>Mar</c:v>
                  </c:pt>
                  <c:pt idx="5">
                    <c:v>Apr</c:v>
                  </c:pt>
                  <c:pt idx="6">
                    <c:v>May</c:v>
                  </c:pt>
                  <c:pt idx="7">
                    <c:v>Jun</c:v>
                  </c:pt>
                  <c:pt idx="8">
                    <c:v>Jul</c:v>
                  </c:pt>
                  <c:pt idx="9">
                    <c:v>Aug</c:v>
                  </c:pt>
                  <c:pt idx="10">
                    <c:v>Sep</c:v>
                  </c:pt>
                  <c:pt idx="11">
                    <c:v>Oct '27</c:v>
                  </c:pt>
                </c:lvl>
              </c:multiLvlStrCache>
            </c:multiLvlStrRef>
          </c:cat>
          <c:val>
            <c:numRef>
              <c:f>Sheet1!$C$2:$C$13</c:f>
              <c:numCache>
                <c:formatCode>General</c:formatCode>
                <c:ptCount val="12"/>
                <c:pt idx="0">
                  <c:v>0</c:v>
                </c:pt>
                <c:pt idx="1">
                  <c:v>754</c:v>
                </c:pt>
                <c:pt idx="2">
                  <c:v>1363</c:v>
                </c:pt>
                <c:pt idx="3">
                  <c:v>2001</c:v>
                </c:pt>
                <c:pt idx="4">
                  <c:v>2639</c:v>
                </c:pt>
                <c:pt idx="5">
                  <c:v>3161</c:v>
                </c:pt>
                <c:pt idx="6">
                  <c:v>3683</c:v>
                </c:pt>
                <c:pt idx="7">
                  <c:v>4205</c:v>
                </c:pt>
                <c:pt idx="8">
                  <c:v>4437</c:v>
                </c:pt>
                <c:pt idx="9">
                  <c:v>4698</c:v>
                </c:pt>
                <c:pt idx="10">
                  <c:v>4959</c:v>
                </c:pt>
                <c:pt idx="11">
                  <c:v>5220</c:v>
                </c:pt>
              </c:numCache>
            </c:numRef>
          </c:val>
        </c:ser>
        <c:ser>
          <c:idx val="2"/>
          <c:order val="2"/>
          <c:tx>
            <c:strRef>
              <c:f>Sheet1!$D$1</c:f>
              <c:strCache>
                <c:ptCount val="1"/>
                <c:pt idx="0">
                  <c:v>Seattle</c:v>
                </c:pt>
              </c:strCache>
            </c:strRef>
          </c:tx>
          <c:spPr>
            <a:solidFill>
              <a:srgbClr val="D4876F"/>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Sheet1!$A$2:$A$13</c:f>
              <c:multiLvlStrCache>
                <c:ptCount val="12"/>
                <c:lvl>
                  <c:pt idx="0">
                    <c:v>Nov '26</c:v>
                  </c:pt>
                  <c:pt idx="1">
                    <c:v>Dec</c:v>
                  </c:pt>
                  <c:pt idx="2">
                    <c:v>Jan '27</c:v>
                  </c:pt>
                  <c:pt idx="3">
                    <c:v>Feb</c:v>
                  </c:pt>
                  <c:pt idx="4">
                    <c:v>Mar</c:v>
                  </c:pt>
                  <c:pt idx="5">
                    <c:v>Apr</c:v>
                  </c:pt>
                  <c:pt idx="6">
                    <c:v>May</c:v>
                  </c:pt>
                  <c:pt idx="7">
                    <c:v>Jun</c:v>
                  </c:pt>
                  <c:pt idx="8">
                    <c:v>Jul</c:v>
                  </c:pt>
                  <c:pt idx="9">
                    <c:v>Aug</c:v>
                  </c:pt>
                  <c:pt idx="10">
                    <c:v>Sep</c:v>
                  </c:pt>
                  <c:pt idx="11">
                    <c:v>Oct '27</c:v>
                  </c:pt>
                </c:lvl>
              </c:multiLvlStrCache>
            </c:multiLvlStrRef>
          </c:cat>
          <c:val>
            <c:numRef>
              <c:f>Sheet1!$D$2:$D$13</c:f>
              <c:numCache>
                <c:formatCode>General</c:formatCode>
                <c:ptCount val="12"/>
                <c:pt idx="0">
                  <c:v>0</c:v>
                </c:pt>
                <c:pt idx="1">
                  <c:v>0</c:v>
                </c:pt>
                <c:pt idx="2">
                  <c:v>0</c:v>
                </c:pt>
                <c:pt idx="3">
                  <c:v>0</c:v>
                </c:pt>
                <c:pt idx="4">
                  <c:v>0</c:v>
                </c:pt>
                <c:pt idx="5">
                  <c:v>0</c:v>
                </c:pt>
                <c:pt idx="6">
                  <c:v>522</c:v>
                </c:pt>
                <c:pt idx="7">
                  <c:v>1305</c:v>
                </c:pt>
                <c:pt idx="8">
                  <c:v>2088</c:v>
                </c:pt>
                <c:pt idx="9">
                  <c:v>2726</c:v>
                </c:pt>
                <c:pt idx="10">
                  <c:v>3364</c:v>
                </c:pt>
                <c:pt idx="11">
                  <c:v>4031</c:v>
                </c:pt>
              </c:numCache>
            </c:numRef>
          </c:val>
        </c:ser>
        <c:ser>
          <c:idx val="3"/>
          <c:order val="3"/>
          <c:tx>
            <c:strRef>
              <c:f>Sheet1!$E$1</c:f>
              <c:strCache>
                <c:ptCount val="1"/>
                <c:pt idx="0">
                  <c:v>Los Angeles</c:v>
                </c:pt>
              </c:strCache>
            </c:strRef>
          </c:tx>
          <c:spPr>
            <a:solidFill>
              <a:srgbClr val="4D7255"/>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Sheet1!$A$2:$A$13</c:f>
              <c:multiLvlStrCache>
                <c:ptCount val="12"/>
                <c:lvl>
                  <c:pt idx="0">
                    <c:v>Nov '26</c:v>
                  </c:pt>
                  <c:pt idx="1">
                    <c:v>Dec</c:v>
                  </c:pt>
                  <c:pt idx="2">
                    <c:v>Jan '27</c:v>
                  </c:pt>
                  <c:pt idx="3">
                    <c:v>Feb</c:v>
                  </c:pt>
                  <c:pt idx="4">
                    <c:v>Mar</c:v>
                  </c:pt>
                  <c:pt idx="5">
                    <c:v>Apr</c:v>
                  </c:pt>
                  <c:pt idx="6">
                    <c:v>May</c:v>
                  </c:pt>
                  <c:pt idx="7">
                    <c:v>Jun</c:v>
                  </c:pt>
                  <c:pt idx="8">
                    <c:v>Jul</c:v>
                  </c:pt>
                  <c:pt idx="9">
                    <c:v>Aug</c:v>
                  </c:pt>
                  <c:pt idx="10">
                    <c:v>Sep</c:v>
                  </c:pt>
                  <c:pt idx="11">
                    <c:v>Oct '27</c:v>
                  </c:pt>
                </c:lvl>
              </c:multiLvlStrCache>
            </c:multiLvlStrRef>
          </c:cat>
          <c:val>
            <c:numRef>
              <c:f>Sheet1!$E$2:$E$13</c:f>
              <c:numCache>
                <c:formatCode>General</c:formatCode>
                <c:ptCount val="12"/>
                <c:pt idx="0">
                  <c:v>0</c:v>
                </c:pt>
                <c:pt idx="1">
                  <c:v>0</c:v>
                </c:pt>
                <c:pt idx="2">
                  <c:v>0</c:v>
                </c:pt>
                <c:pt idx="3">
                  <c:v>0</c:v>
                </c:pt>
                <c:pt idx="4">
                  <c:v>0</c:v>
                </c:pt>
                <c:pt idx="5">
                  <c:v>0</c:v>
                </c:pt>
                <c:pt idx="6">
                  <c:v>0</c:v>
                </c:pt>
                <c:pt idx="7">
                  <c:v>0</c:v>
                </c:pt>
                <c:pt idx="8">
                  <c:v>0</c:v>
                </c:pt>
                <c:pt idx="9">
                  <c:v>928</c:v>
                </c:pt>
                <c:pt idx="10">
                  <c:v>1769</c:v>
                </c:pt>
                <c:pt idx="11">
                  <c:v>2610</c:v>
                </c:pt>
              </c:numCache>
            </c:numRef>
          </c:val>
        </c:ser>
        <c:ser>
          <c:idx val="4"/>
          <c:order val="4"/>
          <c:tx>
            <c:strRef>
              <c:f>Sheet1!$F$1</c:f>
              <c:strCache>
                <c:ptCount val="1"/>
                <c:pt idx="0">
                  <c:v>Shipped goods</c:v>
                </c:pt>
              </c:strCache>
            </c:strRef>
          </c:tx>
          <c:spPr>
            <a:solidFill>
              <a:srgbClr val="A8C4AC"/>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Sheet1!$A$2:$A$13</c:f>
              <c:multiLvlStrCache>
                <c:ptCount val="12"/>
                <c:lvl>
                  <c:pt idx="0">
                    <c:v>Nov '26</c:v>
                  </c:pt>
                  <c:pt idx="1">
                    <c:v>Dec</c:v>
                  </c:pt>
                  <c:pt idx="2">
                    <c:v>Jan '27</c:v>
                  </c:pt>
                  <c:pt idx="3">
                    <c:v>Feb</c:v>
                  </c:pt>
                  <c:pt idx="4">
                    <c:v>Mar</c:v>
                  </c:pt>
                  <c:pt idx="5">
                    <c:v>Apr</c:v>
                  </c:pt>
                  <c:pt idx="6">
                    <c:v>May</c:v>
                  </c:pt>
                  <c:pt idx="7">
                    <c:v>Jun</c:v>
                  </c:pt>
                  <c:pt idx="8">
                    <c:v>Jul</c:v>
                  </c:pt>
                  <c:pt idx="9">
                    <c:v>Aug</c:v>
                  </c:pt>
                  <c:pt idx="10">
                    <c:v>Sep</c:v>
                  </c:pt>
                  <c:pt idx="11">
                    <c:v>Oct '27</c:v>
                  </c:pt>
                </c:lvl>
              </c:multiLvlStrCache>
            </c:multiLvlStrRef>
          </c:cat>
          <c:val>
            <c:numRef>
              <c:f>Sheet1!$F$2:$F$13</c:f>
              <c:numCache>
                <c:formatCode>General</c:formatCode>
                <c:ptCount val="12"/>
                <c:pt idx="0">
                  <c:v>0</c:v>
                </c:pt>
                <c:pt idx="1">
                  <c:v>348</c:v>
                </c:pt>
                <c:pt idx="2">
                  <c:v>667</c:v>
                </c:pt>
                <c:pt idx="3">
                  <c:v>986</c:v>
                </c:pt>
                <c:pt idx="4">
                  <c:v>1247</c:v>
                </c:pt>
                <c:pt idx="5">
                  <c:v>1508</c:v>
                </c:pt>
                <c:pt idx="6">
                  <c:v>1769</c:v>
                </c:pt>
                <c:pt idx="7">
                  <c:v>2030</c:v>
                </c:pt>
                <c:pt idx="8">
                  <c:v>2291</c:v>
                </c:pt>
                <c:pt idx="9">
                  <c:v>2552</c:v>
                </c:pt>
                <c:pt idx="10">
                  <c:v>2755</c:v>
                </c:pt>
                <c:pt idx="11">
                  <c:v>2958</c:v>
                </c:pt>
              </c:numCache>
            </c:numRef>
          </c:val>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gapWidth val="45"/>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900" b="0" i="0" u="none" strike="noStrike">
                <a:solidFill>
                  <a:srgbClr val="5A534C"/>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9525" cap="flat">
              <a:solidFill>
                <a:srgbClr val="E7E3DE"/>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900" b="0" i="0" u="none" strike="noStrike">
                <a:solidFill>
                  <a:srgbClr val="5A534C"/>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000">
              <a:solidFill>
                <a:srgbClr val="5A534C"/>
              </a:solidFill>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2C2825"/>
                </a:solidFill>
                <a:latin typeface="Calibri"/>
              </a:defRPr>
            </a:pPr>
            <a:r>
              <a:rPr sz="1300" b="0" i="0" u="none" strike="noStrike">
                <a:solidFill>
                  <a:srgbClr val="2C2825"/>
                </a:solidFill>
                <a:latin typeface="Calibri"/>
              </a:rPr>
              <a:t>Annual subscription revenue</a:t>
            </a:r>
          </a:p>
        </c:rich>
      </c:tx>
      <c:layout/>
      <c:overlay val="0"/>
    </c:title>
    <c:autoTitleDeleted val="0"/>
    <c:plotArea>
      <c:layout/>
      <c:barChart>
        <c:barDir val="col"/>
        <c:grouping val="clustered"/>
        <c:varyColors val="0"/>
        <c:ser>
          <c:idx val="0"/>
          <c:order val="0"/>
          <c:tx>
            <c:strRef>
              <c:f>Sheet1!$B$1</c:f>
              <c:strCache>
                <c:ptCount val="1"/>
                <c:pt idx="0">
                  <c:v>Annual revenue</c:v>
                </c:pt>
              </c:strCache>
            </c:strRef>
          </c:tx>
          <c:spPr>
            <a:solidFill>
              <a:srgbClr val="C1634F"/>
            </a:solidFill>
            <a:effectLst/>
          </c:spPr>
          <c:invertIfNegative val="0"/>
          <c:dLbls>
            <c:numFmt formatCode="&quot;$&quot;#,##0" sourceLinked="0"/>
            <c:txPr>
              <a:bodyPr/>
              <a:lstStyle/>
              <a:p>
                <a:pPr>
                  <a:defRPr b="1" i="0" strike="noStrike" sz="1200" u="none">
                    <a:solidFill>
                      <a:srgbClr val="2C2825"/>
                    </a:solidFill>
                    <a:latin typeface="Calibri"/>
                  </a:defRPr>
                </a:pPr>
              </a:p>
            </c:txPr>
            <c:showLegendKey val="0"/>
            <c:showVal val="1"/>
            <c:showCatName val="0"/>
            <c:showSerName val="0"/>
            <c:showPercent val="0"/>
            <c:showBubbleSize val="0"/>
            <c:showLeaderLines val="0"/>
          </c:dLbls>
          <c:cat>
            <c:multiLvlStrRef>
              <c:f>Sheet1!$A$2:$A$4</c:f>
              <c:multiLvlStrCache>
                <c:ptCount val="3"/>
                <c:lvl>
                  <c:pt idx="0">
                    <c:v>Year 1</c:v>
                  </c:pt>
                  <c:pt idx="1">
                    <c:v>Year 2</c:v>
                  </c:pt>
                  <c:pt idx="2">
                    <c:v>Year 3</c:v>
                  </c:pt>
                </c:lvl>
              </c:multiLvlStrCache>
            </c:multiLvlStrRef>
          </c:cat>
          <c:val>
            <c:numRef>
              <c:f>Sheet1!$B$2:$B$4</c:f>
              <c:numCache>
                <c:formatCode>General</c:formatCode>
                <c:ptCount val="3"/>
                <c:pt idx="0">
                  <c:v>109707</c:v>
                </c:pt>
                <c:pt idx="1">
                  <c:v>411916</c:v>
                </c:pt>
                <c:pt idx="2">
                  <c:v>1046949</c:v>
                </c:pt>
              </c:numCache>
            </c:numRef>
          </c:val>
        </c:ser>
        <c:dLbls>
          <c:numFmt formatCode="&quot;$&quot;#,##0" sourceLinked="0"/>
          <c:txPr>
            <a:bodyPr/>
            <a:lstStyle/>
            <a:p>
              <a:pPr>
                <a:defRPr b="1" i="0" strike="noStrike" sz="1200" u="none">
                  <a:solidFill>
                    <a:srgbClr val="2C2825"/>
                  </a:solidFill>
                  <a:latin typeface="Calibri"/>
                </a:defRPr>
              </a:pPr>
            </a:p>
          </c:txPr>
          <c:showLegendKey val="0"/>
          <c:showVal val="1"/>
          <c:showCatName val="0"/>
          <c:showSerName val="0"/>
          <c:showPercent val="0"/>
          <c:showBubbleSize val="0"/>
          <c:showLeaderLines val="0"/>
        </c:dLbls>
        <c:gapWidth val="9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100" b="0" i="0" u="none" strike="noStrike">
                <a:solidFill>
                  <a:srgbClr val="5A534C"/>
                </a:solidFill>
                <a:latin typeface="Calibri"/>
              </a:defRPr>
            </a:pPr>
            <a:endParaRPr lang="en-US"/>
          </a:p>
        </c:txPr>
        <c:crossAx val="2094734552"/>
        <c:crosses val="autoZero"/>
        <c:auto val="1"/>
        <c:lblAlgn val="ctr"/>
        <c:noMultiLvlLbl val="1"/>
      </c:catAx>
      <c:valAx>
        <c:axId val="2094734552"/>
        <c:scaling>
          <c:orientation val="minMax"/>
          <c:max val="1200000"/>
          <c:min val="0"/>
        </c:scaling>
        <c:delete val="0"/>
        <c:axPos val="l"/>
        <c:majorGridlines>
          <c:spPr>
            <a:ln w="9525" cap="flat">
              <a:solidFill>
                <a:srgbClr val="E7E3DE"/>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900" b="0" i="0" u="none" strike="noStrike">
                <a:solidFill>
                  <a:srgbClr val="5A534C"/>
                </a:solidFill>
                <a:latin typeface="Calibri"/>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CodaCo Market is a curated two-sided marketplace for everything families need around death and dying — goods, services and guidance. The product is built and live; we launch 1 November 2026.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founders' own frustration: when facing the death of someone you love, the resources you need are scattered, poorly described and hard to compare — and you are doing the research at the worst possible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sides of one marketplace: shipped goods from makers nationwide, and services matched to the searcher's zip code against each vendor's own service radius. Curation is the product — every listing is reviewed.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engineering risk is largely behind us. Vendors can already sign up, be approved, publish listings and be billed. What remains before revenue-bearing transactions is the buyer checkout path.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Deliberately a subscription, not a take rate. It removes the incentive to fight vendors over attribution, and it makes revenue legible long before transaction volume is meaningful. The upside lines — gift cards, client billing, sponsorship — are excluded from the projections entirely.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dollar here is a $29 subscription — no goods transaction revenue, no gift cards, no client billing, no sponsorship. Portland and Denver carry the first six months; Seattle arriving in May and Los Angeles in August is what compounds into Year 2, and the year exits at nearly double its mid-year run rate. New York opens just after this window, in December 2027.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Three-year revenue totals $1.57M, exiting December 2029 at $100,503 a month — roughly $1.21M of annual run rate. The penetration assumption is the conservative part: New York is modelled at one vendor per 42,017 residents against one per 6,281 in Portland, so the largest metros are barely touched. All three annual figures are the spreadsheet's own; Year 1 and Year 3 also tie exactly to the sum of the market columns.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Replace [amount] with the raise before sending. Founders are operators in this space, not outsiders to it — the marketplace exists because they kept being asked for the referrals it now holds.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2C2825"/>
        </a:solidFill>
      </p:bgPr>
    </p:bg>
    <p:spTree>
      <p:nvGrpSpPr>
        <p:cNvPr id="1" name=""/>
        <p:cNvGrpSpPr/>
        <p:nvPr/>
      </p:nvGrpSpPr>
      <p:grpSpPr>
        <a:xfrm>
          <a:off x="0" y="0"/>
          <a:ext cx="0" cy="0"/>
          <a:chOff x="0" y="0"/>
          <a:chExt cx="0" cy="0"/>
        </a:xfrm>
      </p:grpSpPr>
      <p:sp>
        <p:nvSpPr>
          <p:cNvPr id="2" name="Shape 0"/>
          <p:cNvSpPr/>
          <p:nvPr/>
        </p:nvSpPr>
        <p:spPr>
          <a:xfrm>
            <a:off x="9052560" y="-2194560"/>
            <a:ext cx="5943600" cy="5943600"/>
          </a:xfrm>
          <a:prstGeom prst="ellipse">
            <a:avLst/>
          </a:prstGeom>
          <a:solidFill>
            <a:srgbClr val="8B3E2D">
              <a:alpha val="22000"/>
            </a:srgbClr>
          </a:solidFill>
          <a:ln/>
        </p:spPr>
      </p:sp>
      <p:sp>
        <p:nvSpPr>
          <p:cNvPr id="3" name="Shape 1"/>
          <p:cNvSpPr/>
          <p:nvPr/>
        </p:nvSpPr>
        <p:spPr>
          <a:xfrm>
            <a:off x="10424160" y="2377440"/>
            <a:ext cx="5486400" cy="5486400"/>
          </a:xfrm>
          <a:prstGeom prst="ellipse">
            <a:avLst/>
          </a:prstGeom>
          <a:solidFill>
            <a:srgbClr val="4D7255">
              <a:alpha val="18000"/>
            </a:srgbClr>
          </a:solidFill>
          <a:ln/>
        </p:spPr>
      </p:sp>
      <p:sp>
        <p:nvSpPr>
          <p:cNvPr id="4" name="Text 2"/>
          <p:cNvSpPr txBox="1"/>
          <p:nvPr/>
        </p:nvSpPr>
        <p:spPr>
          <a:xfrm>
            <a:off x="777240" y="1417320"/>
            <a:ext cx="7772400" cy="256032"/>
          </a:xfrm>
          <a:prstGeom prst="rect">
            <a:avLst/>
          </a:prstGeom>
          <a:noFill/>
          <a:ln/>
        </p:spPr>
        <p:txBody>
          <a:bodyPr wrap="square" lIns="0" tIns="0" rIns="0" bIns="0" rtlCol="0" anchor="ctr"/>
          <a:lstStyle/>
          <a:p>
            <a:pPr indent="0" marL="0">
              <a:buNone/>
            </a:pPr>
            <a:r>
              <a:rPr lang="en-US" sz="1100" b="1" spc="220" kern="0" dirty="0">
                <a:solidFill>
                  <a:srgbClr val="D4876F"/>
                </a:solidFill>
                <a:latin typeface="Calibri" pitchFamily="34" charset="0"/>
                <a:ea typeface="Calibri" pitchFamily="34" charset="-122"/>
                <a:cs typeface="Calibri" pitchFamily="34" charset="-120"/>
              </a:rPr>
              <a:t>A CURATED MARKETPLACE FOR DEATH AND DYING</a:t>
            </a:r>
            <a:endParaRPr lang="en-US" sz="1100" dirty="0"/>
          </a:p>
        </p:txBody>
      </p:sp>
      <p:sp>
        <p:nvSpPr>
          <p:cNvPr id="5" name="Text 3"/>
          <p:cNvSpPr txBox="1"/>
          <p:nvPr/>
        </p:nvSpPr>
        <p:spPr>
          <a:xfrm>
            <a:off x="731520" y="1783080"/>
            <a:ext cx="7315200" cy="1097280"/>
          </a:xfrm>
          <a:prstGeom prst="rect">
            <a:avLst/>
          </a:prstGeom>
          <a:noFill/>
          <a:ln/>
        </p:spPr>
        <p:txBody>
          <a:bodyPr wrap="square" lIns="0" tIns="0" rIns="0" bIns="0" rtlCol="0" anchor="ctr"/>
          <a:lstStyle/>
          <a:p>
            <a:pPr indent="0" marL="0">
              <a:buNone/>
            </a:pPr>
            <a:r>
              <a:rPr lang="en-US" sz="6800" dirty="0">
                <a:solidFill>
                  <a:srgbClr val="FAF9F7"/>
                </a:solidFill>
                <a:latin typeface="Cambria" pitchFamily="34" charset="0"/>
                <a:ea typeface="Cambria" pitchFamily="34" charset="-122"/>
                <a:cs typeface="Cambria" pitchFamily="34" charset="-120"/>
              </a:rPr>
              <a:t>CodaCo</a:t>
            </a:r>
            <a:endParaRPr lang="en-US" sz="6800" dirty="0"/>
          </a:p>
        </p:txBody>
      </p:sp>
      <p:sp>
        <p:nvSpPr>
          <p:cNvPr id="6" name="Text 4"/>
          <p:cNvSpPr txBox="1"/>
          <p:nvPr/>
        </p:nvSpPr>
        <p:spPr>
          <a:xfrm>
            <a:off x="731520" y="3063240"/>
            <a:ext cx="7680960" cy="1188720"/>
          </a:xfrm>
          <a:prstGeom prst="rect">
            <a:avLst/>
          </a:prstGeom>
          <a:noFill/>
          <a:ln/>
        </p:spPr>
        <p:txBody>
          <a:bodyPr wrap="square" lIns="0" tIns="0" rIns="0" bIns="0" rtlCol="0" anchor="ctr"/>
          <a:lstStyle/>
          <a:p>
            <a:pPr indent="0" marL="0">
              <a:lnSpc>
                <a:spcPts val="4000"/>
              </a:lnSpc>
              <a:buNone/>
            </a:pPr>
            <a:r>
              <a:rPr lang="en-US" sz="2900" i="1" dirty="0">
                <a:solidFill>
                  <a:srgbClr val="FAF9F7"/>
                </a:solidFill>
                <a:latin typeface="Cambria" pitchFamily="34" charset="0"/>
                <a:ea typeface="Cambria" pitchFamily="34" charset="-122"/>
                <a:cs typeface="Cambria" pitchFamily="34" charset="-120"/>
              </a:rPr>
              <a:t>Death is a part of life.</a:t>
            </a:r>
            <a:endParaRPr lang="en-US" sz="2900" dirty="0"/>
          </a:p>
          <a:p>
            <a:pPr indent="0" marL="0">
              <a:lnSpc>
                <a:spcPts val="4000"/>
              </a:lnSpc>
              <a:buNone/>
            </a:pPr>
            <a:r>
              <a:rPr lang="en-US" sz="2900" i="1" dirty="0">
                <a:solidFill>
                  <a:srgbClr val="D4876F"/>
                </a:solidFill>
                <a:latin typeface="Cambria" pitchFamily="34" charset="0"/>
                <a:ea typeface="Cambria" pitchFamily="34" charset="-122"/>
                <a:cs typeface="Cambria" pitchFamily="34" charset="-120"/>
              </a:rPr>
              <a:t>Support should be easy to find.</a:t>
            </a:r>
            <a:endParaRPr lang="en-US" sz="2900" dirty="0"/>
          </a:p>
        </p:txBody>
      </p:sp>
      <p:sp>
        <p:nvSpPr>
          <p:cNvPr id="7" name="Text 5"/>
          <p:cNvSpPr txBox="1"/>
          <p:nvPr/>
        </p:nvSpPr>
        <p:spPr>
          <a:xfrm>
            <a:off x="731520" y="4370832"/>
            <a:ext cx="6766560" cy="822960"/>
          </a:xfrm>
          <a:prstGeom prst="rect">
            <a:avLst/>
          </a:prstGeom>
          <a:noFill/>
          <a:ln/>
        </p:spPr>
        <p:txBody>
          <a:bodyPr wrap="square" lIns="0" tIns="0" rIns="0" bIns="0" rtlCol="0" anchor="ctr"/>
          <a:lstStyle/>
          <a:p>
            <a:pPr indent="0" marL="0">
              <a:lnSpc>
                <a:spcPts val="2200"/>
              </a:lnSpc>
              <a:buNone/>
            </a:pPr>
            <a:r>
              <a:rPr lang="en-US" sz="1450" dirty="0">
                <a:solidFill>
                  <a:srgbClr val="EFEBE5"/>
                </a:solidFill>
                <a:latin typeface="Calibri" pitchFamily="34" charset="0"/>
                <a:ea typeface="Calibri" pitchFamily="34" charset="-122"/>
                <a:cs typeface="Calibri" pitchFamily="34" charset="-120"/>
              </a:rPr>
              <a:t>Goods, services, and plain-language guidance — brought into one welcoming place for families planning ahead or grieving a loss.</a:t>
            </a:r>
            <a:endParaRPr lang="en-US" sz="1450" dirty="0"/>
          </a:p>
        </p:txBody>
      </p:sp>
      <p:sp>
        <p:nvSpPr>
          <p:cNvPr id="8" name="Text 6"/>
          <p:cNvSpPr txBox="1"/>
          <p:nvPr/>
        </p:nvSpPr>
        <p:spPr>
          <a:xfrm>
            <a:off x="731520" y="5943600"/>
            <a:ext cx="5486400" cy="274320"/>
          </a:xfrm>
          <a:prstGeom prst="rect">
            <a:avLst/>
          </a:prstGeom>
          <a:noFill/>
          <a:ln/>
        </p:spPr>
        <p:txBody>
          <a:bodyPr wrap="square" lIns="0" tIns="0" rIns="0" bIns="0" rtlCol="0" anchor="ctr"/>
          <a:lstStyle/>
          <a:p>
            <a:pPr indent="0" marL="0">
              <a:buNone/>
            </a:pPr>
            <a:r>
              <a:rPr lang="en-US" sz="1150" dirty="0">
                <a:solidFill>
                  <a:srgbClr val="B4ACA3"/>
                </a:solidFill>
                <a:latin typeface="Calibri" pitchFamily="34" charset="0"/>
                <a:ea typeface="Calibri" pitchFamily="34" charset="-122"/>
                <a:cs typeface="Calibri" pitchFamily="34" charset="-120"/>
              </a:rPr>
              <a:t>Investor overview  ·  Three-year projections</a:t>
            </a:r>
            <a:endParaRPr lang="en-US" sz="1150" dirty="0"/>
          </a:p>
        </p:txBody>
      </p:sp>
      <p:sp>
        <p:nvSpPr>
          <p:cNvPr id="9" name="Text 7"/>
          <p:cNvSpPr txBox="1"/>
          <p:nvPr/>
        </p:nvSpPr>
        <p:spPr>
          <a:xfrm>
            <a:off x="5760720" y="5943600"/>
            <a:ext cx="5669280" cy="274320"/>
          </a:xfrm>
          <a:prstGeom prst="rect">
            <a:avLst/>
          </a:prstGeom>
          <a:noFill/>
          <a:ln/>
        </p:spPr>
        <p:txBody>
          <a:bodyPr wrap="square" lIns="0" tIns="0" rIns="0" bIns="0" rtlCol="0" anchor="ctr"/>
          <a:lstStyle/>
          <a:p>
            <a:pPr algn="r" indent="0" marL="0">
              <a:buNone/>
            </a:pPr>
            <a:r>
              <a:rPr lang="en-US" sz="1150" dirty="0">
                <a:solidFill>
                  <a:srgbClr val="B4ACA3"/>
                </a:solidFill>
                <a:latin typeface="Calibri" pitchFamily="34" charset="0"/>
                <a:ea typeface="Calibri" pitchFamily="34" charset="-122"/>
                <a:cs typeface="Calibri" pitchFamily="34" charset="-120"/>
              </a:rPr>
              <a:t>Launching 1 November 2026  ·  coda-co-nine.vercel.app</a:t>
            </a:r>
            <a:endParaRPr lang="en-US" sz="11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AF9F7"/>
        </a:solidFill>
      </p:bgPr>
    </p:bg>
    <p:spTree>
      <p:nvGrpSpPr>
        <p:cNvPr id="1" name=""/>
        <p:cNvGrpSpPr/>
        <p:nvPr/>
      </p:nvGrpSpPr>
      <p:grpSpPr>
        <a:xfrm>
          <a:off x="0" y="0"/>
          <a:ext cx="0" cy="0"/>
          <a:chOff x="0" y="0"/>
          <a:chExt cx="0" cy="0"/>
        </a:xfrm>
      </p:grpSpPr>
      <p:sp>
        <p:nvSpPr>
          <p:cNvPr id="2" name="Text 0"/>
          <p:cNvSpPr txBox="1"/>
          <p:nvPr/>
        </p:nvSpPr>
        <p:spPr>
          <a:xfrm>
            <a:off x="685800" y="502920"/>
            <a:ext cx="7315200" cy="256032"/>
          </a:xfrm>
          <a:prstGeom prst="rect">
            <a:avLst/>
          </a:prstGeom>
          <a:noFill/>
          <a:ln/>
        </p:spPr>
        <p:txBody>
          <a:bodyPr wrap="square" lIns="0" tIns="0" rIns="0" bIns="0" rtlCol="0" anchor="ctr"/>
          <a:lstStyle/>
          <a:p>
            <a:pPr indent="0" marL="0">
              <a:buNone/>
            </a:pPr>
            <a:r>
              <a:rPr lang="en-US" sz="1100" b="1" spc="220" kern="0" dirty="0">
                <a:solidFill>
                  <a:srgbClr val="C1634F"/>
                </a:solidFill>
                <a:latin typeface="Calibri" pitchFamily="34" charset="0"/>
                <a:ea typeface="Calibri" pitchFamily="34" charset="-122"/>
                <a:cs typeface="Calibri" pitchFamily="34" charset="-120"/>
              </a:rPr>
              <a:t>THE PROBLEM</a:t>
            </a:r>
            <a:endParaRPr lang="en-US" sz="1100" dirty="0"/>
          </a:p>
        </p:txBody>
      </p:sp>
      <p:sp>
        <p:nvSpPr>
          <p:cNvPr id="3" name="Text 1"/>
          <p:cNvSpPr txBox="1"/>
          <p:nvPr/>
        </p:nvSpPr>
        <p:spPr>
          <a:xfrm>
            <a:off x="685800" y="841248"/>
            <a:ext cx="10789920" cy="658368"/>
          </a:xfrm>
          <a:prstGeom prst="rect">
            <a:avLst/>
          </a:prstGeom>
          <a:noFill/>
          <a:ln/>
        </p:spPr>
        <p:txBody>
          <a:bodyPr wrap="square" lIns="0" tIns="0" rIns="0" bIns="0" rtlCol="0" anchor="t"/>
          <a:lstStyle/>
          <a:p>
            <a:pPr indent="0" marL="0">
              <a:buNone/>
            </a:pPr>
            <a:r>
              <a:rPr lang="en-US" sz="3600" dirty="0">
                <a:solidFill>
                  <a:srgbClr val="2C2825"/>
                </a:solidFill>
                <a:latin typeface="Cambria" pitchFamily="34" charset="0"/>
                <a:ea typeface="Cambria" pitchFamily="34" charset="-122"/>
                <a:cs typeface="Cambria" pitchFamily="34" charset="-120"/>
              </a:rPr>
              <a:t>The resources exist. Families can’t find them.</a:t>
            </a:r>
            <a:endParaRPr lang="en-US" sz="3600" dirty="0"/>
          </a:p>
        </p:txBody>
      </p:sp>
      <p:sp>
        <p:nvSpPr>
          <p:cNvPr id="4" name="Text 2"/>
          <p:cNvSpPr txBox="1"/>
          <p:nvPr/>
        </p:nvSpPr>
        <p:spPr>
          <a:xfrm>
            <a:off x="685800" y="1481328"/>
            <a:ext cx="7315200" cy="384048"/>
          </a:xfrm>
          <a:prstGeom prst="rect">
            <a:avLst/>
          </a:prstGeom>
          <a:noFill/>
          <a:ln/>
        </p:spPr>
        <p:txBody>
          <a:bodyPr wrap="square" lIns="0" tIns="0" rIns="0" bIns="0" rtlCol="0" anchor="ctr"/>
          <a:lstStyle/>
          <a:p>
            <a:pPr indent="0" marL="0">
              <a:lnSpc>
                <a:spcPts val="2000"/>
              </a:lnSpc>
              <a:buNone/>
            </a:pPr>
            <a:r>
              <a:rPr lang="en-US" sz="1450" dirty="0">
                <a:solidFill>
                  <a:srgbClr val="5A534C"/>
                </a:solidFill>
                <a:latin typeface="Calibri" pitchFamily="34" charset="0"/>
                <a:ea typeface="Calibri" pitchFamily="34" charset="-122"/>
                <a:cs typeface="Calibri" pitchFamily="34" charset="-120"/>
              </a:rPr>
              <a:t>When someone dies, the help that would make it bearable is scattered across a dozen places — and nobody goes looking until they need it.</a:t>
            </a:r>
            <a:endParaRPr lang="en-US" sz="1450" dirty="0"/>
          </a:p>
        </p:txBody>
      </p:sp>
      <p:sp>
        <p:nvSpPr>
          <p:cNvPr id="5" name="Shape 3"/>
          <p:cNvSpPr/>
          <p:nvPr/>
        </p:nvSpPr>
        <p:spPr>
          <a:xfrm>
            <a:off x="713232" y="2304288"/>
            <a:ext cx="475488" cy="475488"/>
          </a:xfrm>
          <a:prstGeom prst="ellipse">
            <a:avLst/>
          </a:prstGeom>
          <a:solidFill>
            <a:srgbClr val="F5EAE6"/>
          </a:solidFill>
          <a:ln w="12700">
            <a:solidFill>
              <a:srgbClr val="D4876F"/>
            </a:solidFill>
            <a:prstDash val="solid"/>
          </a:ln>
        </p:spPr>
      </p:sp>
      <p:sp>
        <p:nvSpPr>
          <p:cNvPr id="6" name="Text 4"/>
          <p:cNvSpPr txBox="1"/>
          <p:nvPr/>
        </p:nvSpPr>
        <p:spPr>
          <a:xfrm>
            <a:off x="713232" y="2304288"/>
            <a:ext cx="475488" cy="475488"/>
          </a:xfrm>
          <a:prstGeom prst="rect">
            <a:avLst/>
          </a:prstGeom>
          <a:noFill/>
          <a:ln/>
        </p:spPr>
        <p:txBody>
          <a:bodyPr wrap="square" lIns="0" tIns="0" rIns="0" bIns="0" rtlCol="0" anchor="ctr"/>
          <a:lstStyle/>
          <a:p>
            <a:pPr algn="ctr" indent="0" marL="0">
              <a:buNone/>
            </a:pPr>
            <a:r>
              <a:rPr lang="en-US" sz="1500" b="1" dirty="0">
                <a:solidFill>
                  <a:srgbClr val="8B3E2D"/>
                </a:solidFill>
                <a:latin typeface="Cambria" pitchFamily="34" charset="0"/>
                <a:ea typeface="Cambria" pitchFamily="34" charset="-122"/>
                <a:cs typeface="Cambria" pitchFamily="34" charset="-120"/>
              </a:rPr>
              <a:t>1</a:t>
            </a:r>
            <a:endParaRPr lang="en-US" sz="1500" dirty="0"/>
          </a:p>
        </p:txBody>
      </p:sp>
      <p:sp>
        <p:nvSpPr>
          <p:cNvPr id="7" name="Text 5"/>
          <p:cNvSpPr txBox="1"/>
          <p:nvPr/>
        </p:nvSpPr>
        <p:spPr>
          <a:xfrm>
            <a:off x="1389888" y="2286000"/>
            <a:ext cx="6035040" cy="310896"/>
          </a:xfrm>
          <a:prstGeom prst="rect">
            <a:avLst/>
          </a:prstGeom>
          <a:noFill/>
          <a:ln/>
        </p:spPr>
        <p:txBody>
          <a:bodyPr wrap="square" lIns="0" tIns="0" rIns="0" bIns="0" rtlCol="0" anchor="ctr"/>
          <a:lstStyle/>
          <a:p>
            <a:pPr indent="0" marL="0">
              <a:buNone/>
            </a:pPr>
            <a:r>
              <a:rPr lang="en-US" sz="1600" b="1" dirty="0">
                <a:solidFill>
                  <a:srgbClr val="2C2825"/>
                </a:solidFill>
                <a:latin typeface="Calibri" pitchFamily="34" charset="0"/>
                <a:ea typeface="Calibri" pitchFamily="34" charset="-122"/>
                <a:cs typeface="Calibri" pitchFamily="34" charset="-120"/>
              </a:rPr>
              <a:t>Scattered</a:t>
            </a:r>
            <a:endParaRPr lang="en-US" sz="1600" dirty="0"/>
          </a:p>
        </p:txBody>
      </p:sp>
      <p:sp>
        <p:nvSpPr>
          <p:cNvPr id="8" name="Text 6"/>
          <p:cNvSpPr txBox="1"/>
          <p:nvPr/>
        </p:nvSpPr>
        <p:spPr>
          <a:xfrm>
            <a:off x="1389888" y="2633472"/>
            <a:ext cx="6035040" cy="731520"/>
          </a:xfrm>
          <a:prstGeom prst="rect">
            <a:avLst/>
          </a:prstGeom>
          <a:noFill/>
          <a:ln/>
        </p:spPr>
        <p:txBody>
          <a:bodyPr wrap="square" lIns="0" tIns="0" rIns="0" bIns="0" rtlCol="0" anchor="ctr"/>
          <a:lstStyle/>
          <a:p>
            <a:pPr indent="0" marL="0">
              <a:lnSpc>
                <a:spcPts val="1900"/>
              </a:lnSpc>
              <a:buNone/>
            </a:pPr>
            <a:r>
              <a:rPr lang="en-US" sz="1350" dirty="0">
                <a:solidFill>
                  <a:srgbClr val="5A534C"/>
                </a:solidFill>
                <a:latin typeface="Calibri" pitchFamily="34" charset="0"/>
                <a:ea typeface="Calibri" pitchFamily="34" charset="-122"/>
                <a:cs typeface="Calibri" pitchFamily="34" charset="-120"/>
              </a:rPr>
              <a:t>An urn from one shop. A doula from a Facebook group. An estate attorney from a search result. Nothing connects, and nothing is comparable.</a:t>
            </a:r>
            <a:endParaRPr lang="en-US" sz="1350" dirty="0"/>
          </a:p>
        </p:txBody>
      </p:sp>
      <p:sp>
        <p:nvSpPr>
          <p:cNvPr id="9" name="Shape 7"/>
          <p:cNvSpPr/>
          <p:nvPr/>
        </p:nvSpPr>
        <p:spPr>
          <a:xfrm>
            <a:off x="713232" y="3602736"/>
            <a:ext cx="475488" cy="475488"/>
          </a:xfrm>
          <a:prstGeom prst="ellipse">
            <a:avLst/>
          </a:prstGeom>
          <a:solidFill>
            <a:srgbClr val="EAF0EB"/>
          </a:solidFill>
          <a:ln w="12700">
            <a:solidFill>
              <a:srgbClr val="A8C4AC"/>
            </a:solidFill>
            <a:prstDash val="solid"/>
          </a:ln>
        </p:spPr>
      </p:sp>
      <p:sp>
        <p:nvSpPr>
          <p:cNvPr id="10" name="Text 8"/>
          <p:cNvSpPr txBox="1"/>
          <p:nvPr/>
        </p:nvSpPr>
        <p:spPr>
          <a:xfrm>
            <a:off x="713232" y="3602736"/>
            <a:ext cx="475488" cy="475488"/>
          </a:xfrm>
          <a:prstGeom prst="rect">
            <a:avLst/>
          </a:prstGeom>
          <a:noFill/>
          <a:ln/>
        </p:spPr>
        <p:txBody>
          <a:bodyPr wrap="square" lIns="0" tIns="0" rIns="0" bIns="0" rtlCol="0" anchor="ctr"/>
          <a:lstStyle/>
          <a:p>
            <a:pPr algn="ctr" indent="0" marL="0">
              <a:buNone/>
            </a:pPr>
            <a:r>
              <a:rPr lang="en-US" sz="1500" b="1" dirty="0">
                <a:solidFill>
                  <a:srgbClr val="4D7255"/>
                </a:solidFill>
                <a:latin typeface="Cambria" pitchFamily="34" charset="0"/>
                <a:ea typeface="Cambria" pitchFamily="34" charset="-122"/>
                <a:cs typeface="Cambria" pitchFamily="34" charset="-120"/>
              </a:rPr>
              <a:t>2</a:t>
            </a:r>
            <a:endParaRPr lang="en-US" sz="1500" dirty="0"/>
          </a:p>
        </p:txBody>
      </p:sp>
      <p:sp>
        <p:nvSpPr>
          <p:cNvPr id="11" name="Text 9"/>
          <p:cNvSpPr txBox="1"/>
          <p:nvPr/>
        </p:nvSpPr>
        <p:spPr>
          <a:xfrm>
            <a:off x="1389888" y="3584448"/>
            <a:ext cx="6035040" cy="310896"/>
          </a:xfrm>
          <a:prstGeom prst="rect">
            <a:avLst/>
          </a:prstGeom>
          <a:noFill/>
          <a:ln/>
        </p:spPr>
        <p:txBody>
          <a:bodyPr wrap="square" lIns="0" tIns="0" rIns="0" bIns="0" rtlCol="0" anchor="ctr"/>
          <a:lstStyle/>
          <a:p>
            <a:pPr indent="0" marL="0">
              <a:buNone/>
            </a:pPr>
            <a:r>
              <a:rPr lang="en-US" sz="1600" b="1" dirty="0">
                <a:solidFill>
                  <a:srgbClr val="2C2825"/>
                </a:solidFill>
                <a:latin typeface="Calibri" pitchFamily="34" charset="0"/>
                <a:ea typeface="Calibri" pitchFamily="34" charset="-122"/>
                <a:cs typeface="Calibri" pitchFamily="34" charset="-120"/>
              </a:rPr>
              <a:t>Poorly described</a:t>
            </a:r>
            <a:endParaRPr lang="en-US" sz="1600" dirty="0"/>
          </a:p>
        </p:txBody>
      </p:sp>
      <p:sp>
        <p:nvSpPr>
          <p:cNvPr id="12" name="Text 10"/>
          <p:cNvSpPr txBox="1"/>
          <p:nvPr/>
        </p:nvSpPr>
        <p:spPr>
          <a:xfrm>
            <a:off x="1389888" y="3931920"/>
            <a:ext cx="6035040" cy="731520"/>
          </a:xfrm>
          <a:prstGeom prst="rect">
            <a:avLst/>
          </a:prstGeom>
          <a:noFill/>
          <a:ln/>
        </p:spPr>
        <p:txBody>
          <a:bodyPr wrap="square" lIns="0" tIns="0" rIns="0" bIns="0" rtlCol="0" anchor="ctr"/>
          <a:lstStyle/>
          <a:p>
            <a:pPr indent="0" marL="0">
              <a:lnSpc>
                <a:spcPts val="1900"/>
              </a:lnSpc>
              <a:buNone/>
            </a:pPr>
            <a:r>
              <a:rPr lang="en-US" sz="1350" dirty="0">
                <a:solidFill>
                  <a:srgbClr val="5A534C"/>
                </a:solidFill>
                <a:latin typeface="Calibri" pitchFamily="34" charset="0"/>
                <a:ea typeface="Calibri" pitchFamily="34" charset="-122"/>
                <a:cs typeface="Calibri" pitchFamily="34" charset="-120"/>
              </a:rPr>
              <a:t>Most end-of-life practitioners are close to invisible online, or described in language nobody uses when they are grieving.</a:t>
            </a:r>
            <a:endParaRPr lang="en-US" sz="1350" dirty="0"/>
          </a:p>
        </p:txBody>
      </p:sp>
      <p:sp>
        <p:nvSpPr>
          <p:cNvPr id="13" name="Shape 11"/>
          <p:cNvSpPr/>
          <p:nvPr/>
        </p:nvSpPr>
        <p:spPr>
          <a:xfrm>
            <a:off x="713232" y="4901184"/>
            <a:ext cx="475488" cy="475488"/>
          </a:xfrm>
          <a:prstGeom prst="ellipse">
            <a:avLst/>
          </a:prstGeom>
          <a:solidFill>
            <a:srgbClr val="F5EAE6"/>
          </a:solidFill>
          <a:ln w="12700">
            <a:solidFill>
              <a:srgbClr val="D4876F"/>
            </a:solidFill>
            <a:prstDash val="solid"/>
          </a:ln>
        </p:spPr>
      </p:sp>
      <p:sp>
        <p:nvSpPr>
          <p:cNvPr id="14" name="Text 12"/>
          <p:cNvSpPr txBox="1"/>
          <p:nvPr/>
        </p:nvSpPr>
        <p:spPr>
          <a:xfrm>
            <a:off x="713232" y="4901184"/>
            <a:ext cx="475488" cy="475488"/>
          </a:xfrm>
          <a:prstGeom prst="rect">
            <a:avLst/>
          </a:prstGeom>
          <a:noFill/>
          <a:ln/>
        </p:spPr>
        <p:txBody>
          <a:bodyPr wrap="square" lIns="0" tIns="0" rIns="0" bIns="0" rtlCol="0" anchor="ctr"/>
          <a:lstStyle/>
          <a:p>
            <a:pPr algn="ctr" indent="0" marL="0">
              <a:buNone/>
            </a:pPr>
            <a:r>
              <a:rPr lang="en-US" sz="1500" b="1" dirty="0">
                <a:solidFill>
                  <a:srgbClr val="8B3E2D"/>
                </a:solidFill>
                <a:latin typeface="Cambria" pitchFamily="34" charset="0"/>
                <a:ea typeface="Cambria" pitchFamily="34" charset="-122"/>
                <a:cs typeface="Cambria" pitchFamily="34" charset="-120"/>
              </a:rPr>
              <a:t>3</a:t>
            </a:r>
            <a:endParaRPr lang="en-US" sz="1500" dirty="0"/>
          </a:p>
        </p:txBody>
      </p:sp>
      <p:sp>
        <p:nvSpPr>
          <p:cNvPr id="15" name="Text 13"/>
          <p:cNvSpPr txBox="1"/>
          <p:nvPr/>
        </p:nvSpPr>
        <p:spPr>
          <a:xfrm>
            <a:off x="1389888" y="4882896"/>
            <a:ext cx="6035040" cy="310896"/>
          </a:xfrm>
          <a:prstGeom prst="rect">
            <a:avLst/>
          </a:prstGeom>
          <a:noFill/>
          <a:ln/>
        </p:spPr>
        <p:txBody>
          <a:bodyPr wrap="square" lIns="0" tIns="0" rIns="0" bIns="0" rtlCol="0" anchor="ctr"/>
          <a:lstStyle/>
          <a:p>
            <a:pPr indent="0" marL="0">
              <a:buNone/>
            </a:pPr>
            <a:r>
              <a:rPr lang="en-US" sz="1600" b="1" dirty="0">
                <a:solidFill>
                  <a:srgbClr val="2C2825"/>
                </a:solidFill>
                <a:latin typeface="Calibri" pitchFamily="34" charset="0"/>
                <a:ea typeface="Calibri" pitchFamily="34" charset="-122"/>
                <a:cs typeface="Calibri" pitchFamily="34" charset="-120"/>
              </a:rPr>
              <a:t>Searched at the worst possible moment</a:t>
            </a:r>
            <a:endParaRPr lang="en-US" sz="1600" dirty="0"/>
          </a:p>
        </p:txBody>
      </p:sp>
      <p:sp>
        <p:nvSpPr>
          <p:cNvPr id="16" name="Text 14"/>
          <p:cNvSpPr txBox="1"/>
          <p:nvPr/>
        </p:nvSpPr>
        <p:spPr>
          <a:xfrm>
            <a:off x="1389888" y="5230368"/>
            <a:ext cx="6035040" cy="731520"/>
          </a:xfrm>
          <a:prstGeom prst="rect">
            <a:avLst/>
          </a:prstGeom>
          <a:noFill/>
          <a:ln/>
        </p:spPr>
        <p:txBody>
          <a:bodyPr wrap="square" lIns="0" tIns="0" rIns="0" bIns="0" rtlCol="0" anchor="ctr"/>
          <a:lstStyle/>
          <a:p>
            <a:pPr indent="0" marL="0">
              <a:lnSpc>
                <a:spcPts val="1900"/>
              </a:lnSpc>
              <a:buNone/>
            </a:pPr>
            <a:r>
              <a:rPr lang="en-US" sz="1350" dirty="0">
                <a:solidFill>
                  <a:srgbClr val="5A534C"/>
                </a:solidFill>
                <a:latin typeface="Calibri" pitchFamily="34" charset="0"/>
                <a:ea typeface="Calibri" pitchFamily="34" charset="-122"/>
                <a:cs typeface="Calibri" pitchFamily="34" charset="-120"/>
              </a:rPr>
              <a:t>Families do this research once, under time pressure, in the days after a death — with no way to tell who is qualified.</a:t>
            </a:r>
            <a:endParaRPr lang="en-US" sz="1350" dirty="0"/>
          </a:p>
        </p:txBody>
      </p:sp>
      <p:sp>
        <p:nvSpPr>
          <p:cNvPr id="17" name="Shape 15"/>
          <p:cNvSpPr/>
          <p:nvPr/>
        </p:nvSpPr>
        <p:spPr>
          <a:xfrm>
            <a:off x="8092440" y="2084832"/>
            <a:ext cx="3401568" cy="2286000"/>
          </a:xfrm>
          <a:prstGeom prst="roundRect">
            <a:avLst>
              <a:gd name="adj" fmla="val 4400"/>
            </a:avLst>
          </a:prstGeom>
          <a:solidFill>
            <a:srgbClr val="F5EAE6"/>
          </a:solidFill>
          <a:ln w="9525">
            <a:solidFill>
              <a:srgbClr val="EBD8D1"/>
            </a:solidFill>
            <a:prstDash val="solid"/>
          </a:ln>
          <a:effectLst>
            <a:outerShdw sx="100000" sy="100000" kx="0" ky="0" algn="bl" rotWithShape="0" blurRad="101600" dist="25400" dir="5400000">
              <a:srgbClr val="2C2825">
                <a:alpha val="6000"/>
              </a:srgbClr>
            </a:outerShdw>
          </a:effectLst>
        </p:spPr>
      </p:sp>
      <p:sp>
        <p:nvSpPr>
          <p:cNvPr id="18" name="Text 16"/>
          <p:cNvSpPr txBox="1"/>
          <p:nvPr/>
        </p:nvSpPr>
        <p:spPr>
          <a:xfrm>
            <a:off x="8183880" y="2286000"/>
            <a:ext cx="3200400" cy="868680"/>
          </a:xfrm>
          <a:prstGeom prst="rect">
            <a:avLst/>
          </a:prstGeom>
          <a:noFill/>
          <a:ln/>
        </p:spPr>
        <p:txBody>
          <a:bodyPr wrap="square" lIns="0" tIns="0" rIns="0" bIns="0" rtlCol="0" anchor="ctr"/>
          <a:lstStyle/>
          <a:p>
            <a:pPr algn="ctr" indent="0" marL="0">
              <a:buNone/>
            </a:pPr>
            <a:r>
              <a:rPr lang="en-US" sz="5600" b="1" dirty="0">
                <a:solidFill>
                  <a:srgbClr val="8B3E2D"/>
                </a:solidFill>
                <a:latin typeface="Cambria" pitchFamily="34" charset="0"/>
                <a:ea typeface="Cambria" pitchFamily="34" charset="-122"/>
                <a:cs typeface="Cambria" pitchFamily="34" charset="-120"/>
              </a:rPr>
              <a:t>~3M</a:t>
            </a:r>
            <a:endParaRPr lang="en-US" sz="5600" dirty="0"/>
          </a:p>
        </p:txBody>
      </p:sp>
      <p:sp>
        <p:nvSpPr>
          <p:cNvPr id="19" name="Text 17"/>
          <p:cNvSpPr txBox="1"/>
          <p:nvPr/>
        </p:nvSpPr>
        <p:spPr>
          <a:xfrm>
            <a:off x="8366760" y="3200400"/>
            <a:ext cx="2834640" cy="502920"/>
          </a:xfrm>
          <a:prstGeom prst="rect">
            <a:avLst/>
          </a:prstGeom>
          <a:noFill/>
          <a:ln/>
        </p:spPr>
        <p:txBody>
          <a:bodyPr wrap="square" lIns="0" tIns="0" rIns="0" bIns="0" rtlCol="0" anchor="ctr"/>
          <a:lstStyle/>
          <a:p>
            <a:pPr algn="ctr" indent="0" marL="0">
              <a:lnSpc>
                <a:spcPts val="1800"/>
              </a:lnSpc>
              <a:buNone/>
            </a:pPr>
            <a:r>
              <a:rPr lang="en-US" sz="1400" b="1" dirty="0">
                <a:solidFill>
                  <a:srgbClr val="2C2825"/>
                </a:solidFill>
                <a:latin typeface="Calibri" pitchFamily="34" charset="0"/>
                <a:ea typeface="Calibri" pitchFamily="34" charset="-122"/>
                <a:cs typeface="Calibri" pitchFamily="34" charset="-120"/>
              </a:rPr>
              <a:t>deaths in the United States every year</a:t>
            </a:r>
            <a:endParaRPr lang="en-US" sz="1400" dirty="0"/>
          </a:p>
        </p:txBody>
      </p:sp>
      <p:sp>
        <p:nvSpPr>
          <p:cNvPr id="20" name="Text 18"/>
          <p:cNvSpPr txBox="1"/>
          <p:nvPr/>
        </p:nvSpPr>
        <p:spPr>
          <a:xfrm>
            <a:off x="8366760" y="3675888"/>
            <a:ext cx="2834640" cy="548640"/>
          </a:xfrm>
          <a:prstGeom prst="rect">
            <a:avLst/>
          </a:prstGeom>
          <a:noFill/>
          <a:ln/>
        </p:spPr>
        <p:txBody>
          <a:bodyPr wrap="square" lIns="0" tIns="0" rIns="0" bIns="0" rtlCol="0" anchor="ctr"/>
          <a:lstStyle/>
          <a:p>
            <a:pPr algn="ctr" indent="0" marL="0">
              <a:lnSpc>
                <a:spcPts val="1500"/>
              </a:lnSpc>
              <a:buNone/>
            </a:pPr>
            <a:r>
              <a:rPr lang="en-US" sz="1150" dirty="0">
                <a:solidFill>
                  <a:srgbClr val="5A534C"/>
                </a:solidFill>
                <a:latin typeface="Calibri" pitchFamily="34" charset="0"/>
                <a:ea typeface="Calibri" pitchFamily="34" charset="-122"/>
                <a:cs typeface="Calibri" pitchFamily="34" charset="-120"/>
              </a:rPr>
              <a:t>Each one sends a household searching, usually for the first time.</a:t>
            </a:r>
            <a:endParaRPr lang="en-US" sz="1150" dirty="0"/>
          </a:p>
        </p:txBody>
      </p:sp>
      <p:sp>
        <p:nvSpPr>
          <p:cNvPr id="21" name="Text 19"/>
          <p:cNvSpPr txBox="1"/>
          <p:nvPr/>
        </p:nvSpPr>
        <p:spPr>
          <a:xfrm>
            <a:off x="8001000" y="4590288"/>
            <a:ext cx="3584448" cy="566928"/>
          </a:xfrm>
          <a:prstGeom prst="rect">
            <a:avLst/>
          </a:prstGeom>
          <a:noFill/>
          <a:ln/>
        </p:spPr>
        <p:txBody>
          <a:bodyPr wrap="square" lIns="0" tIns="0" rIns="0" bIns="0" rtlCol="0" anchor="ctr"/>
          <a:lstStyle/>
          <a:p>
            <a:pPr algn="ctr" indent="0" marL="0">
              <a:lnSpc>
                <a:spcPts val="2200"/>
              </a:lnSpc>
              <a:buNone/>
            </a:pPr>
            <a:r>
              <a:rPr lang="en-US" sz="1550" i="1" dirty="0">
                <a:solidFill>
                  <a:srgbClr val="2C2825"/>
                </a:solidFill>
                <a:latin typeface="Cambria" pitchFamily="34" charset="0"/>
                <a:ea typeface="Cambria" pitchFamily="34" charset="-122"/>
                <a:cs typeface="Cambria" pitchFamily="34" charset="-120"/>
              </a:rPr>
              <a:t>“Loss deserves to be met with care.”</a:t>
            </a:r>
            <a:endParaRPr lang="en-US" sz="1550" dirty="0"/>
          </a:p>
        </p:txBody>
      </p:sp>
      <p:sp>
        <p:nvSpPr>
          <p:cNvPr id="22" name="Text 20"/>
          <p:cNvSpPr txBox="1"/>
          <p:nvPr/>
        </p:nvSpPr>
        <p:spPr>
          <a:xfrm>
            <a:off x="8092440" y="5212080"/>
            <a:ext cx="3401568" cy="256032"/>
          </a:xfrm>
          <a:prstGeom prst="rect">
            <a:avLst/>
          </a:prstGeom>
          <a:noFill/>
          <a:ln/>
        </p:spPr>
        <p:txBody>
          <a:bodyPr wrap="square" lIns="0" tIns="0" rIns="0" bIns="0" rtlCol="0" anchor="ctr"/>
          <a:lstStyle/>
          <a:p>
            <a:pPr algn="ctr" indent="0" marL="0">
              <a:buNone/>
            </a:pPr>
            <a:r>
              <a:rPr lang="en-US" sz="1100" dirty="0">
                <a:solidFill>
                  <a:srgbClr val="9A9189"/>
                </a:solidFill>
                <a:latin typeface="Calibri" pitchFamily="34" charset="0"/>
                <a:ea typeface="Calibri" pitchFamily="34" charset="-122"/>
                <a:cs typeface="Calibri" pitchFamily="34" charset="-120"/>
              </a:rPr>
              <a:t>— The CodaCo Market ethos</a:t>
            </a:r>
            <a:endParaRPr lang="en-US" sz="1100" dirty="0"/>
          </a:p>
        </p:txBody>
      </p:sp>
      <p:sp>
        <p:nvSpPr>
          <p:cNvPr id="23" name="Text 21"/>
          <p:cNvSpPr txBox="1"/>
          <p:nvPr/>
        </p:nvSpPr>
        <p:spPr>
          <a:xfrm>
            <a:off x="713232" y="6144768"/>
            <a:ext cx="5486400" cy="237744"/>
          </a:xfrm>
          <a:prstGeom prst="rect">
            <a:avLst/>
          </a:prstGeom>
          <a:noFill/>
          <a:ln/>
        </p:spPr>
        <p:txBody>
          <a:bodyPr wrap="square" lIns="0" tIns="0" rIns="0" bIns="0" rtlCol="0" anchor="ctr"/>
          <a:lstStyle/>
          <a:p>
            <a:pPr indent="0" marL="0">
              <a:buNone/>
            </a:pPr>
            <a:r>
              <a:rPr lang="en-US" sz="1000" dirty="0">
                <a:solidFill>
                  <a:srgbClr val="9A9189"/>
                </a:solidFill>
                <a:latin typeface="Calibri" pitchFamily="34" charset="0"/>
                <a:ea typeface="Calibri" pitchFamily="34" charset="-122"/>
                <a:cs typeface="Calibri" pitchFamily="34" charset="-120"/>
              </a:rPr>
              <a:t>Source: CDC / NCHS annual U.S. mortality.</a:t>
            </a:r>
            <a:endParaRPr lang="en-US" sz="1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AF9F7"/>
        </a:solidFill>
      </p:bgPr>
    </p:bg>
    <p:spTree>
      <p:nvGrpSpPr>
        <p:cNvPr id="1" name=""/>
        <p:cNvGrpSpPr/>
        <p:nvPr/>
      </p:nvGrpSpPr>
      <p:grpSpPr>
        <a:xfrm>
          <a:off x="0" y="0"/>
          <a:ext cx="0" cy="0"/>
          <a:chOff x="0" y="0"/>
          <a:chExt cx="0" cy="0"/>
        </a:xfrm>
      </p:grpSpPr>
      <p:sp>
        <p:nvSpPr>
          <p:cNvPr id="2" name="Text 0"/>
          <p:cNvSpPr txBox="1"/>
          <p:nvPr/>
        </p:nvSpPr>
        <p:spPr>
          <a:xfrm>
            <a:off x="685800" y="502920"/>
            <a:ext cx="7315200" cy="256032"/>
          </a:xfrm>
          <a:prstGeom prst="rect">
            <a:avLst/>
          </a:prstGeom>
          <a:noFill/>
          <a:ln/>
        </p:spPr>
        <p:txBody>
          <a:bodyPr wrap="square" lIns="0" tIns="0" rIns="0" bIns="0" rtlCol="0" anchor="ctr"/>
          <a:lstStyle/>
          <a:p>
            <a:pPr indent="0" marL="0">
              <a:buNone/>
            </a:pPr>
            <a:r>
              <a:rPr lang="en-US" sz="1100" b="1" spc="220" kern="0" dirty="0">
                <a:solidFill>
                  <a:srgbClr val="4D7255"/>
                </a:solidFill>
                <a:latin typeface="Calibri" pitchFamily="34" charset="0"/>
                <a:ea typeface="Calibri" pitchFamily="34" charset="-122"/>
                <a:cs typeface="Calibri" pitchFamily="34" charset="-120"/>
              </a:rPr>
              <a:t>THE SOLUTION</a:t>
            </a:r>
            <a:endParaRPr lang="en-US" sz="1100" dirty="0"/>
          </a:p>
        </p:txBody>
      </p:sp>
      <p:sp>
        <p:nvSpPr>
          <p:cNvPr id="3" name="Text 1"/>
          <p:cNvSpPr txBox="1"/>
          <p:nvPr/>
        </p:nvSpPr>
        <p:spPr>
          <a:xfrm>
            <a:off x="685800" y="841248"/>
            <a:ext cx="10789920" cy="658368"/>
          </a:xfrm>
          <a:prstGeom prst="rect">
            <a:avLst/>
          </a:prstGeom>
          <a:noFill/>
          <a:ln/>
        </p:spPr>
        <p:txBody>
          <a:bodyPr wrap="square" lIns="0" tIns="0" rIns="0" bIns="0" rtlCol="0" anchor="t"/>
          <a:lstStyle/>
          <a:p>
            <a:pPr indent="0" marL="0">
              <a:buNone/>
            </a:pPr>
            <a:r>
              <a:rPr lang="en-US" sz="3600" dirty="0">
                <a:solidFill>
                  <a:srgbClr val="2C2825"/>
                </a:solidFill>
                <a:latin typeface="Cambria" pitchFamily="34" charset="0"/>
                <a:ea typeface="Cambria" pitchFamily="34" charset="-122"/>
                <a:cs typeface="Cambria" pitchFamily="34" charset="-120"/>
              </a:rPr>
              <a:t>One place for everything a family needs</a:t>
            </a:r>
            <a:endParaRPr lang="en-US" sz="3600" dirty="0"/>
          </a:p>
        </p:txBody>
      </p:sp>
      <p:sp>
        <p:nvSpPr>
          <p:cNvPr id="4" name="Text 2"/>
          <p:cNvSpPr txBox="1"/>
          <p:nvPr/>
        </p:nvSpPr>
        <p:spPr>
          <a:xfrm>
            <a:off x="685800" y="1481328"/>
            <a:ext cx="9601200" cy="384048"/>
          </a:xfrm>
          <a:prstGeom prst="rect">
            <a:avLst/>
          </a:prstGeom>
          <a:noFill/>
          <a:ln/>
        </p:spPr>
        <p:txBody>
          <a:bodyPr wrap="square" lIns="0" tIns="0" rIns="0" bIns="0" rtlCol="0" anchor="ctr"/>
          <a:lstStyle/>
          <a:p>
            <a:pPr indent="0" marL="0">
              <a:lnSpc>
                <a:spcPts val="2000"/>
              </a:lnSpc>
              <a:buNone/>
            </a:pPr>
            <a:r>
              <a:rPr lang="en-US" sz="1450" dirty="0">
                <a:solidFill>
                  <a:srgbClr val="5A534C"/>
                </a:solidFill>
                <a:latin typeface="Calibri" pitchFamily="34" charset="0"/>
                <a:ea typeface="Calibri" pitchFamily="34" charset="-122"/>
                <a:cs typeface="Calibri" pitchFamily="34" charset="-120"/>
              </a:rPr>
              <a:t>Curated goods, vetted local practitioners, and gentle guidance — searchable together, by category and by where you live.</a:t>
            </a:r>
            <a:endParaRPr lang="en-US" sz="1450" dirty="0"/>
          </a:p>
        </p:txBody>
      </p:sp>
      <p:sp>
        <p:nvSpPr>
          <p:cNvPr id="5" name="Shape 3"/>
          <p:cNvSpPr/>
          <p:nvPr/>
        </p:nvSpPr>
        <p:spPr>
          <a:xfrm>
            <a:off x="685800" y="2121408"/>
            <a:ext cx="5257800" cy="2880360"/>
          </a:xfrm>
          <a:prstGeom prst="roundRect">
            <a:avLst>
              <a:gd name="adj" fmla="val 3492"/>
            </a:avLst>
          </a:prstGeom>
          <a:solidFill>
            <a:srgbClr val="F5EAE6"/>
          </a:solidFill>
          <a:ln w="9525">
            <a:solidFill>
              <a:srgbClr val="EBD8D1"/>
            </a:solidFill>
            <a:prstDash val="solid"/>
          </a:ln>
          <a:effectLst>
            <a:outerShdw sx="100000" sy="100000" kx="0" ky="0" algn="bl" rotWithShape="0" blurRad="101600" dist="25400" dir="5400000">
              <a:srgbClr val="2C2825">
                <a:alpha val="6000"/>
              </a:srgbClr>
            </a:outerShdw>
          </a:effectLst>
        </p:spPr>
      </p:sp>
      <p:sp>
        <p:nvSpPr>
          <p:cNvPr id="6" name="Shape 4"/>
          <p:cNvSpPr/>
          <p:nvPr/>
        </p:nvSpPr>
        <p:spPr>
          <a:xfrm>
            <a:off x="960120" y="2359152"/>
            <a:ext cx="420624" cy="420624"/>
          </a:xfrm>
          <a:prstGeom prst="ellipse">
            <a:avLst/>
          </a:prstGeom>
          <a:solidFill>
            <a:srgbClr val="F5EAE6"/>
          </a:solidFill>
          <a:ln w="12700">
            <a:solidFill>
              <a:srgbClr val="D4876F"/>
            </a:solidFill>
            <a:prstDash val="solid"/>
          </a:ln>
        </p:spPr>
      </p:sp>
      <p:sp>
        <p:nvSpPr>
          <p:cNvPr id="7" name="Text 5"/>
          <p:cNvSpPr txBox="1"/>
          <p:nvPr/>
        </p:nvSpPr>
        <p:spPr>
          <a:xfrm>
            <a:off x="960120" y="2359152"/>
            <a:ext cx="420624" cy="420624"/>
          </a:xfrm>
          <a:prstGeom prst="rect">
            <a:avLst/>
          </a:prstGeom>
          <a:noFill/>
          <a:ln/>
        </p:spPr>
        <p:txBody>
          <a:bodyPr wrap="square" lIns="0" tIns="0" rIns="0" bIns="0" rtlCol="0" anchor="ctr"/>
          <a:lstStyle/>
          <a:p>
            <a:pPr algn="ctr" indent="0" marL="0">
              <a:buNone/>
            </a:pPr>
            <a:r>
              <a:rPr lang="en-US" sz="1400" b="1" dirty="0">
                <a:solidFill>
                  <a:srgbClr val="8B3E2D"/>
                </a:solidFill>
                <a:latin typeface="Cambria" pitchFamily="34" charset="0"/>
                <a:ea typeface="Cambria" pitchFamily="34" charset="-122"/>
                <a:cs typeface="Cambria" pitchFamily="34" charset="-120"/>
              </a:rPr>
              <a:t>G</a:t>
            </a:r>
            <a:endParaRPr lang="en-US" sz="1400" dirty="0"/>
          </a:p>
        </p:txBody>
      </p:sp>
      <p:sp>
        <p:nvSpPr>
          <p:cNvPr id="8" name="Text 6"/>
          <p:cNvSpPr txBox="1"/>
          <p:nvPr/>
        </p:nvSpPr>
        <p:spPr>
          <a:xfrm>
            <a:off x="1490472" y="2340864"/>
            <a:ext cx="2743200" cy="384048"/>
          </a:xfrm>
          <a:prstGeom prst="rect">
            <a:avLst/>
          </a:prstGeom>
          <a:noFill/>
          <a:ln/>
        </p:spPr>
        <p:txBody>
          <a:bodyPr wrap="square" lIns="0" tIns="0" rIns="0" bIns="0" rtlCol="0" anchor="ctr"/>
          <a:lstStyle/>
          <a:p>
            <a:pPr indent="0" marL="0">
              <a:buNone/>
            </a:pPr>
            <a:r>
              <a:rPr lang="en-US" sz="2400" dirty="0">
                <a:solidFill>
                  <a:srgbClr val="2C2825"/>
                </a:solidFill>
                <a:latin typeface="Cambria" pitchFamily="34" charset="0"/>
                <a:ea typeface="Cambria" pitchFamily="34" charset="-122"/>
                <a:cs typeface="Cambria" pitchFamily="34" charset="-120"/>
              </a:rPr>
              <a:t>Goods</a:t>
            </a:r>
            <a:endParaRPr lang="en-US" sz="2400" dirty="0"/>
          </a:p>
        </p:txBody>
      </p:sp>
      <p:sp>
        <p:nvSpPr>
          <p:cNvPr id="9" name="Text 7"/>
          <p:cNvSpPr txBox="1"/>
          <p:nvPr/>
        </p:nvSpPr>
        <p:spPr>
          <a:xfrm>
            <a:off x="4023360" y="2432304"/>
            <a:ext cx="1783080" cy="274320"/>
          </a:xfrm>
          <a:prstGeom prst="rect">
            <a:avLst/>
          </a:prstGeom>
          <a:noFill/>
          <a:ln/>
        </p:spPr>
        <p:txBody>
          <a:bodyPr wrap="square" lIns="0" tIns="0" rIns="0" bIns="0" rtlCol="0" anchor="ctr"/>
          <a:lstStyle/>
          <a:p>
            <a:pPr algn="r" indent="0" marL="0">
              <a:buNone/>
            </a:pPr>
            <a:r>
              <a:rPr lang="en-US" sz="1200" b="1" dirty="0">
                <a:solidFill>
                  <a:srgbClr val="8B3E2D"/>
                </a:solidFill>
                <a:latin typeface="Calibri" pitchFamily="34" charset="0"/>
                <a:ea typeface="Calibri" pitchFamily="34" charset="-122"/>
                <a:cs typeface="Calibri" pitchFamily="34" charset="-120"/>
              </a:rPr>
              <a:t>6 categories</a:t>
            </a:r>
            <a:endParaRPr lang="en-US" sz="1200" dirty="0"/>
          </a:p>
        </p:txBody>
      </p:sp>
      <p:sp>
        <p:nvSpPr>
          <p:cNvPr id="10" name="Text 8"/>
          <p:cNvSpPr txBox="1"/>
          <p:nvPr/>
        </p:nvSpPr>
        <p:spPr>
          <a:xfrm>
            <a:off x="1024128" y="2907792"/>
            <a:ext cx="4572000" cy="1645920"/>
          </a:xfrm>
          <a:prstGeom prst="rect">
            <a:avLst/>
          </a:prstGeom>
          <a:noFill/>
          <a:ln/>
        </p:spPr>
        <p:txBody>
          <a:bodyPr wrap="square" lIns="0" tIns="0" rIns="0" bIns="0" rtlCol="0" anchor="ctr"/>
          <a:lstStyle/>
          <a:p>
            <a:pPr marL="342900" indent="-342900">
              <a:spcAft>
                <a:spcPts val="400"/>
              </a:spcAft>
              <a:buSzPct val="100000"/>
              <a:buChar char="•"/>
            </a:pPr>
            <a:r>
              <a:rPr lang="en-US" sz="1300" dirty="0">
                <a:solidFill>
                  <a:srgbClr val="2C2825"/>
                </a:solidFill>
                <a:latin typeface="Calibri" pitchFamily="34" charset="0"/>
                <a:ea typeface="Calibri" pitchFamily="34" charset="-122"/>
                <a:cs typeface="Calibri" pitchFamily="34" charset="-120"/>
              </a:rPr>
              <a:t>Urns &amp; vessels</a:t>
            </a:r>
            <a:endParaRPr lang="en-US" sz="1300" dirty="0"/>
          </a:p>
          <a:p>
            <a:pPr marL="342900" indent="-342900">
              <a:spcAft>
                <a:spcPts val="400"/>
              </a:spcAft>
              <a:buSzPct val="100000"/>
              <a:buChar char="•"/>
            </a:pPr>
            <a:r>
              <a:rPr lang="en-US" sz="1300" dirty="0">
                <a:solidFill>
                  <a:srgbClr val="2C2825"/>
                </a:solidFill>
                <a:latin typeface="Calibri" pitchFamily="34" charset="0"/>
                <a:ea typeface="Calibri" pitchFamily="34" charset="-122"/>
                <a:cs typeface="Calibri" pitchFamily="34" charset="-120"/>
              </a:rPr>
              <a:t>Ash jewelry</a:t>
            </a:r>
            <a:endParaRPr lang="en-US" sz="1300" dirty="0"/>
          </a:p>
          <a:p>
            <a:pPr marL="342900" indent="-342900">
              <a:spcAft>
                <a:spcPts val="400"/>
              </a:spcAft>
              <a:buSzPct val="100000"/>
              <a:buChar char="•"/>
            </a:pPr>
            <a:r>
              <a:rPr lang="en-US" sz="1300" dirty="0">
                <a:solidFill>
                  <a:srgbClr val="2C2825"/>
                </a:solidFill>
                <a:latin typeface="Calibri" pitchFamily="34" charset="0"/>
                <a:ea typeface="Calibri" pitchFamily="34" charset="-122"/>
                <a:cs typeface="Calibri" pitchFamily="34" charset="-120"/>
              </a:rPr>
              <a:t>Burial shrouds</a:t>
            </a:r>
            <a:endParaRPr lang="en-US" sz="1300" dirty="0"/>
          </a:p>
          <a:p>
            <a:pPr marL="342900" indent="-342900">
              <a:spcAft>
                <a:spcPts val="400"/>
              </a:spcAft>
              <a:buSzPct val="100000"/>
              <a:buChar char="•"/>
            </a:pPr>
            <a:r>
              <a:rPr lang="en-US" sz="1300" dirty="0">
                <a:solidFill>
                  <a:srgbClr val="2C2825"/>
                </a:solidFill>
                <a:latin typeface="Calibri" pitchFamily="34" charset="0"/>
                <a:ea typeface="Calibri" pitchFamily="34" charset="-122"/>
                <a:cs typeface="Calibri" pitchFamily="34" charset="-120"/>
              </a:rPr>
              <a:t>Planning documents &amp; workbooks</a:t>
            </a:r>
            <a:endParaRPr lang="en-US" sz="1300" dirty="0"/>
          </a:p>
          <a:p>
            <a:pPr marL="342900" indent="-342900">
              <a:spcAft>
                <a:spcPts val="400"/>
              </a:spcAft>
              <a:buSzPct val="100000"/>
              <a:buChar char="•"/>
            </a:pPr>
            <a:r>
              <a:rPr lang="en-US" sz="1300" dirty="0">
                <a:solidFill>
                  <a:srgbClr val="2C2825"/>
                </a:solidFill>
                <a:latin typeface="Calibri" pitchFamily="34" charset="0"/>
                <a:ea typeface="Calibri" pitchFamily="34" charset="-122"/>
                <a:cs typeface="Calibri" pitchFamily="34" charset="-120"/>
              </a:rPr>
              <a:t>Memorial items</a:t>
            </a:r>
            <a:endParaRPr lang="en-US" sz="1300" dirty="0"/>
          </a:p>
          <a:p>
            <a:pPr marL="342900" indent="-342900">
              <a:spcAft>
                <a:spcPts val="400"/>
              </a:spcAft>
              <a:buSzPct val="100000"/>
              <a:buChar char="•"/>
            </a:pPr>
            <a:r>
              <a:rPr lang="en-US" sz="1300" dirty="0">
                <a:solidFill>
                  <a:srgbClr val="2C2825"/>
                </a:solidFill>
                <a:latin typeface="Calibri" pitchFamily="34" charset="0"/>
                <a:ea typeface="Calibri" pitchFamily="34" charset="-122"/>
                <a:cs typeface="Calibri" pitchFamily="34" charset="-120"/>
              </a:rPr>
              <a:t>Gifts &amp; humor</a:t>
            </a:r>
            <a:endParaRPr lang="en-US" sz="1300" dirty="0"/>
          </a:p>
        </p:txBody>
      </p:sp>
      <p:sp>
        <p:nvSpPr>
          <p:cNvPr id="11" name="Text 9"/>
          <p:cNvSpPr txBox="1"/>
          <p:nvPr/>
        </p:nvSpPr>
        <p:spPr>
          <a:xfrm>
            <a:off x="1024128" y="4553712"/>
            <a:ext cx="4572000" cy="274320"/>
          </a:xfrm>
          <a:prstGeom prst="rect">
            <a:avLst/>
          </a:prstGeom>
          <a:noFill/>
          <a:ln/>
        </p:spPr>
        <p:txBody>
          <a:bodyPr wrap="square" lIns="0" tIns="0" rIns="0" bIns="0" rtlCol="0" anchor="ctr"/>
          <a:lstStyle/>
          <a:p>
            <a:pPr indent="0" marL="0">
              <a:buNone/>
            </a:pPr>
            <a:r>
              <a:rPr lang="en-US" sz="1150" i="1" dirty="0">
                <a:solidFill>
                  <a:srgbClr val="5A534C"/>
                </a:solidFill>
                <a:latin typeface="Calibri" pitchFamily="34" charset="0"/>
                <a:ea typeface="Calibri" pitchFamily="34" charset="-122"/>
                <a:cs typeface="Calibri" pitchFamily="34" charset="-120"/>
              </a:rPr>
              <a:t>Shipped nationwide, or collected locally.</a:t>
            </a:r>
            <a:endParaRPr lang="en-US" sz="1150" dirty="0"/>
          </a:p>
        </p:txBody>
      </p:sp>
      <p:sp>
        <p:nvSpPr>
          <p:cNvPr id="12" name="Shape 10"/>
          <p:cNvSpPr/>
          <p:nvPr/>
        </p:nvSpPr>
        <p:spPr>
          <a:xfrm>
            <a:off x="6217920" y="2121408"/>
            <a:ext cx="5257800" cy="2880360"/>
          </a:xfrm>
          <a:prstGeom prst="roundRect">
            <a:avLst>
              <a:gd name="adj" fmla="val 3492"/>
            </a:avLst>
          </a:prstGeom>
          <a:solidFill>
            <a:srgbClr val="EAF0EB"/>
          </a:solidFill>
          <a:ln w="9525">
            <a:solidFill>
              <a:srgbClr val="D8E3D9"/>
            </a:solidFill>
            <a:prstDash val="solid"/>
          </a:ln>
          <a:effectLst>
            <a:outerShdw sx="100000" sy="100000" kx="0" ky="0" algn="bl" rotWithShape="0" blurRad="101600" dist="25400" dir="5400000">
              <a:srgbClr val="2C2825">
                <a:alpha val="6000"/>
              </a:srgbClr>
            </a:outerShdw>
          </a:effectLst>
        </p:spPr>
      </p:sp>
      <p:sp>
        <p:nvSpPr>
          <p:cNvPr id="13" name="Shape 11"/>
          <p:cNvSpPr/>
          <p:nvPr/>
        </p:nvSpPr>
        <p:spPr>
          <a:xfrm>
            <a:off x="6492240" y="2359152"/>
            <a:ext cx="420624" cy="420624"/>
          </a:xfrm>
          <a:prstGeom prst="ellipse">
            <a:avLst/>
          </a:prstGeom>
          <a:solidFill>
            <a:srgbClr val="EAF0EB"/>
          </a:solidFill>
          <a:ln w="12700">
            <a:solidFill>
              <a:srgbClr val="A8C4AC"/>
            </a:solidFill>
            <a:prstDash val="solid"/>
          </a:ln>
        </p:spPr>
      </p:sp>
      <p:sp>
        <p:nvSpPr>
          <p:cNvPr id="14" name="Text 12"/>
          <p:cNvSpPr txBox="1"/>
          <p:nvPr/>
        </p:nvSpPr>
        <p:spPr>
          <a:xfrm>
            <a:off x="6492240" y="2359152"/>
            <a:ext cx="420624" cy="420624"/>
          </a:xfrm>
          <a:prstGeom prst="rect">
            <a:avLst/>
          </a:prstGeom>
          <a:noFill/>
          <a:ln/>
        </p:spPr>
        <p:txBody>
          <a:bodyPr wrap="square" lIns="0" tIns="0" rIns="0" bIns="0" rtlCol="0" anchor="ctr"/>
          <a:lstStyle/>
          <a:p>
            <a:pPr algn="ctr" indent="0" marL="0">
              <a:buNone/>
            </a:pPr>
            <a:r>
              <a:rPr lang="en-US" sz="1400" b="1" dirty="0">
                <a:solidFill>
                  <a:srgbClr val="4D7255"/>
                </a:solidFill>
                <a:latin typeface="Cambria" pitchFamily="34" charset="0"/>
                <a:ea typeface="Cambria" pitchFamily="34" charset="-122"/>
                <a:cs typeface="Cambria" pitchFamily="34" charset="-120"/>
              </a:rPr>
              <a:t>S</a:t>
            </a:r>
            <a:endParaRPr lang="en-US" sz="1400" dirty="0"/>
          </a:p>
        </p:txBody>
      </p:sp>
      <p:sp>
        <p:nvSpPr>
          <p:cNvPr id="15" name="Text 13"/>
          <p:cNvSpPr txBox="1"/>
          <p:nvPr/>
        </p:nvSpPr>
        <p:spPr>
          <a:xfrm>
            <a:off x="7022592" y="2340864"/>
            <a:ext cx="2743200" cy="384048"/>
          </a:xfrm>
          <a:prstGeom prst="rect">
            <a:avLst/>
          </a:prstGeom>
          <a:noFill/>
          <a:ln/>
        </p:spPr>
        <p:txBody>
          <a:bodyPr wrap="square" lIns="0" tIns="0" rIns="0" bIns="0" rtlCol="0" anchor="ctr"/>
          <a:lstStyle/>
          <a:p>
            <a:pPr indent="0" marL="0">
              <a:buNone/>
            </a:pPr>
            <a:r>
              <a:rPr lang="en-US" sz="2400" dirty="0">
                <a:solidFill>
                  <a:srgbClr val="2C2825"/>
                </a:solidFill>
                <a:latin typeface="Cambria" pitchFamily="34" charset="0"/>
                <a:ea typeface="Cambria" pitchFamily="34" charset="-122"/>
                <a:cs typeface="Cambria" pitchFamily="34" charset="-120"/>
              </a:rPr>
              <a:t>Services</a:t>
            </a:r>
            <a:endParaRPr lang="en-US" sz="2400" dirty="0"/>
          </a:p>
        </p:txBody>
      </p:sp>
      <p:sp>
        <p:nvSpPr>
          <p:cNvPr id="16" name="Text 14"/>
          <p:cNvSpPr txBox="1"/>
          <p:nvPr/>
        </p:nvSpPr>
        <p:spPr>
          <a:xfrm>
            <a:off x="9555480" y="2432304"/>
            <a:ext cx="1783080" cy="274320"/>
          </a:xfrm>
          <a:prstGeom prst="rect">
            <a:avLst/>
          </a:prstGeom>
          <a:noFill/>
          <a:ln/>
        </p:spPr>
        <p:txBody>
          <a:bodyPr wrap="square" lIns="0" tIns="0" rIns="0" bIns="0" rtlCol="0" anchor="ctr"/>
          <a:lstStyle/>
          <a:p>
            <a:pPr algn="r" indent="0" marL="0">
              <a:buNone/>
            </a:pPr>
            <a:r>
              <a:rPr lang="en-US" sz="1200" b="1" dirty="0">
                <a:solidFill>
                  <a:srgbClr val="4D7255"/>
                </a:solidFill>
                <a:latin typeface="Calibri" pitchFamily="34" charset="0"/>
                <a:ea typeface="Calibri" pitchFamily="34" charset="-122"/>
                <a:cs typeface="Calibri" pitchFamily="34" charset="-120"/>
              </a:rPr>
              <a:t>14 types</a:t>
            </a:r>
            <a:endParaRPr lang="en-US" sz="1200" dirty="0"/>
          </a:p>
        </p:txBody>
      </p:sp>
      <p:sp>
        <p:nvSpPr>
          <p:cNvPr id="17" name="Text 15"/>
          <p:cNvSpPr txBox="1"/>
          <p:nvPr/>
        </p:nvSpPr>
        <p:spPr>
          <a:xfrm>
            <a:off x="6556248" y="2907792"/>
            <a:ext cx="4572000" cy="1645920"/>
          </a:xfrm>
          <a:prstGeom prst="rect">
            <a:avLst/>
          </a:prstGeom>
          <a:noFill/>
          <a:ln/>
        </p:spPr>
        <p:txBody>
          <a:bodyPr wrap="square" lIns="0" tIns="0" rIns="0" bIns="0" rtlCol="0" anchor="ctr"/>
          <a:lstStyle/>
          <a:p>
            <a:pPr marL="342900" indent="-342900">
              <a:spcAft>
                <a:spcPts val="400"/>
              </a:spcAft>
              <a:buSzPct val="100000"/>
              <a:buChar char="•"/>
            </a:pPr>
            <a:r>
              <a:rPr lang="en-US" sz="1300" dirty="0">
                <a:solidFill>
                  <a:srgbClr val="2C2825"/>
                </a:solidFill>
                <a:latin typeface="Calibri" pitchFamily="34" charset="0"/>
                <a:ea typeface="Calibri" pitchFamily="34" charset="-122"/>
                <a:cs typeface="Calibri" pitchFamily="34" charset="-120"/>
              </a:rPr>
              <a:t>End-of-life doulas</a:t>
            </a:r>
            <a:endParaRPr lang="en-US" sz="1300" dirty="0"/>
          </a:p>
          <a:p>
            <a:pPr marL="342900" indent="-342900">
              <a:spcAft>
                <a:spcPts val="400"/>
              </a:spcAft>
              <a:buSzPct val="100000"/>
              <a:buChar char="•"/>
            </a:pPr>
            <a:r>
              <a:rPr lang="en-US" sz="1300" dirty="0">
                <a:solidFill>
                  <a:srgbClr val="2C2825"/>
                </a:solidFill>
                <a:latin typeface="Calibri" pitchFamily="34" charset="0"/>
                <a:ea typeface="Calibri" pitchFamily="34" charset="-122"/>
                <a:cs typeface="Calibri" pitchFamily="34" charset="-120"/>
              </a:rPr>
              <a:t>Estate attorneys</a:t>
            </a:r>
            <a:endParaRPr lang="en-US" sz="1300" dirty="0"/>
          </a:p>
          <a:p>
            <a:pPr marL="342900" indent="-342900">
              <a:spcAft>
                <a:spcPts val="400"/>
              </a:spcAft>
              <a:buSzPct val="100000"/>
              <a:buChar char="•"/>
            </a:pPr>
            <a:r>
              <a:rPr lang="en-US" sz="1300" dirty="0">
                <a:solidFill>
                  <a:srgbClr val="2C2825"/>
                </a:solidFill>
                <a:latin typeface="Calibri" pitchFamily="34" charset="0"/>
                <a:ea typeface="Calibri" pitchFamily="34" charset="-122"/>
                <a:cs typeface="Calibri" pitchFamily="34" charset="-120"/>
              </a:rPr>
              <a:t>Grief counselors &amp; spiritual support</a:t>
            </a:r>
            <a:endParaRPr lang="en-US" sz="1300" dirty="0"/>
          </a:p>
          <a:p>
            <a:pPr marL="342900" indent="-342900">
              <a:spcAft>
                <a:spcPts val="400"/>
              </a:spcAft>
              <a:buSzPct val="100000"/>
              <a:buChar char="•"/>
            </a:pPr>
            <a:r>
              <a:rPr lang="en-US" sz="1300" dirty="0">
                <a:solidFill>
                  <a:srgbClr val="2C2825"/>
                </a:solidFill>
                <a:latin typeface="Calibri" pitchFamily="34" charset="0"/>
                <a:ea typeface="Calibri" pitchFamily="34" charset="-122"/>
                <a:cs typeface="Calibri" pitchFamily="34" charset="-120"/>
              </a:rPr>
              <a:t>Funeral celebrants &amp; home funeral guides</a:t>
            </a:r>
            <a:endParaRPr lang="en-US" sz="1300" dirty="0"/>
          </a:p>
          <a:p>
            <a:pPr marL="342900" indent="-342900">
              <a:spcAft>
                <a:spcPts val="400"/>
              </a:spcAft>
              <a:buSzPct val="100000"/>
              <a:buChar char="•"/>
            </a:pPr>
            <a:r>
              <a:rPr lang="en-US" sz="1300" dirty="0">
                <a:solidFill>
                  <a:srgbClr val="2C2825"/>
                </a:solidFill>
                <a:latin typeface="Calibri" pitchFamily="34" charset="0"/>
                <a:ea typeface="Calibri" pitchFamily="34" charset="-122"/>
                <a:cs typeface="Calibri" pitchFamily="34" charset="-120"/>
              </a:rPr>
              <a:t>Death cleaning &amp; end-of-life organizers</a:t>
            </a:r>
            <a:endParaRPr lang="en-US" sz="1300" dirty="0"/>
          </a:p>
          <a:p>
            <a:pPr marL="342900" indent="-342900">
              <a:spcAft>
                <a:spcPts val="400"/>
              </a:spcAft>
              <a:buSzPct val="100000"/>
              <a:buChar char="•"/>
            </a:pPr>
            <a:r>
              <a:rPr lang="en-US" sz="1300" dirty="0">
                <a:solidFill>
                  <a:srgbClr val="2C2825"/>
                </a:solidFill>
                <a:latin typeface="Calibri" pitchFamily="34" charset="0"/>
                <a:ea typeface="Calibri" pitchFamily="34" charset="-122"/>
                <a:cs typeface="Calibri" pitchFamily="34" charset="-120"/>
              </a:rPr>
              <a:t>Death cafés, mediators, funeral homes</a:t>
            </a:r>
            <a:endParaRPr lang="en-US" sz="1300" dirty="0"/>
          </a:p>
        </p:txBody>
      </p:sp>
      <p:sp>
        <p:nvSpPr>
          <p:cNvPr id="18" name="Text 16"/>
          <p:cNvSpPr txBox="1"/>
          <p:nvPr/>
        </p:nvSpPr>
        <p:spPr>
          <a:xfrm>
            <a:off x="6556248" y="4553712"/>
            <a:ext cx="4663440" cy="274320"/>
          </a:xfrm>
          <a:prstGeom prst="rect">
            <a:avLst/>
          </a:prstGeom>
          <a:noFill/>
          <a:ln/>
        </p:spPr>
        <p:txBody>
          <a:bodyPr wrap="square" lIns="0" tIns="0" rIns="0" bIns="0" rtlCol="0" anchor="ctr"/>
          <a:lstStyle/>
          <a:p>
            <a:pPr indent="0" marL="0">
              <a:buNone/>
            </a:pPr>
            <a:r>
              <a:rPr lang="en-US" sz="1150" i="1" dirty="0">
                <a:solidFill>
                  <a:srgbClr val="5A534C"/>
                </a:solidFill>
                <a:latin typeface="Calibri" pitchFamily="34" charset="0"/>
                <a:ea typeface="Calibri" pitchFamily="34" charset="-122"/>
                <a:cs typeface="Calibri" pitchFamily="34" charset="-120"/>
              </a:rPr>
              <a:t>Found by zip code, matched to each provider’s service radius.</a:t>
            </a:r>
            <a:endParaRPr lang="en-US" sz="1150" dirty="0"/>
          </a:p>
        </p:txBody>
      </p:sp>
      <p:sp>
        <p:nvSpPr>
          <p:cNvPr id="19" name="Shape 17"/>
          <p:cNvSpPr/>
          <p:nvPr/>
        </p:nvSpPr>
        <p:spPr>
          <a:xfrm>
            <a:off x="685800" y="5230368"/>
            <a:ext cx="3429000" cy="960120"/>
          </a:xfrm>
          <a:prstGeom prst="roundRect">
            <a:avLst>
              <a:gd name="adj" fmla="val 10476"/>
            </a:avLst>
          </a:prstGeom>
          <a:solidFill>
            <a:srgbClr val="FFFFFF"/>
          </a:solidFill>
          <a:ln w="9525">
            <a:solidFill>
              <a:srgbClr val="E7E3DE"/>
            </a:solidFill>
            <a:prstDash val="solid"/>
          </a:ln>
          <a:effectLst>
            <a:outerShdw sx="100000" sy="100000" kx="0" ky="0" algn="bl" rotWithShape="0" blurRad="101600" dist="25400" dir="5400000">
              <a:srgbClr val="2C2825">
                <a:alpha val="6000"/>
              </a:srgbClr>
            </a:outerShdw>
          </a:effectLst>
        </p:spPr>
      </p:sp>
      <p:sp>
        <p:nvSpPr>
          <p:cNvPr id="20" name="Text 18"/>
          <p:cNvSpPr txBox="1"/>
          <p:nvPr/>
        </p:nvSpPr>
        <p:spPr>
          <a:xfrm>
            <a:off x="905256" y="5367528"/>
            <a:ext cx="3017520" cy="274320"/>
          </a:xfrm>
          <a:prstGeom prst="rect">
            <a:avLst/>
          </a:prstGeom>
          <a:noFill/>
          <a:ln/>
        </p:spPr>
        <p:txBody>
          <a:bodyPr wrap="square" lIns="0" tIns="0" rIns="0" bIns="0" rtlCol="0" anchor="ctr"/>
          <a:lstStyle/>
          <a:p>
            <a:pPr indent="0" marL="0">
              <a:buNone/>
            </a:pPr>
            <a:r>
              <a:rPr lang="en-US" sz="1350" b="1" dirty="0">
                <a:solidFill>
                  <a:srgbClr val="8B3E2D"/>
                </a:solidFill>
                <a:latin typeface="Calibri" pitchFamily="34" charset="0"/>
                <a:ea typeface="Calibri" pitchFamily="34" charset="-122"/>
                <a:cs typeface="Calibri" pitchFamily="34" charset="-120"/>
              </a:rPr>
              <a:t>Curated, not open</a:t>
            </a:r>
            <a:endParaRPr lang="en-US" sz="1350" dirty="0"/>
          </a:p>
        </p:txBody>
      </p:sp>
      <p:sp>
        <p:nvSpPr>
          <p:cNvPr id="21" name="Text 19"/>
          <p:cNvSpPr txBox="1"/>
          <p:nvPr/>
        </p:nvSpPr>
        <p:spPr>
          <a:xfrm>
            <a:off x="905256" y="5650992"/>
            <a:ext cx="3017520" cy="457200"/>
          </a:xfrm>
          <a:prstGeom prst="rect">
            <a:avLst/>
          </a:prstGeom>
          <a:noFill/>
          <a:ln/>
        </p:spPr>
        <p:txBody>
          <a:bodyPr wrap="square" lIns="0" tIns="0" rIns="0" bIns="0" rtlCol="0" anchor="ctr"/>
          <a:lstStyle/>
          <a:p>
            <a:pPr indent="0" marL="0">
              <a:lnSpc>
                <a:spcPts val="1500"/>
              </a:lnSpc>
              <a:buNone/>
            </a:pPr>
            <a:r>
              <a:rPr lang="en-US" sz="1150" dirty="0">
                <a:solidFill>
                  <a:srgbClr val="5A534C"/>
                </a:solidFill>
                <a:latin typeface="Calibri" pitchFamily="34" charset="0"/>
                <a:ea typeface="Calibri" pitchFamily="34" charset="-122"/>
                <a:cs typeface="Calibri" pitchFamily="34" charset="-120"/>
              </a:rPr>
              <a:t>Every vendor is reviewed and approved before they appear.</a:t>
            </a:r>
            <a:endParaRPr lang="en-US" sz="1150" dirty="0"/>
          </a:p>
        </p:txBody>
      </p:sp>
      <p:sp>
        <p:nvSpPr>
          <p:cNvPr id="22" name="Shape 20"/>
          <p:cNvSpPr/>
          <p:nvPr/>
        </p:nvSpPr>
        <p:spPr>
          <a:xfrm>
            <a:off x="4343400" y="5230368"/>
            <a:ext cx="3429000" cy="960120"/>
          </a:xfrm>
          <a:prstGeom prst="roundRect">
            <a:avLst>
              <a:gd name="adj" fmla="val 10476"/>
            </a:avLst>
          </a:prstGeom>
          <a:solidFill>
            <a:srgbClr val="FFFFFF"/>
          </a:solidFill>
          <a:ln w="9525">
            <a:solidFill>
              <a:srgbClr val="E7E3DE"/>
            </a:solidFill>
            <a:prstDash val="solid"/>
          </a:ln>
          <a:effectLst>
            <a:outerShdw sx="100000" sy="100000" kx="0" ky="0" algn="bl" rotWithShape="0" blurRad="101600" dist="25400" dir="5400000">
              <a:srgbClr val="2C2825">
                <a:alpha val="6000"/>
              </a:srgbClr>
            </a:outerShdw>
          </a:effectLst>
        </p:spPr>
      </p:sp>
      <p:sp>
        <p:nvSpPr>
          <p:cNvPr id="23" name="Text 21"/>
          <p:cNvSpPr txBox="1"/>
          <p:nvPr/>
        </p:nvSpPr>
        <p:spPr>
          <a:xfrm>
            <a:off x="4562856" y="5367528"/>
            <a:ext cx="3017520" cy="274320"/>
          </a:xfrm>
          <a:prstGeom prst="rect">
            <a:avLst/>
          </a:prstGeom>
          <a:noFill/>
          <a:ln/>
        </p:spPr>
        <p:txBody>
          <a:bodyPr wrap="square" lIns="0" tIns="0" rIns="0" bIns="0" rtlCol="0" anchor="ctr"/>
          <a:lstStyle/>
          <a:p>
            <a:pPr indent="0" marL="0">
              <a:buNone/>
            </a:pPr>
            <a:r>
              <a:rPr lang="en-US" sz="1350" b="1" dirty="0">
                <a:solidFill>
                  <a:srgbClr val="8B3E2D"/>
                </a:solidFill>
                <a:latin typeface="Calibri" pitchFamily="34" charset="0"/>
                <a:ea typeface="Calibri" pitchFamily="34" charset="-122"/>
                <a:cs typeface="Calibri" pitchFamily="34" charset="-120"/>
              </a:rPr>
              <a:t>Local by radius</a:t>
            </a:r>
            <a:endParaRPr lang="en-US" sz="1350" dirty="0"/>
          </a:p>
        </p:txBody>
      </p:sp>
      <p:sp>
        <p:nvSpPr>
          <p:cNvPr id="24" name="Text 22"/>
          <p:cNvSpPr txBox="1"/>
          <p:nvPr/>
        </p:nvSpPr>
        <p:spPr>
          <a:xfrm>
            <a:off x="4562856" y="5650992"/>
            <a:ext cx="3017520" cy="457200"/>
          </a:xfrm>
          <a:prstGeom prst="rect">
            <a:avLst/>
          </a:prstGeom>
          <a:noFill/>
          <a:ln/>
        </p:spPr>
        <p:txBody>
          <a:bodyPr wrap="square" lIns="0" tIns="0" rIns="0" bIns="0" rtlCol="0" anchor="ctr"/>
          <a:lstStyle/>
          <a:p>
            <a:pPr indent="0" marL="0">
              <a:lnSpc>
                <a:spcPts val="1500"/>
              </a:lnSpc>
              <a:buNone/>
            </a:pPr>
            <a:r>
              <a:rPr lang="en-US" sz="1150" dirty="0">
                <a:solidFill>
                  <a:srgbClr val="5A534C"/>
                </a:solidFill>
                <a:latin typeface="Calibri" pitchFamily="34" charset="0"/>
                <a:ea typeface="Calibri" pitchFamily="34" charset="-122"/>
                <a:cs typeface="Calibri" pitchFamily="34" charset="-120"/>
              </a:rPr>
              <a:t>Providers surface for the zip codes they actually serve.</a:t>
            </a:r>
            <a:endParaRPr lang="en-US" sz="1150" dirty="0"/>
          </a:p>
        </p:txBody>
      </p:sp>
      <p:sp>
        <p:nvSpPr>
          <p:cNvPr id="25" name="Shape 23"/>
          <p:cNvSpPr/>
          <p:nvPr/>
        </p:nvSpPr>
        <p:spPr>
          <a:xfrm>
            <a:off x="8001000" y="5230368"/>
            <a:ext cx="3429000" cy="960120"/>
          </a:xfrm>
          <a:prstGeom prst="roundRect">
            <a:avLst>
              <a:gd name="adj" fmla="val 10476"/>
            </a:avLst>
          </a:prstGeom>
          <a:solidFill>
            <a:srgbClr val="FFFFFF"/>
          </a:solidFill>
          <a:ln w="9525">
            <a:solidFill>
              <a:srgbClr val="E7E3DE"/>
            </a:solidFill>
            <a:prstDash val="solid"/>
          </a:ln>
          <a:effectLst>
            <a:outerShdw sx="100000" sy="100000" kx="0" ky="0" algn="bl" rotWithShape="0" blurRad="101600" dist="25400" dir="5400000">
              <a:srgbClr val="2C2825">
                <a:alpha val="6000"/>
              </a:srgbClr>
            </a:outerShdw>
          </a:effectLst>
        </p:spPr>
      </p:sp>
      <p:sp>
        <p:nvSpPr>
          <p:cNvPr id="26" name="Text 24"/>
          <p:cNvSpPr txBox="1"/>
          <p:nvPr/>
        </p:nvSpPr>
        <p:spPr>
          <a:xfrm>
            <a:off x="8220456" y="5367528"/>
            <a:ext cx="3017520" cy="274320"/>
          </a:xfrm>
          <a:prstGeom prst="rect">
            <a:avLst/>
          </a:prstGeom>
          <a:noFill/>
          <a:ln/>
        </p:spPr>
        <p:txBody>
          <a:bodyPr wrap="square" lIns="0" tIns="0" rIns="0" bIns="0" rtlCol="0" anchor="ctr"/>
          <a:lstStyle/>
          <a:p>
            <a:pPr indent="0" marL="0">
              <a:buNone/>
            </a:pPr>
            <a:r>
              <a:rPr lang="en-US" sz="1350" b="1" dirty="0">
                <a:solidFill>
                  <a:srgbClr val="8B3E2D"/>
                </a:solidFill>
                <a:latin typeface="Calibri" pitchFamily="34" charset="0"/>
                <a:ea typeface="Calibri" pitchFamily="34" charset="-122"/>
                <a:cs typeface="Calibri" pitchFamily="34" charset="-120"/>
              </a:rPr>
              <a:t>Guidance, not just listings</a:t>
            </a:r>
            <a:endParaRPr lang="en-US" sz="1350" dirty="0"/>
          </a:p>
        </p:txBody>
      </p:sp>
      <p:sp>
        <p:nvSpPr>
          <p:cNvPr id="27" name="Text 25"/>
          <p:cNvSpPr txBox="1"/>
          <p:nvPr/>
        </p:nvSpPr>
        <p:spPr>
          <a:xfrm>
            <a:off x="8220456" y="5650992"/>
            <a:ext cx="3017520" cy="457200"/>
          </a:xfrm>
          <a:prstGeom prst="rect">
            <a:avLst/>
          </a:prstGeom>
          <a:noFill/>
          <a:ln/>
        </p:spPr>
        <p:txBody>
          <a:bodyPr wrap="square" lIns="0" tIns="0" rIns="0" bIns="0" rtlCol="0" anchor="ctr"/>
          <a:lstStyle/>
          <a:p>
            <a:pPr indent="0" marL="0">
              <a:lnSpc>
                <a:spcPts val="1500"/>
              </a:lnSpc>
              <a:buNone/>
            </a:pPr>
            <a:r>
              <a:rPr lang="en-US" sz="1150" dirty="0">
                <a:solidFill>
                  <a:srgbClr val="5A534C"/>
                </a:solidFill>
                <a:latin typeface="Calibri" pitchFamily="34" charset="0"/>
                <a:ea typeface="Calibri" pitchFamily="34" charset="-122"/>
                <a:cs typeface="Calibri" pitchFamily="34" charset="-120"/>
              </a:rPr>
              <a:t>Plain-language answers for people who have never done this.</a:t>
            </a:r>
            <a:endParaRPr lang="en-US" sz="11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AF9F7"/>
        </a:solidFill>
      </p:bgPr>
    </p:bg>
    <p:spTree>
      <p:nvGrpSpPr>
        <p:cNvPr id="1" name=""/>
        <p:cNvGrpSpPr/>
        <p:nvPr/>
      </p:nvGrpSpPr>
      <p:grpSpPr>
        <a:xfrm>
          <a:off x="0" y="0"/>
          <a:ext cx="0" cy="0"/>
          <a:chOff x="0" y="0"/>
          <a:chExt cx="0" cy="0"/>
        </a:xfrm>
      </p:grpSpPr>
      <p:sp>
        <p:nvSpPr>
          <p:cNvPr id="2" name="Text 0"/>
          <p:cNvSpPr txBox="1"/>
          <p:nvPr/>
        </p:nvSpPr>
        <p:spPr>
          <a:xfrm>
            <a:off x="685800" y="502920"/>
            <a:ext cx="7315200" cy="256032"/>
          </a:xfrm>
          <a:prstGeom prst="rect">
            <a:avLst/>
          </a:prstGeom>
          <a:noFill/>
          <a:ln/>
        </p:spPr>
        <p:txBody>
          <a:bodyPr wrap="square" lIns="0" tIns="0" rIns="0" bIns="0" rtlCol="0" anchor="ctr"/>
          <a:lstStyle/>
          <a:p>
            <a:pPr indent="0" marL="0">
              <a:buNone/>
            </a:pPr>
            <a:r>
              <a:rPr lang="en-US" sz="1100" b="1" spc="220" kern="0" dirty="0">
                <a:solidFill>
                  <a:srgbClr val="C1634F"/>
                </a:solidFill>
                <a:latin typeface="Calibri" pitchFamily="34" charset="0"/>
                <a:ea typeface="Calibri" pitchFamily="34" charset="-122"/>
                <a:cs typeface="Calibri" pitchFamily="34" charset="-120"/>
              </a:rPr>
              <a:t>THE PRODUCT</a:t>
            </a:r>
            <a:endParaRPr lang="en-US" sz="1100" dirty="0"/>
          </a:p>
        </p:txBody>
      </p:sp>
      <p:sp>
        <p:nvSpPr>
          <p:cNvPr id="3" name="Text 1"/>
          <p:cNvSpPr txBox="1"/>
          <p:nvPr/>
        </p:nvSpPr>
        <p:spPr>
          <a:xfrm>
            <a:off x="685800" y="841248"/>
            <a:ext cx="10789920" cy="658368"/>
          </a:xfrm>
          <a:prstGeom prst="rect">
            <a:avLst/>
          </a:prstGeom>
          <a:noFill/>
          <a:ln/>
        </p:spPr>
        <p:txBody>
          <a:bodyPr wrap="square" lIns="0" tIns="0" rIns="0" bIns="0" rtlCol="0" anchor="t"/>
          <a:lstStyle/>
          <a:p>
            <a:pPr indent="0" marL="0">
              <a:buNone/>
            </a:pPr>
            <a:r>
              <a:rPr lang="en-US" sz="3600" dirty="0">
                <a:solidFill>
                  <a:srgbClr val="2C2825"/>
                </a:solidFill>
                <a:latin typeface="Cambria" pitchFamily="34" charset="0"/>
                <a:ea typeface="Cambria" pitchFamily="34" charset="-122"/>
                <a:cs typeface="Cambria" pitchFamily="34" charset="-120"/>
              </a:rPr>
              <a:t>Not a concept — a working marketplace</a:t>
            </a:r>
            <a:endParaRPr lang="en-US" sz="3600" dirty="0"/>
          </a:p>
        </p:txBody>
      </p:sp>
      <p:sp>
        <p:nvSpPr>
          <p:cNvPr id="4" name="Text 2"/>
          <p:cNvSpPr txBox="1"/>
          <p:nvPr/>
        </p:nvSpPr>
        <p:spPr>
          <a:xfrm>
            <a:off x="685800" y="1481328"/>
            <a:ext cx="10058400" cy="384048"/>
          </a:xfrm>
          <a:prstGeom prst="rect">
            <a:avLst/>
          </a:prstGeom>
          <a:noFill/>
          <a:ln/>
        </p:spPr>
        <p:txBody>
          <a:bodyPr wrap="square" lIns="0" tIns="0" rIns="0" bIns="0" rtlCol="0" anchor="ctr"/>
          <a:lstStyle/>
          <a:p>
            <a:pPr indent="0" marL="0">
              <a:lnSpc>
                <a:spcPts val="2000"/>
              </a:lnSpc>
              <a:buNone/>
            </a:pPr>
            <a:r>
              <a:rPr lang="en-US" sz="1450" dirty="0">
                <a:solidFill>
                  <a:srgbClr val="5A534C"/>
                </a:solidFill>
                <a:latin typeface="Calibri" pitchFamily="34" charset="0"/>
                <a:ea typeface="Calibri" pitchFamily="34" charset="-122"/>
                <a:cs typeface="Calibri" pitchFamily="34" charset="-120"/>
              </a:rPr>
              <a:t>Live today at coda-co-nine.vercel.app. Four build phases shipped: the catalog, the database, accounts, and full vendor self-service.</a:t>
            </a:r>
            <a:endParaRPr lang="en-US" sz="1450" dirty="0"/>
          </a:p>
        </p:txBody>
      </p:sp>
      <p:sp>
        <p:nvSpPr>
          <p:cNvPr id="5" name="Shape 3"/>
          <p:cNvSpPr/>
          <p:nvPr/>
        </p:nvSpPr>
        <p:spPr>
          <a:xfrm>
            <a:off x="685800" y="2139696"/>
            <a:ext cx="3429000" cy="1481328"/>
          </a:xfrm>
          <a:prstGeom prst="roundRect">
            <a:avLst>
              <a:gd name="adj" fmla="val 6790"/>
            </a:avLst>
          </a:prstGeom>
          <a:solidFill>
            <a:srgbClr val="FFFFFF"/>
          </a:solidFill>
          <a:ln w="9525">
            <a:solidFill>
              <a:srgbClr val="E7E3DE"/>
            </a:solidFill>
            <a:prstDash val="solid"/>
          </a:ln>
          <a:effectLst>
            <a:outerShdw sx="100000" sy="100000" kx="0" ky="0" algn="bl" rotWithShape="0" blurRad="101600" dist="25400" dir="5400000">
              <a:srgbClr val="2C2825">
                <a:alpha val="6000"/>
              </a:srgbClr>
            </a:outerShdw>
          </a:effectLst>
        </p:spPr>
      </p:sp>
      <p:sp>
        <p:nvSpPr>
          <p:cNvPr id="6" name="Shape 4"/>
          <p:cNvSpPr/>
          <p:nvPr/>
        </p:nvSpPr>
        <p:spPr>
          <a:xfrm>
            <a:off x="905256" y="2340864"/>
            <a:ext cx="420624" cy="420624"/>
          </a:xfrm>
          <a:prstGeom prst="ellipse">
            <a:avLst/>
          </a:prstGeom>
          <a:solidFill>
            <a:srgbClr val="F5EAE6"/>
          </a:solidFill>
          <a:ln w="12700">
            <a:solidFill>
              <a:srgbClr val="D4876F"/>
            </a:solidFill>
            <a:prstDash val="solid"/>
          </a:ln>
        </p:spPr>
      </p:sp>
      <p:sp>
        <p:nvSpPr>
          <p:cNvPr id="7" name="Text 5"/>
          <p:cNvSpPr txBox="1"/>
          <p:nvPr/>
        </p:nvSpPr>
        <p:spPr>
          <a:xfrm>
            <a:off x="905256" y="2340864"/>
            <a:ext cx="420624" cy="420624"/>
          </a:xfrm>
          <a:prstGeom prst="rect">
            <a:avLst/>
          </a:prstGeom>
          <a:noFill/>
          <a:ln/>
        </p:spPr>
        <p:txBody>
          <a:bodyPr wrap="square" lIns="0" tIns="0" rIns="0" bIns="0" rtlCol="0" anchor="ctr"/>
          <a:lstStyle/>
          <a:p>
            <a:pPr algn="ctr" indent="0" marL="0">
              <a:buNone/>
            </a:pPr>
            <a:r>
              <a:rPr lang="en-US" sz="1400" b="1" dirty="0">
                <a:solidFill>
                  <a:srgbClr val="8B3E2D"/>
                </a:solidFill>
                <a:latin typeface="Cambria" pitchFamily="34" charset="0"/>
                <a:ea typeface="Cambria" pitchFamily="34" charset="-122"/>
                <a:cs typeface="Cambria" pitchFamily="34" charset="-120"/>
              </a:rPr>
              <a:t>V</a:t>
            </a:r>
            <a:endParaRPr lang="en-US" sz="1400" dirty="0"/>
          </a:p>
        </p:txBody>
      </p:sp>
      <p:sp>
        <p:nvSpPr>
          <p:cNvPr id="8" name="Text 6"/>
          <p:cNvSpPr txBox="1"/>
          <p:nvPr/>
        </p:nvSpPr>
        <p:spPr>
          <a:xfrm>
            <a:off x="1435608" y="2377440"/>
            <a:ext cx="2514600" cy="310896"/>
          </a:xfrm>
          <a:prstGeom prst="rect">
            <a:avLst/>
          </a:prstGeom>
          <a:noFill/>
          <a:ln/>
        </p:spPr>
        <p:txBody>
          <a:bodyPr wrap="square" lIns="0" tIns="0" rIns="0" bIns="0" rtlCol="0" anchor="ctr"/>
          <a:lstStyle/>
          <a:p>
            <a:pPr indent="0" marL="0">
              <a:buNone/>
            </a:pPr>
            <a:r>
              <a:rPr lang="en-US" sz="1400" b="1" dirty="0">
                <a:solidFill>
                  <a:srgbClr val="2C2825"/>
                </a:solidFill>
                <a:latin typeface="Calibri" pitchFamily="34" charset="0"/>
                <a:ea typeface="Calibri" pitchFamily="34" charset="-122"/>
                <a:cs typeface="Calibri" pitchFamily="34" charset="-120"/>
              </a:rPr>
              <a:t>Vendor self-service</a:t>
            </a:r>
            <a:endParaRPr lang="en-US" sz="1400" dirty="0"/>
          </a:p>
        </p:txBody>
      </p:sp>
      <p:sp>
        <p:nvSpPr>
          <p:cNvPr id="9" name="Text 7"/>
          <p:cNvSpPr txBox="1"/>
          <p:nvPr/>
        </p:nvSpPr>
        <p:spPr>
          <a:xfrm>
            <a:off x="905256" y="2852928"/>
            <a:ext cx="3017520" cy="658368"/>
          </a:xfrm>
          <a:prstGeom prst="rect">
            <a:avLst/>
          </a:prstGeom>
          <a:noFill/>
          <a:ln/>
        </p:spPr>
        <p:txBody>
          <a:bodyPr wrap="square" lIns="0" tIns="0" rIns="0" bIns="0" rtlCol="0" anchor="ctr"/>
          <a:lstStyle/>
          <a:p>
            <a:pPr indent="0" marL="0">
              <a:lnSpc>
                <a:spcPts val="1500"/>
              </a:lnSpc>
              <a:buNone/>
            </a:pPr>
            <a:r>
              <a:rPr lang="en-US" sz="1150" dirty="0">
                <a:solidFill>
                  <a:srgbClr val="5A534C"/>
                </a:solidFill>
                <a:latin typeface="Calibri" pitchFamily="34" charset="0"/>
                <a:ea typeface="Calibri" pitchFamily="34" charset="-122"/>
                <a:cs typeface="Calibri" pitchFamily="34" charset="-120"/>
              </a:rPr>
              <a:t>Apply, build a shop or service profile, list and price. Admin approves in 1–2 business days.</a:t>
            </a:r>
            <a:endParaRPr lang="en-US" sz="1150" dirty="0"/>
          </a:p>
        </p:txBody>
      </p:sp>
      <p:sp>
        <p:nvSpPr>
          <p:cNvPr id="10" name="Shape 8"/>
          <p:cNvSpPr/>
          <p:nvPr/>
        </p:nvSpPr>
        <p:spPr>
          <a:xfrm>
            <a:off x="4343400" y="2139696"/>
            <a:ext cx="3429000" cy="1481328"/>
          </a:xfrm>
          <a:prstGeom prst="roundRect">
            <a:avLst>
              <a:gd name="adj" fmla="val 6790"/>
            </a:avLst>
          </a:prstGeom>
          <a:solidFill>
            <a:srgbClr val="FFFFFF"/>
          </a:solidFill>
          <a:ln w="9525">
            <a:solidFill>
              <a:srgbClr val="E7E3DE"/>
            </a:solidFill>
            <a:prstDash val="solid"/>
          </a:ln>
          <a:effectLst>
            <a:outerShdw sx="100000" sy="100000" kx="0" ky="0" algn="bl" rotWithShape="0" blurRad="101600" dist="25400" dir="5400000">
              <a:srgbClr val="2C2825">
                <a:alpha val="6000"/>
              </a:srgbClr>
            </a:outerShdw>
          </a:effectLst>
        </p:spPr>
      </p:sp>
      <p:sp>
        <p:nvSpPr>
          <p:cNvPr id="11" name="Shape 9"/>
          <p:cNvSpPr/>
          <p:nvPr/>
        </p:nvSpPr>
        <p:spPr>
          <a:xfrm>
            <a:off x="4562856" y="2340864"/>
            <a:ext cx="420624" cy="420624"/>
          </a:xfrm>
          <a:prstGeom prst="ellipse">
            <a:avLst/>
          </a:prstGeom>
          <a:solidFill>
            <a:srgbClr val="EAF0EB"/>
          </a:solidFill>
          <a:ln w="12700">
            <a:solidFill>
              <a:srgbClr val="A8C4AC"/>
            </a:solidFill>
            <a:prstDash val="solid"/>
          </a:ln>
        </p:spPr>
      </p:sp>
      <p:sp>
        <p:nvSpPr>
          <p:cNvPr id="12" name="Text 10"/>
          <p:cNvSpPr txBox="1"/>
          <p:nvPr/>
        </p:nvSpPr>
        <p:spPr>
          <a:xfrm>
            <a:off x="4562856" y="2340864"/>
            <a:ext cx="420624" cy="420624"/>
          </a:xfrm>
          <a:prstGeom prst="rect">
            <a:avLst/>
          </a:prstGeom>
          <a:noFill/>
          <a:ln/>
        </p:spPr>
        <p:txBody>
          <a:bodyPr wrap="square" lIns="0" tIns="0" rIns="0" bIns="0" rtlCol="0" anchor="ctr"/>
          <a:lstStyle/>
          <a:p>
            <a:pPr algn="ctr" indent="0" marL="0">
              <a:buNone/>
            </a:pPr>
            <a:r>
              <a:rPr lang="en-US" sz="1400" b="1" dirty="0">
                <a:solidFill>
                  <a:srgbClr val="4D7255"/>
                </a:solidFill>
                <a:latin typeface="Cambria" pitchFamily="34" charset="0"/>
                <a:ea typeface="Cambria" pitchFamily="34" charset="-122"/>
                <a:cs typeface="Cambria" pitchFamily="34" charset="-120"/>
              </a:rPr>
              <a:t>$</a:t>
            </a:r>
            <a:endParaRPr lang="en-US" sz="1400" dirty="0"/>
          </a:p>
        </p:txBody>
      </p:sp>
      <p:sp>
        <p:nvSpPr>
          <p:cNvPr id="13" name="Text 11"/>
          <p:cNvSpPr txBox="1"/>
          <p:nvPr/>
        </p:nvSpPr>
        <p:spPr>
          <a:xfrm>
            <a:off x="5093208" y="2377440"/>
            <a:ext cx="2514600" cy="310896"/>
          </a:xfrm>
          <a:prstGeom prst="rect">
            <a:avLst/>
          </a:prstGeom>
          <a:noFill/>
          <a:ln/>
        </p:spPr>
        <p:txBody>
          <a:bodyPr wrap="square" lIns="0" tIns="0" rIns="0" bIns="0" rtlCol="0" anchor="ctr"/>
          <a:lstStyle/>
          <a:p>
            <a:pPr indent="0" marL="0">
              <a:buNone/>
            </a:pPr>
            <a:r>
              <a:rPr lang="en-US" sz="1400" b="1" dirty="0">
                <a:solidFill>
                  <a:srgbClr val="2C2825"/>
                </a:solidFill>
                <a:latin typeface="Calibri" pitchFamily="34" charset="0"/>
                <a:ea typeface="Calibri" pitchFamily="34" charset="-122"/>
                <a:cs typeface="Calibri" pitchFamily="34" charset="-120"/>
              </a:rPr>
              <a:t>Subscription billing</a:t>
            </a:r>
            <a:endParaRPr lang="en-US" sz="1400" dirty="0"/>
          </a:p>
        </p:txBody>
      </p:sp>
      <p:sp>
        <p:nvSpPr>
          <p:cNvPr id="14" name="Text 12"/>
          <p:cNvSpPr txBox="1"/>
          <p:nvPr/>
        </p:nvSpPr>
        <p:spPr>
          <a:xfrm>
            <a:off x="4562856" y="2852928"/>
            <a:ext cx="3017520" cy="658368"/>
          </a:xfrm>
          <a:prstGeom prst="rect">
            <a:avLst/>
          </a:prstGeom>
          <a:noFill/>
          <a:ln/>
        </p:spPr>
        <p:txBody>
          <a:bodyPr wrap="square" lIns="0" tIns="0" rIns="0" bIns="0" rtlCol="0" anchor="ctr"/>
          <a:lstStyle/>
          <a:p>
            <a:pPr indent="0" marL="0">
              <a:lnSpc>
                <a:spcPts val="1500"/>
              </a:lnSpc>
              <a:buNone/>
            </a:pPr>
            <a:r>
              <a:rPr lang="en-US" sz="1150" dirty="0">
                <a:solidFill>
                  <a:srgbClr val="5A534C"/>
                </a:solidFill>
                <a:latin typeface="Calibri" pitchFamily="34" charset="0"/>
                <a:ea typeface="Calibri" pitchFamily="34" charset="-122"/>
                <a:cs typeface="Calibri" pitchFamily="34" charset="-120"/>
              </a:rPr>
              <a:t>Stripe Checkout and customer portal — trials, renewals, plan changes, cancellation.</a:t>
            </a:r>
            <a:endParaRPr lang="en-US" sz="1150" dirty="0"/>
          </a:p>
        </p:txBody>
      </p:sp>
      <p:sp>
        <p:nvSpPr>
          <p:cNvPr id="15" name="Shape 13"/>
          <p:cNvSpPr/>
          <p:nvPr/>
        </p:nvSpPr>
        <p:spPr>
          <a:xfrm>
            <a:off x="8001000" y="2139696"/>
            <a:ext cx="3429000" cy="1481328"/>
          </a:xfrm>
          <a:prstGeom prst="roundRect">
            <a:avLst>
              <a:gd name="adj" fmla="val 6790"/>
            </a:avLst>
          </a:prstGeom>
          <a:solidFill>
            <a:srgbClr val="FFFFFF"/>
          </a:solidFill>
          <a:ln w="9525">
            <a:solidFill>
              <a:srgbClr val="E7E3DE"/>
            </a:solidFill>
            <a:prstDash val="solid"/>
          </a:ln>
          <a:effectLst>
            <a:outerShdw sx="100000" sy="100000" kx="0" ky="0" algn="bl" rotWithShape="0" blurRad="101600" dist="25400" dir="5400000">
              <a:srgbClr val="2C2825">
                <a:alpha val="6000"/>
              </a:srgbClr>
            </a:outerShdw>
          </a:effectLst>
        </p:spPr>
      </p:sp>
      <p:sp>
        <p:nvSpPr>
          <p:cNvPr id="16" name="Shape 14"/>
          <p:cNvSpPr/>
          <p:nvPr/>
        </p:nvSpPr>
        <p:spPr>
          <a:xfrm>
            <a:off x="8220456" y="2340864"/>
            <a:ext cx="420624" cy="420624"/>
          </a:xfrm>
          <a:prstGeom prst="ellipse">
            <a:avLst/>
          </a:prstGeom>
          <a:solidFill>
            <a:srgbClr val="F5EAE6"/>
          </a:solidFill>
          <a:ln w="12700">
            <a:solidFill>
              <a:srgbClr val="D4876F"/>
            </a:solidFill>
            <a:prstDash val="solid"/>
          </a:ln>
        </p:spPr>
      </p:sp>
      <p:sp>
        <p:nvSpPr>
          <p:cNvPr id="17" name="Text 15"/>
          <p:cNvSpPr txBox="1"/>
          <p:nvPr/>
        </p:nvSpPr>
        <p:spPr>
          <a:xfrm>
            <a:off x="8220456" y="2340864"/>
            <a:ext cx="420624" cy="420624"/>
          </a:xfrm>
          <a:prstGeom prst="rect">
            <a:avLst/>
          </a:prstGeom>
          <a:noFill/>
          <a:ln/>
        </p:spPr>
        <p:txBody>
          <a:bodyPr wrap="square" lIns="0" tIns="0" rIns="0" bIns="0" rtlCol="0" anchor="ctr"/>
          <a:lstStyle/>
          <a:p>
            <a:pPr algn="ctr" indent="0" marL="0">
              <a:buNone/>
            </a:pPr>
            <a:r>
              <a:rPr lang="en-US" sz="1400" b="1" dirty="0">
                <a:solidFill>
                  <a:srgbClr val="8B3E2D"/>
                </a:solidFill>
                <a:latin typeface="Cambria" pitchFamily="34" charset="0"/>
                <a:ea typeface="Cambria" pitchFamily="34" charset="-122"/>
                <a:cs typeface="Cambria" pitchFamily="34" charset="-120"/>
              </a:rPr>
              <a:t>◎</a:t>
            </a:r>
            <a:endParaRPr lang="en-US" sz="1400" dirty="0"/>
          </a:p>
        </p:txBody>
      </p:sp>
      <p:sp>
        <p:nvSpPr>
          <p:cNvPr id="18" name="Text 16"/>
          <p:cNvSpPr txBox="1"/>
          <p:nvPr/>
        </p:nvSpPr>
        <p:spPr>
          <a:xfrm>
            <a:off x="8750808" y="2377440"/>
            <a:ext cx="2514600" cy="310896"/>
          </a:xfrm>
          <a:prstGeom prst="rect">
            <a:avLst/>
          </a:prstGeom>
          <a:noFill/>
          <a:ln/>
        </p:spPr>
        <p:txBody>
          <a:bodyPr wrap="square" lIns="0" tIns="0" rIns="0" bIns="0" rtlCol="0" anchor="ctr"/>
          <a:lstStyle/>
          <a:p>
            <a:pPr indent="0" marL="0">
              <a:buNone/>
            </a:pPr>
            <a:r>
              <a:rPr lang="en-US" sz="1400" b="1" dirty="0">
                <a:solidFill>
                  <a:srgbClr val="2C2825"/>
                </a:solidFill>
                <a:latin typeface="Calibri" pitchFamily="34" charset="0"/>
                <a:ea typeface="Calibri" pitchFamily="34" charset="-122"/>
                <a:cs typeface="Calibri" pitchFamily="34" charset="-120"/>
              </a:rPr>
              <a:t>Local discovery</a:t>
            </a:r>
            <a:endParaRPr lang="en-US" sz="1400" dirty="0"/>
          </a:p>
        </p:txBody>
      </p:sp>
      <p:sp>
        <p:nvSpPr>
          <p:cNvPr id="19" name="Text 17"/>
          <p:cNvSpPr txBox="1"/>
          <p:nvPr/>
        </p:nvSpPr>
        <p:spPr>
          <a:xfrm>
            <a:off x="8220456" y="2852928"/>
            <a:ext cx="3017520" cy="658368"/>
          </a:xfrm>
          <a:prstGeom prst="rect">
            <a:avLst/>
          </a:prstGeom>
          <a:noFill/>
          <a:ln/>
        </p:spPr>
        <p:txBody>
          <a:bodyPr wrap="square" lIns="0" tIns="0" rIns="0" bIns="0" rtlCol="0" anchor="ctr"/>
          <a:lstStyle/>
          <a:p>
            <a:pPr indent="0" marL="0">
              <a:lnSpc>
                <a:spcPts val="1500"/>
              </a:lnSpc>
              <a:buNone/>
            </a:pPr>
            <a:r>
              <a:rPr lang="en-US" sz="1150" dirty="0">
                <a:solidFill>
                  <a:srgbClr val="5A534C"/>
                </a:solidFill>
                <a:latin typeface="Calibri" pitchFamily="34" charset="0"/>
                <a:ea typeface="Calibri" pitchFamily="34" charset="-122"/>
                <a:cs typeface="Calibri" pitchFamily="34" charset="-120"/>
              </a:rPr>
              <a:t>Zip-centroid search against each vendor’s service radius; virtual providers surface everywhere.</a:t>
            </a:r>
            <a:endParaRPr lang="en-US" sz="1150" dirty="0"/>
          </a:p>
        </p:txBody>
      </p:sp>
      <p:sp>
        <p:nvSpPr>
          <p:cNvPr id="20" name="Shape 18"/>
          <p:cNvSpPr/>
          <p:nvPr/>
        </p:nvSpPr>
        <p:spPr>
          <a:xfrm>
            <a:off x="685800" y="3840480"/>
            <a:ext cx="3429000" cy="1481328"/>
          </a:xfrm>
          <a:prstGeom prst="roundRect">
            <a:avLst>
              <a:gd name="adj" fmla="val 6790"/>
            </a:avLst>
          </a:prstGeom>
          <a:solidFill>
            <a:srgbClr val="FFFFFF"/>
          </a:solidFill>
          <a:ln w="9525">
            <a:solidFill>
              <a:srgbClr val="E7E3DE"/>
            </a:solidFill>
            <a:prstDash val="solid"/>
          </a:ln>
          <a:effectLst>
            <a:outerShdw sx="100000" sy="100000" kx="0" ky="0" algn="bl" rotWithShape="0" blurRad="101600" dist="25400" dir="5400000">
              <a:srgbClr val="2C2825">
                <a:alpha val="6000"/>
              </a:srgbClr>
            </a:outerShdw>
          </a:effectLst>
        </p:spPr>
      </p:sp>
      <p:sp>
        <p:nvSpPr>
          <p:cNvPr id="21" name="Shape 19"/>
          <p:cNvSpPr/>
          <p:nvPr/>
        </p:nvSpPr>
        <p:spPr>
          <a:xfrm>
            <a:off x="905256" y="4041648"/>
            <a:ext cx="420624" cy="420624"/>
          </a:xfrm>
          <a:prstGeom prst="ellipse">
            <a:avLst/>
          </a:prstGeom>
          <a:solidFill>
            <a:srgbClr val="EAF0EB"/>
          </a:solidFill>
          <a:ln w="12700">
            <a:solidFill>
              <a:srgbClr val="A8C4AC"/>
            </a:solidFill>
            <a:prstDash val="solid"/>
          </a:ln>
        </p:spPr>
      </p:sp>
      <p:sp>
        <p:nvSpPr>
          <p:cNvPr id="22" name="Text 20"/>
          <p:cNvSpPr txBox="1"/>
          <p:nvPr/>
        </p:nvSpPr>
        <p:spPr>
          <a:xfrm>
            <a:off x="905256" y="4041648"/>
            <a:ext cx="420624" cy="420624"/>
          </a:xfrm>
          <a:prstGeom prst="rect">
            <a:avLst/>
          </a:prstGeom>
          <a:noFill/>
          <a:ln/>
        </p:spPr>
        <p:txBody>
          <a:bodyPr wrap="square" lIns="0" tIns="0" rIns="0" bIns="0" rtlCol="0" anchor="ctr"/>
          <a:lstStyle/>
          <a:p>
            <a:pPr algn="ctr" indent="0" marL="0">
              <a:buNone/>
            </a:pPr>
            <a:r>
              <a:rPr lang="en-US" sz="1400" b="1" dirty="0">
                <a:solidFill>
                  <a:srgbClr val="4D7255"/>
                </a:solidFill>
                <a:latin typeface="Cambria" pitchFamily="34" charset="0"/>
                <a:ea typeface="Cambria" pitchFamily="34" charset="-122"/>
                <a:cs typeface="Cambria" pitchFamily="34" charset="-120"/>
              </a:rPr>
              <a:t>★</a:t>
            </a:r>
            <a:endParaRPr lang="en-US" sz="1400" dirty="0"/>
          </a:p>
        </p:txBody>
      </p:sp>
      <p:sp>
        <p:nvSpPr>
          <p:cNvPr id="23" name="Text 21"/>
          <p:cNvSpPr txBox="1"/>
          <p:nvPr/>
        </p:nvSpPr>
        <p:spPr>
          <a:xfrm>
            <a:off x="1435608" y="4078224"/>
            <a:ext cx="2514600" cy="310896"/>
          </a:xfrm>
          <a:prstGeom prst="rect">
            <a:avLst/>
          </a:prstGeom>
          <a:noFill/>
          <a:ln/>
        </p:spPr>
        <p:txBody>
          <a:bodyPr wrap="square" lIns="0" tIns="0" rIns="0" bIns="0" rtlCol="0" anchor="ctr"/>
          <a:lstStyle/>
          <a:p>
            <a:pPr indent="0" marL="0">
              <a:buNone/>
            </a:pPr>
            <a:r>
              <a:rPr lang="en-US" sz="1400" b="1" dirty="0">
                <a:solidFill>
                  <a:srgbClr val="2C2825"/>
                </a:solidFill>
                <a:latin typeface="Calibri" pitchFamily="34" charset="0"/>
                <a:ea typeface="Calibri" pitchFamily="34" charset="-122"/>
                <a:cs typeface="Calibri" pitchFamily="34" charset="-120"/>
              </a:rPr>
              <a:t>Trust layer</a:t>
            </a:r>
            <a:endParaRPr lang="en-US" sz="1400" dirty="0"/>
          </a:p>
        </p:txBody>
      </p:sp>
      <p:sp>
        <p:nvSpPr>
          <p:cNvPr id="24" name="Text 22"/>
          <p:cNvSpPr txBox="1"/>
          <p:nvPr/>
        </p:nvSpPr>
        <p:spPr>
          <a:xfrm>
            <a:off x="905256" y="4553712"/>
            <a:ext cx="3017520" cy="658368"/>
          </a:xfrm>
          <a:prstGeom prst="rect">
            <a:avLst/>
          </a:prstGeom>
          <a:noFill/>
          <a:ln/>
        </p:spPr>
        <p:txBody>
          <a:bodyPr wrap="square" lIns="0" tIns="0" rIns="0" bIns="0" rtlCol="0" anchor="ctr"/>
          <a:lstStyle/>
          <a:p>
            <a:pPr indent="0" marL="0">
              <a:lnSpc>
                <a:spcPts val="1500"/>
              </a:lnSpc>
              <a:buNone/>
            </a:pPr>
            <a:r>
              <a:rPr lang="en-US" sz="1150" dirty="0">
                <a:solidFill>
                  <a:srgbClr val="5A534C"/>
                </a:solidFill>
                <a:latin typeface="Calibri" pitchFamily="34" charset="0"/>
                <a:ea typeface="Calibri" pitchFamily="34" charset="-122"/>
                <a:cs typeface="Calibri" pitchFamily="34" charset="-120"/>
              </a:rPr>
              <a:t>Verified reviews, saved items, and a curated approval queue behind every listing.</a:t>
            </a:r>
            <a:endParaRPr lang="en-US" sz="1150" dirty="0"/>
          </a:p>
        </p:txBody>
      </p:sp>
      <p:sp>
        <p:nvSpPr>
          <p:cNvPr id="25" name="Shape 23"/>
          <p:cNvSpPr/>
          <p:nvPr/>
        </p:nvSpPr>
        <p:spPr>
          <a:xfrm>
            <a:off x="4343400" y="3840480"/>
            <a:ext cx="3429000" cy="1481328"/>
          </a:xfrm>
          <a:prstGeom prst="roundRect">
            <a:avLst>
              <a:gd name="adj" fmla="val 6790"/>
            </a:avLst>
          </a:prstGeom>
          <a:solidFill>
            <a:srgbClr val="FFFFFF"/>
          </a:solidFill>
          <a:ln w="9525">
            <a:solidFill>
              <a:srgbClr val="E7E3DE"/>
            </a:solidFill>
            <a:prstDash val="solid"/>
          </a:ln>
          <a:effectLst>
            <a:outerShdw sx="100000" sy="100000" kx="0" ky="0" algn="bl" rotWithShape="0" blurRad="101600" dist="25400" dir="5400000">
              <a:srgbClr val="2C2825">
                <a:alpha val="6000"/>
              </a:srgbClr>
            </a:outerShdw>
          </a:effectLst>
        </p:spPr>
      </p:sp>
      <p:sp>
        <p:nvSpPr>
          <p:cNvPr id="26" name="Shape 24"/>
          <p:cNvSpPr/>
          <p:nvPr/>
        </p:nvSpPr>
        <p:spPr>
          <a:xfrm>
            <a:off x="4562856" y="4041648"/>
            <a:ext cx="420624" cy="420624"/>
          </a:xfrm>
          <a:prstGeom prst="ellipse">
            <a:avLst/>
          </a:prstGeom>
          <a:solidFill>
            <a:srgbClr val="F5EAE6"/>
          </a:solidFill>
          <a:ln w="12700">
            <a:solidFill>
              <a:srgbClr val="D4876F"/>
            </a:solidFill>
            <a:prstDash val="solid"/>
          </a:ln>
        </p:spPr>
      </p:sp>
      <p:sp>
        <p:nvSpPr>
          <p:cNvPr id="27" name="Text 25"/>
          <p:cNvSpPr txBox="1"/>
          <p:nvPr/>
        </p:nvSpPr>
        <p:spPr>
          <a:xfrm>
            <a:off x="4562856" y="4041648"/>
            <a:ext cx="420624" cy="420624"/>
          </a:xfrm>
          <a:prstGeom prst="rect">
            <a:avLst/>
          </a:prstGeom>
          <a:noFill/>
          <a:ln/>
        </p:spPr>
        <p:txBody>
          <a:bodyPr wrap="square" lIns="0" tIns="0" rIns="0" bIns="0" rtlCol="0" anchor="ctr"/>
          <a:lstStyle/>
          <a:p>
            <a:pPr algn="ctr" indent="0" marL="0">
              <a:buNone/>
            </a:pPr>
            <a:r>
              <a:rPr lang="en-US" sz="1400" b="1" dirty="0">
                <a:solidFill>
                  <a:srgbClr val="8B3E2D"/>
                </a:solidFill>
                <a:latin typeface="Cambria" pitchFamily="34" charset="0"/>
                <a:ea typeface="Cambria" pitchFamily="34" charset="-122"/>
                <a:cs typeface="Cambria" pitchFamily="34" charset="-120"/>
              </a:rPr>
              <a:t>♥</a:t>
            </a:r>
            <a:endParaRPr lang="en-US" sz="1400" dirty="0"/>
          </a:p>
        </p:txBody>
      </p:sp>
      <p:sp>
        <p:nvSpPr>
          <p:cNvPr id="28" name="Text 26"/>
          <p:cNvSpPr txBox="1"/>
          <p:nvPr/>
        </p:nvSpPr>
        <p:spPr>
          <a:xfrm>
            <a:off x="5093208" y="4078224"/>
            <a:ext cx="2514600" cy="310896"/>
          </a:xfrm>
          <a:prstGeom prst="rect">
            <a:avLst/>
          </a:prstGeom>
          <a:noFill/>
          <a:ln/>
        </p:spPr>
        <p:txBody>
          <a:bodyPr wrap="square" lIns="0" tIns="0" rIns="0" bIns="0" rtlCol="0" anchor="ctr"/>
          <a:lstStyle/>
          <a:p>
            <a:pPr indent="0" marL="0">
              <a:buNone/>
            </a:pPr>
            <a:r>
              <a:rPr lang="en-US" sz="1400" b="1" dirty="0">
                <a:solidFill>
                  <a:srgbClr val="2C2825"/>
                </a:solidFill>
                <a:latin typeface="Calibri" pitchFamily="34" charset="0"/>
                <a:ea typeface="Calibri" pitchFamily="34" charset="-122"/>
                <a:cs typeface="Calibri" pitchFamily="34" charset="-120"/>
              </a:rPr>
              <a:t>Gift cards</a:t>
            </a:r>
            <a:endParaRPr lang="en-US" sz="1400" dirty="0"/>
          </a:p>
        </p:txBody>
      </p:sp>
      <p:sp>
        <p:nvSpPr>
          <p:cNvPr id="29" name="Text 27"/>
          <p:cNvSpPr txBox="1"/>
          <p:nvPr/>
        </p:nvSpPr>
        <p:spPr>
          <a:xfrm>
            <a:off x="4562856" y="4553712"/>
            <a:ext cx="3017520" cy="658368"/>
          </a:xfrm>
          <a:prstGeom prst="rect">
            <a:avLst/>
          </a:prstGeom>
          <a:noFill/>
          <a:ln/>
        </p:spPr>
        <p:txBody>
          <a:bodyPr wrap="square" lIns="0" tIns="0" rIns="0" bIns="0" rtlCol="0" anchor="ctr"/>
          <a:lstStyle/>
          <a:p>
            <a:pPr indent="0" marL="0">
              <a:lnSpc>
                <a:spcPts val="1500"/>
              </a:lnSpc>
              <a:buNone/>
            </a:pPr>
            <a:r>
              <a:rPr lang="en-US" sz="1150" dirty="0">
                <a:solidFill>
                  <a:srgbClr val="5A534C"/>
                </a:solidFill>
                <a:latin typeface="Calibri" pitchFamily="34" charset="0"/>
                <a:ea typeface="Calibri" pitchFamily="34" charset="-122"/>
                <a:cs typeface="Calibri" pitchFamily="34" charset="-120"/>
              </a:rPr>
              <a:t>Balances and shareable group-gift pools — contribute without creating an account.</a:t>
            </a:r>
            <a:endParaRPr lang="en-US" sz="1150" dirty="0"/>
          </a:p>
        </p:txBody>
      </p:sp>
      <p:sp>
        <p:nvSpPr>
          <p:cNvPr id="30" name="Shape 28"/>
          <p:cNvSpPr/>
          <p:nvPr/>
        </p:nvSpPr>
        <p:spPr>
          <a:xfrm>
            <a:off x="8001000" y="3840480"/>
            <a:ext cx="3429000" cy="1481328"/>
          </a:xfrm>
          <a:prstGeom prst="roundRect">
            <a:avLst>
              <a:gd name="adj" fmla="val 6790"/>
            </a:avLst>
          </a:prstGeom>
          <a:solidFill>
            <a:srgbClr val="FFFFFF"/>
          </a:solidFill>
          <a:ln w="9525">
            <a:solidFill>
              <a:srgbClr val="E7E3DE"/>
            </a:solidFill>
            <a:prstDash val="solid"/>
          </a:ln>
          <a:effectLst>
            <a:outerShdw sx="100000" sy="100000" kx="0" ky="0" algn="bl" rotWithShape="0" blurRad="101600" dist="25400" dir="5400000">
              <a:srgbClr val="2C2825">
                <a:alpha val="6000"/>
              </a:srgbClr>
            </a:outerShdw>
          </a:effectLst>
        </p:spPr>
      </p:sp>
      <p:sp>
        <p:nvSpPr>
          <p:cNvPr id="31" name="Shape 29"/>
          <p:cNvSpPr/>
          <p:nvPr/>
        </p:nvSpPr>
        <p:spPr>
          <a:xfrm>
            <a:off x="8220456" y="4041648"/>
            <a:ext cx="420624" cy="420624"/>
          </a:xfrm>
          <a:prstGeom prst="ellipse">
            <a:avLst/>
          </a:prstGeom>
          <a:solidFill>
            <a:srgbClr val="EAF0EB"/>
          </a:solidFill>
          <a:ln w="12700">
            <a:solidFill>
              <a:srgbClr val="A8C4AC"/>
            </a:solidFill>
            <a:prstDash val="solid"/>
          </a:ln>
        </p:spPr>
      </p:sp>
      <p:sp>
        <p:nvSpPr>
          <p:cNvPr id="32" name="Text 30"/>
          <p:cNvSpPr txBox="1"/>
          <p:nvPr/>
        </p:nvSpPr>
        <p:spPr>
          <a:xfrm>
            <a:off x="8220456" y="4041648"/>
            <a:ext cx="420624" cy="420624"/>
          </a:xfrm>
          <a:prstGeom prst="rect">
            <a:avLst/>
          </a:prstGeom>
          <a:noFill/>
          <a:ln/>
        </p:spPr>
        <p:txBody>
          <a:bodyPr wrap="square" lIns="0" tIns="0" rIns="0" bIns="0" rtlCol="0" anchor="ctr"/>
          <a:lstStyle/>
          <a:p>
            <a:pPr algn="ctr" indent="0" marL="0">
              <a:buNone/>
            </a:pPr>
            <a:r>
              <a:rPr lang="en-US" sz="1400" b="1" dirty="0">
                <a:solidFill>
                  <a:srgbClr val="4D7255"/>
                </a:solidFill>
                <a:latin typeface="Cambria" pitchFamily="34" charset="0"/>
                <a:ea typeface="Cambria" pitchFamily="34" charset="-122"/>
                <a:cs typeface="Cambria" pitchFamily="34" charset="-120"/>
              </a:rPr>
              <a:t>?</a:t>
            </a:r>
            <a:endParaRPr lang="en-US" sz="1400" dirty="0"/>
          </a:p>
        </p:txBody>
      </p:sp>
      <p:sp>
        <p:nvSpPr>
          <p:cNvPr id="33" name="Text 31"/>
          <p:cNvSpPr txBox="1"/>
          <p:nvPr/>
        </p:nvSpPr>
        <p:spPr>
          <a:xfrm>
            <a:off x="8750808" y="4078224"/>
            <a:ext cx="2514600" cy="310896"/>
          </a:xfrm>
          <a:prstGeom prst="rect">
            <a:avLst/>
          </a:prstGeom>
          <a:noFill/>
          <a:ln/>
        </p:spPr>
        <p:txBody>
          <a:bodyPr wrap="square" lIns="0" tIns="0" rIns="0" bIns="0" rtlCol="0" anchor="ctr"/>
          <a:lstStyle/>
          <a:p>
            <a:pPr indent="0" marL="0">
              <a:buNone/>
            </a:pPr>
            <a:r>
              <a:rPr lang="en-US" sz="1400" b="1" dirty="0">
                <a:solidFill>
                  <a:srgbClr val="2C2825"/>
                </a:solidFill>
                <a:latin typeface="Calibri" pitchFamily="34" charset="0"/>
                <a:ea typeface="Calibri" pitchFamily="34" charset="-122"/>
                <a:cs typeface="Calibri" pitchFamily="34" charset="-120"/>
              </a:rPr>
              <a:t>Guidance &amp; editorial</a:t>
            </a:r>
            <a:endParaRPr lang="en-US" sz="1400" dirty="0"/>
          </a:p>
        </p:txBody>
      </p:sp>
      <p:sp>
        <p:nvSpPr>
          <p:cNvPr id="34" name="Text 32"/>
          <p:cNvSpPr txBox="1"/>
          <p:nvPr/>
        </p:nvSpPr>
        <p:spPr>
          <a:xfrm>
            <a:off x="8220456" y="4553712"/>
            <a:ext cx="3017520" cy="658368"/>
          </a:xfrm>
          <a:prstGeom prst="rect">
            <a:avLst/>
          </a:prstGeom>
          <a:noFill/>
          <a:ln/>
        </p:spPr>
        <p:txBody>
          <a:bodyPr wrap="square" lIns="0" tIns="0" rIns="0" bIns="0" rtlCol="0" anchor="ctr"/>
          <a:lstStyle/>
          <a:p>
            <a:pPr indent="0" marL="0">
              <a:lnSpc>
                <a:spcPts val="1500"/>
              </a:lnSpc>
              <a:buNone/>
            </a:pPr>
            <a:r>
              <a:rPr lang="en-US" sz="1150" dirty="0">
                <a:solidFill>
                  <a:srgbClr val="5A534C"/>
                </a:solidFill>
                <a:latin typeface="Calibri" pitchFamily="34" charset="0"/>
                <a:ea typeface="Calibri" pitchFamily="34" charset="-122"/>
                <a:cs typeface="Calibri" pitchFamily="34" charset="-120"/>
              </a:rPr>
              <a:t>Plain-language answers for the newly bereaved, plus a curated reading list.</a:t>
            </a:r>
            <a:endParaRPr lang="en-US" sz="1150" dirty="0"/>
          </a:p>
        </p:txBody>
      </p:sp>
      <p:sp>
        <p:nvSpPr>
          <p:cNvPr id="35" name="Shape 33"/>
          <p:cNvSpPr/>
          <p:nvPr/>
        </p:nvSpPr>
        <p:spPr>
          <a:xfrm>
            <a:off x="685800" y="5614416"/>
            <a:ext cx="10789920" cy="658368"/>
          </a:xfrm>
          <a:prstGeom prst="roundRect">
            <a:avLst>
              <a:gd name="adj" fmla="val 15278"/>
            </a:avLst>
          </a:prstGeom>
          <a:solidFill>
            <a:srgbClr val="EAF0EB"/>
          </a:solidFill>
          <a:ln w="9525">
            <a:solidFill>
              <a:srgbClr val="D8E3D9"/>
            </a:solidFill>
            <a:prstDash val="solid"/>
          </a:ln>
          <a:effectLst>
            <a:outerShdw sx="100000" sy="100000" kx="0" ky="0" algn="bl" rotWithShape="0" blurRad="101600" dist="25400" dir="5400000">
              <a:srgbClr val="2C2825">
                <a:alpha val="6000"/>
              </a:srgbClr>
            </a:outerShdw>
          </a:effectLst>
        </p:spPr>
      </p:sp>
      <p:sp>
        <p:nvSpPr>
          <p:cNvPr id="36" name="Text 34"/>
          <p:cNvSpPr txBox="1"/>
          <p:nvPr/>
        </p:nvSpPr>
        <p:spPr>
          <a:xfrm>
            <a:off x="914400" y="5614416"/>
            <a:ext cx="10332720" cy="658368"/>
          </a:xfrm>
          <a:prstGeom prst="rect">
            <a:avLst/>
          </a:prstGeom>
          <a:noFill/>
          <a:ln/>
        </p:spPr>
        <p:txBody>
          <a:bodyPr wrap="square" lIns="0" tIns="0" rIns="0" bIns="0" rtlCol="0" anchor="ctr"/>
          <a:lstStyle/>
          <a:p>
            <a:pPr indent="0" marL="0">
              <a:buNone/>
            </a:pPr>
            <a:r>
              <a:rPr lang="en-US" sz="1250" b="1" dirty="0">
                <a:solidFill>
                  <a:srgbClr val="4D7255"/>
                </a:solidFill>
                <a:latin typeface="Calibri" pitchFamily="34" charset="0"/>
                <a:ea typeface="Calibri" pitchFamily="34" charset="-122"/>
                <a:cs typeface="Calibri" pitchFamily="34" charset="-120"/>
              </a:rPr>
              <a:t>Shipping next:  </a:t>
            </a:r>
            <a:pPr indent="0" marL="0">
              <a:buNone/>
            </a:pPr>
            <a:r>
              <a:rPr lang="en-US" sz="1250" dirty="0">
                <a:solidFill>
                  <a:srgbClr val="2C2825"/>
                </a:solidFill>
                <a:latin typeface="Calibri" pitchFamily="34" charset="0"/>
                <a:ea typeface="Calibri" pitchFamily="34" charset="-122"/>
                <a:cs typeface="Calibri" pitchFamily="34" charset="-120"/>
              </a:rPr>
              <a:t>cart and checkout with orders and vendor notifications, then verified-purchase reviews. Gift-card sales open once a balance can be spent.</a:t>
            </a:r>
            <a:endParaRPr lang="en-US" sz="12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AF9F7"/>
        </a:solidFill>
      </p:bgPr>
    </p:bg>
    <p:spTree>
      <p:nvGrpSpPr>
        <p:cNvPr id="1" name=""/>
        <p:cNvGrpSpPr/>
        <p:nvPr/>
      </p:nvGrpSpPr>
      <p:grpSpPr>
        <a:xfrm>
          <a:off x="0" y="0"/>
          <a:ext cx="0" cy="0"/>
          <a:chOff x="0" y="0"/>
          <a:chExt cx="0" cy="0"/>
        </a:xfrm>
      </p:grpSpPr>
      <p:sp>
        <p:nvSpPr>
          <p:cNvPr id="2" name="Text 0"/>
          <p:cNvSpPr txBox="1"/>
          <p:nvPr/>
        </p:nvSpPr>
        <p:spPr>
          <a:xfrm>
            <a:off x="685800" y="502920"/>
            <a:ext cx="7315200" cy="256032"/>
          </a:xfrm>
          <a:prstGeom prst="rect">
            <a:avLst/>
          </a:prstGeom>
          <a:noFill/>
          <a:ln/>
        </p:spPr>
        <p:txBody>
          <a:bodyPr wrap="square" lIns="0" tIns="0" rIns="0" bIns="0" rtlCol="0" anchor="ctr"/>
          <a:lstStyle/>
          <a:p>
            <a:pPr indent="0" marL="0">
              <a:buNone/>
            </a:pPr>
            <a:r>
              <a:rPr lang="en-US" sz="1100" b="1" spc="220" kern="0" dirty="0">
                <a:solidFill>
                  <a:srgbClr val="4D7255"/>
                </a:solidFill>
                <a:latin typeface="Calibri" pitchFamily="34" charset="0"/>
                <a:ea typeface="Calibri" pitchFamily="34" charset="-122"/>
                <a:cs typeface="Calibri" pitchFamily="34" charset="-120"/>
              </a:rPr>
              <a:t>BUSINESS MODEL</a:t>
            </a:r>
            <a:endParaRPr lang="en-US" sz="1100" dirty="0"/>
          </a:p>
        </p:txBody>
      </p:sp>
      <p:sp>
        <p:nvSpPr>
          <p:cNvPr id="3" name="Text 1"/>
          <p:cNvSpPr txBox="1"/>
          <p:nvPr/>
        </p:nvSpPr>
        <p:spPr>
          <a:xfrm>
            <a:off x="685800" y="841248"/>
            <a:ext cx="10789920" cy="658368"/>
          </a:xfrm>
          <a:prstGeom prst="rect">
            <a:avLst/>
          </a:prstGeom>
          <a:noFill/>
          <a:ln/>
        </p:spPr>
        <p:txBody>
          <a:bodyPr wrap="square" lIns="0" tIns="0" rIns="0" bIns="0" rtlCol="0" anchor="t"/>
          <a:lstStyle/>
          <a:p>
            <a:pPr indent="0" marL="0">
              <a:buNone/>
            </a:pPr>
            <a:r>
              <a:rPr lang="en-US" sz="3600" dirty="0">
                <a:solidFill>
                  <a:srgbClr val="2C2825"/>
                </a:solidFill>
                <a:latin typeface="Cambria" pitchFamily="34" charset="0"/>
                <a:ea typeface="Cambria" pitchFamily="34" charset="-122"/>
                <a:cs typeface="Cambria" pitchFamily="34" charset="-120"/>
              </a:rPr>
              <a:t>Vendors subscribe. Buyers pay nothing extra.</a:t>
            </a:r>
            <a:endParaRPr lang="en-US" sz="3600" dirty="0"/>
          </a:p>
        </p:txBody>
      </p:sp>
      <p:sp>
        <p:nvSpPr>
          <p:cNvPr id="4" name="Text 2"/>
          <p:cNvSpPr txBox="1"/>
          <p:nvPr/>
        </p:nvSpPr>
        <p:spPr>
          <a:xfrm>
            <a:off x="685800" y="1481328"/>
            <a:ext cx="10058400" cy="384048"/>
          </a:xfrm>
          <a:prstGeom prst="rect">
            <a:avLst/>
          </a:prstGeom>
          <a:noFill/>
          <a:ln/>
        </p:spPr>
        <p:txBody>
          <a:bodyPr wrap="square" lIns="0" tIns="0" rIns="0" bIns="0" rtlCol="0" anchor="ctr"/>
          <a:lstStyle/>
          <a:p>
            <a:pPr indent="0" marL="0">
              <a:lnSpc>
                <a:spcPts val="2000"/>
              </a:lnSpc>
              <a:buNone/>
            </a:pPr>
            <a:r>
              <a:rPr lang="en-US" sz="1450" dirty="0">
                <a:solidFill>
                  <a:srgbClr val="5A534C"/>
                </a:solidFill>
                <a:latin typeface="Calibri" pitchFamily="34" charset="0"/>
                <a:ea typeface="Calibri" pitchFamily="34" charset="-122"/>
                <a:cs typeface="Calibri" pitchFamily="34" charset="-120"/>
              </a:rPr>
              <a:t>One flat rate for goods makers and service providers alike — no per-sale transaction fee, so vendors keep 100% of what they earn.</a:t>
            </a:r>
            <a:endParaRPr lang="en-US" sz="1450" dirty="0"/>
          </a:p>
        </p:txBody>
      </p:sp>
      <p:sp>
        <p:nvSpPr>
          <p:cNvPr id="5" name="Shape 3"/>
          <p:cNvSpPr/>
          <p:nvPr/>
        </p:nvSpPr>
        <p:spPr>
          <a:xfrm>
            <a:off x="685800" y="2139696"/>
            <a:ext cx="2834640" cy="2084832"/>
          </a:xfrm>
          <a:prstGeom prst="roundRect">
            <a:avLst>
              <a:gd name="adj" fmla="val 4825"/>
            </a:avLst>
          </a:prstGeom>
          <a:solidFill>
            <a:srgbClr val="FFFFFF"/>
          </a:solidFill>
          <a:ln w="9525">
            <a:solidFill>
              <a:srgbClr val="E7E3DE"/>
            </a:solidFill>
            <a:prstDash val="solid"/>
          </a:ln>
          <a:effectLst>
            <a:outerShdw sx="100000" sy="100000" kx="0" ky="0" algn="bl" rotWithShape="0" blurRad="101600" dist="25400" dir="5400000">
              <a:srgbClr val="2C2825">
                <a:alpha val="6000"/>
              </a:srgbClr>
            </a:outerShdw>
          </a:effectLst>
        </p:spPr>
      </p:sp>
      <p:sp>
        <p:nvSpPr>
          <p:cNvPr id="6" name="Text 4"/>
          <p:cNvSpPr txBox="1"/>
          <p:nvPr/>
        </p:nvSpPr>
        <p:spPr>
          <a:xfrm>
            <a:off x="886968" y="2331720"/>
            <a:ext cx="2432304" cy="256032"/>
          </a:xfrm>
          <a:prstGeom prst="rect">
            <a:avLst/>
          </a:prstGeom>
          <a:noFill/>
          <a:ln/>
        </p:spPr>
        <p:txBody>
          <a:bodyPr wrap="square" lIns="0" tIns="0" rIns="0" bIns="0" rtlCol="0" anchor="ctr"/>
          <a:lstStyle/>
          <a:p>
            <a:pPr indent="0" marL="0">
              <a:buNone/>
            </a:pPr>
            <a:r>
              <a:rPr lang="en-US" sz="1100" b="1" spc="200" kern="0" dirty="0">
                <a:solidFill>
                  <a:srgbClr val="4D7255"/>
                </a:solidFill>
                <a:latin typeface="Calibri" pitchFamily="34" charset="0"/>
                <a:ea typeface="Calibri" pitchFamily="34" charset="-122"/>
                <a:cs typeface="Calibri" pitchFamily="34" charset="-120"/>
              </a:rPr>
              <a:t>STARTER</a:t>
            </a:r>
            <a:endParaRPr lang="en-US" sz="1100" dirty="0"/>
          </a:p>
        </p:txBody>
      </p:sp>
      <p:sp>
        <p:nvSpPr>
          <p:cNvPr id="7" name="Text 5"/>
          <p:cNvSpPr txBox="1"/>
          <p:nvPr/>
        </p:nvSpPr>
        <p:spPr>
          <a:xfrm>
            <a:off x="886968" y="2615184"/>
            <a:ext cx="2432304" cy="658368"/>
          </a:xfrm>
          <a:prstGeom prst="rect">
            <a:avLst/>
          </a:prstGeom>
          <a:noFill/>
          <a:ln/>
        </p:spPr>
        <p:txBody>
          <a:bodyPr wrap="square" lIns="0" tIns="0" rIns="0" bIns="0" rtlCol="0" anchor="ctr"/>
          <a:lstStyle/>
          <a:p>
            <a:pPr indent="0" marL="0">
              <a:buNone/>
            </a:pPr>
            <a:r>
              <a:rPr lang="en-US" sz="4000" dirty="0">
                <a:solidFill>
                  <a:srgbClr val="2C2825"/>
                </a:solidFill>
                <a:latin typeface="Cambria" pitchFamily="34" charset="0"/>
                <a:ea typeface="Cambria" pitchFamily="34" charset="-122"/>
                <a:cs typeface="Cambria" pitchFamily="34" charset="-120"/>
              </a:rPr>
              <a:t>Free</a:t>
            </a:r>
            <a:endParaRPr lang="en-US" sz="4000" dirty="0"/>
          </a:p>
        </p:txBody>
      </p:sp>
      <p:sp>
        <p:nvSpPr>
          <p:cNvPr id="8" name="Text 6"/>
          <p:cNvSpPr txBox="1"/>
          <p:nvPr/>
        </p:nvSpPr>
        <p:spPr>
          <a:xfrm>
            <a:off x="886968" y="3291840"/>
            <a:ext cx="2432304" cy="256032"/>
          </a:xfrm>
          <a:prstGeom prst="rect">
            <a:avLst/>
          </a:prstGeom>
          <a:noFill/>
          <a:ln/>
        </p:spPr>
        <p:txBody>
          <a:bodyPr wrap="square" lIns="0" tIns="0" rIns="0" bIns="0" rtlCol="0" anchor="ctr"/>
          <a:lstStyle/>
          <a:p>
            <a:pPr indent="0" marL="0">
              <a:buNone/>
            </a:pPr>
            <a:r>
              <a:rPr lang="en-US" sz="1250" dirty="0">
                <a:solidFill>
                  <a:srgbClr val="5A534C"/>
                </a:solidFill>
                <a:latin typeface="Calibri" pitchFamily="34" charset="0"/>
                <a:ea typeface="Calibri" pitchFamily="34" charset="-122"/>
                <a:cs typeface="Calibri" pitchFamily="34" charset="-120"/>
              </a:rPr>
              <a:t>for 3 months</a:t>
            </a:r>
            <a:endParaRPr lang="en-US" sz="1250" dirty="0"/>
          </a:p>
        </p:txBody>
      </p:sp>
      <p:sp>
        <p:nvSpPr>
          <p:cNvPr id="9" name="Text 7"/>
          <p:cNvSpPr txBox="1"/>
          <p:nvPr/>
        </p:nvSpPr>
        <p:spPr>
          <a:xfrm>
            <a:off x="886968" y="3639312"/>
            <a:ext cx="2432304" cy="411480"/>
          </a:xfrm>
          <a:prstGeom prst="rect">
            <a:avLst/>
          </a:prstGeom>
          <a:noFill/>
          <a:ln/>
        </p:spPr>
        <p:txBody>
          <a:bodyPr wrap="square" lIns="0" tIns="0" rIns="0" bIns="0" rtlCol="0" anchor="ctr"/>
          <a:lstStyle/>
          <a:p>
            <a:pPr indent="0" marL="0">
              <a:lnSpc>
                <a:spcPts val="1500"/>
              </a:lnSpc>
              <a:buNone/>
            </a:pPr>
            <a:r>
              <a:rPr lang="en-US" sz="1150" dirty="0">
                <a:solidFill>
                  <a:srgbClr val="5A534C"/>
                </a:solidFill>
                <a:latin typeface="Calibri" pitchFamily="34" charset="0"/>
                <a:ea typeface="Calibri" pitchFamily="34" charset="-122"/>
                <a:cs typeface="Calibri" pitchFamily="34" charset="-120"/>
              </a:rPr>
              <a:t>Every feature, no card required.</a:t>
            </a:r>
            <a:endParaRPr lang="en-US" sz="1150" dirty="0"/>
          </a:p>
        </p:txBody>
      </p:sp>
      <p:sp>
        <p:nvSpPr>
          <p:cNvPr id="10" name="Shape 8"/>
          <p:cNvSpPr/>
          <p:nvPr/>
        </p:nvSpPr>
        <p:spPr>
          <a:xfrm>
            <a:off x="3739896" y="2139696"/>
            <a:ext cx="2834640" cy="2084832"/>
          </a:xfrm>
          <a:prstGeom prst="roundRect">
            <a:avLst>
              <a:gd name="adj" fmla="val 4825"/>
            </a:avLst>
          </a:prstGeom>
          <a:solidFill>
            <a:srgbClr val="F5EAE6"/>
          </a:solidFill>
          <a:ln w="9525">
            <a:solidFill>
              <a:srgbClr val="D4876F"/>
            </a:solidFill>
            <a:prstDash val="solid"/>
          </a:ln>
          <a:effectLst>
            <a:outerShdw sx="100000" sy="100000" kx="0" ky="0" algn="bl" rotWithShape="0" blurRad="101600" dist="25400" dir="5400000">
              <a:srgbClr val="2C2825">
                <a:alpha val="6000"/>
              </a:srgbClr>
            </a:outerShdw>
          </a:effectLst>
        </p:spPr>
      </p:sp>
      <p:sp>
        <p:nvSpPr>
          <p:cNvPr id="11" name="Text 9"/>
          <p:cNvSpPr txBox="1"/>
          <p:nvPr/>
        </p:nvSpPr>
        <p:spPr>
          <a:xfrm>
            <a:off x="3941064" y="2331720"/>
            <a:ext cx="2432304" cy="256032"/>
          </a:xfrm>
          <a:prstGeom prst="rect">
            <a:avLst/>
          </a:prstGeom>
          <a:noFill/>
          <a:ln/>
        </p:spPr>
        <p:txBody>
          <a:bodyPr wrap="square" lIns="0" tIns="0" rIns="0" bIns="0" rtlCol="0" anchor="ctr"/>
          <a:lstStyle/>
          <a:p>
            <a:pPr indent="0" marL="0">
              <a:buNone/>
            </a:pPr>
            <a:r>
              <a:rPr lang="en-US" sz="1100" b="1" spc="200" kern="0" dirty="0">
                <a:solidFill>
                  <a:srgbClr val="8B3E2D"/>
                </a:solidFill>
                <a:latin typeface="Calibri" pitchFamily="34" charset="0"/>
                <a:ea typeface="Calibri" pitchFamily="34" charset="-122"/>
                <a:cs typeface="Calibri" pitchFamily="34" charset="-120"/>
              </a:rPr>
              <a:t>MONTHLY</a:t>
            </a:r>
            <a:endParaRPr lang="en-US" sz="1100" dirty="0"/>
          </a:p>
        </p:txBody>
      </p:sp>
      <p:sp>
        <p:nvSpPr>
          <p:cNvPr id="12" name="Text 10"/>
          <p:cNvSpPr txBox="1"/>
          <p:nvPr/>
        </p:nvSpPr>
        <p:spPr>
          <a:xfrm>
            <a:off x="3941064" y="2615184"/>
            <a:ext cx="2432304" cy="658368"/>
          </a:xfrm>
          <a:prstGeom prst="rect">
            <a:avLst/>
          </a:prstGeom>
          <a:noFill/>
          <a:ln/>
        </p:spPr>
        <p:txBody>
          <a:bodyPr wrap="square" lIns="0" tIns="0" rIns="0" bIns="0" rtlCol="0" anchor="ctr"/>
          <a:lstStyle/>
          <a:p>
            <a:pPr indent="0" marL="0">
              <a:buNone/>
            </a:pPr>
            <a:r>
              <a:rPr lang="en-US" sz="4000" dirty="0">
                <a:solidFill>
                  <a:srgbClr val="2C2825"/>
                </a:solidFill>
                <a:latin typeface="Cambria" pitchFamily="34" charset="0"/>
                <a:ea typeface="Cambria" pitchFamily="34" charset="-122"/>
                <a:cs typeface="Cambria" pitchFamily="34" charset="-120"/>
              </a:rPr>
              <a:t>$29</a:t>
            </a:r>
            <a:endParaRPr lang="en-US" sz="4000" dirty="0"/>
          </a:p>
        </p:txBody>
      </p:sp>
      <p:sp>
        <p:nvSpPr>
          <p:cNvPr id="13" name="Text 11"/>
          <p:cNvSpPr txBox="1"/>
          <p:nvPr/>
        </p:nvSpPr>
        <p:spPr>
          <a:xfrm>
            <a:off x="3941064" y="3291840"/>
            <a:ext cx="2432304" cy="256032"/>
          </a:xfrm>
          <a:prstGeom prst="rect">
            <a:avLst/>
          </a:prstGeom>
          <a:noFill/>
          <a:ln/>
        </p:spPr>
        <p:txBody>
          <a:bodyPr wrap="square" lIns="0" tIns="0" rIns="0" bIns="0" rtlCol="0" anchor="ctr"/>
          <a:lstStyle/>
          <a:p>
            <a:pPr indent="0" marL="0">
              <a:buNone/>
            </a:pPr>
            <a:r>
              <a:rPr lang="en-US" sz="1250" dirty="0">
                <a:solidFill>
                  <a:srgbClr val="5A534C"/>
                </a:solidFill>
                <a:latin typeface="Calibri" pitchFamily="34" charset="0"/>
                <a:ea typeface="Calibri" pitchFamily="34" charset="-122"/>
                <a:cs typeface="Calibri" pitchFamily="34" charset="-120"/>
              </a:rPr>
              <a:t>per month</a:t>
            </a:r>
            <a:endParaRPr lang="en-US" sz="1250" dirty="0"/>
          </a:p>
        </p:txBody>
      </p:sp>
      <p:sp>
        <p:nvSpPr>
          <p:cNvPr id="14" name="Text 12"/>
          <p:cNvSpPr txBox="1"/>
          <p:nvPr/>
        </p:nvSpPr>
        <p:spPr>
          <a:xfrm>
            <a:off x="3941064" y="3639312"/>
            <a:ext cx="2432304" cy="411480"/>
          </a:xfrm>
          <a:prstGeom prst="rect">
            <a:avLst/>
          </a:prstGeom>
          <a:noFill/>
          <a:ln/>
        </p:spPr>
        <p:txBody>
          <a:bodyPr wrap="square" lIns="0" tIns="0" rIns="0" bIns="0" rtlCol="0" anchor="ctr"/>
          <a:lstStyle/>
          <a:p>
            <a:pPr indent="0" marL="0">
              <a:lnSpc>
                <a:spcPts val="1500"/>
              </a:lnSpc>
              <a:buNone/>
            </a:pPr>
            <a:r>
              <a:rPr lang="en-US" sz="1150" dirty="0">
                <a:solidFill>
                  <a:srgbClr val="5A534C"/>
                </a:solidFill>
                <a:latin typeface="Calibri" pitchFamily="34" charset="0"/>
                <a:ea typeface="Calibri" pitchFamily="34" charset="-122"/>
                <a:cs typeface="Calibri" pitchFamily="34" charset="-120"/>
              </a:rPr>
              <a:t>Cancel any time.</a:t>
            </a:r>
            <a:endParaRPr lang="en-US" sz="1150" dirty="0"/>
          </a:p>
        </p:txBody>
      </p:sp>
      <p:sp>
        <p:nvSpPr>
          <p:cNvPr id="15" name="Shape 13"/>
          <p:cNvSpPr/>
          <p:nvPr/>
        </p:nvSpPr>
        <p:spPr>
          <a:xfrm>
            <a:off x="6793992" y="2139696"/>
            <a:ext cx="2834640" cy="2084832"/>
          </a:xfrm>
          <a:prstGeom prst="roundRect">
            <a:avLst>
              <a:gd name="adj" fmla="val 4825"/>
            </a:avLst>
          </a:prstGeom>
          <a:solidFill>
            <a:srgbClr val="FFFFFF"/>
          </a:solidFill>
          <a:ln w="9525">
            <a:solidFill>
              <a:srgbClr val="E7E3DE"/>
            </a:solidFill>
            <a:prstDash val="solid"/>
          </a:ln>
          <a:effectLst>
            <a:outerShdw sx="100000" sy="100000" kx="0" ky="0" algn="bl" rotWithShape="0" blurRad="101600" dist="25400" dir="5400000">
              <a:srgbClr val="2C2825">
                <a:alpha val="6000"/>
              </a:srgbClr>
            </a:outerShdw>
          </a:effectLst>
        </p:spPr>
      </p:sp>
      <p:sp>
        <p:nvSpPr>
          <p:cNvPr id="16" name="Text 14"/>
          <p:cNvSpPr txBox="1"/>
          <p:nvPr/>
        </p:nvSpPr>
        <p:spPr>
          <a:xfrm>
            <a:off x="6995160" y="2331720"/>
            <a:ext cx="2432304" cy="256032"/>
          </a:xfrm>
          <a:prstGeom prst="rect">
            <a:avLst/>
          </a:prstGeom>
          <a:noFill/>
          <a:ln/>
        </p:spPr>
        <p:txBody>
          <a:bodyPr wrap="square" lIns="0" tIns="0" rIns="0" bIns="0" rtlCol="0" anchor="ctr"/>
          <a:lstStyle/>
          <a:p>
            <a:pPr indent="0" marL="0">
              <a:buNone/>
            </a:pPr>
            <a:r>
              <a:rPr lang="en-US" sz="1100" b="1" spc="200" kern="0" dirty="0">
                <a:solidFill>
                  <a:srgbClr val="8B3E2D"/>
                </a:solidFill>
                <a:latin typeface="Calibri" pitchFamily="34" charset="0"/>
                <a:ea typeface="Calibri" pitchFamily="34" charset="-122"/>
                <a:cs typeface="Calibri" pitchFamily="34" charset="-120"/>
              </a:rPr>
              <a:t>ANNUAL</a:t>
            </a:r>
            <a:endParaRPr lang="en-US" sz="1100" dirty="0"/>
          </a:p>
        </p:txBody>
      </p:sp>
      <p:sp>
        <p:nvSpPr>
          <p:cNvPr id="17" name="Text 15"/>
          <p:cNvSpPr txBox="1"/>
          <p:nvPr/>
        </p:nvSpPr>
        <p:spPr>
          <a:xfrm>
            <a:off x="6995160" y="2615184"/>
            <a:ext cx="2432304" cy="658368"/>
          </a:xfrm>
          <a:prstGeom prst="rect">
            <a:avLst/>
          </a:prstGeom>
          <a:noFill/>
          <a:ln/>
        </p:spPr>
        <p:txBody>
          <a:bodyPr wrap="square" lIns="0" tIns="0" rIns="0" bIns="0" rtlCol="0" anchor="ctr"/>
          <a:lstStyle/>
          <a:p>
            <a:pPr indent="0" marL="0">
              <a:buNone/>
            </a:pPr>
            <a:r>
              <a:rPr lang="en-US" sz="4000" dirty="0">
                <a:solidFill>
                  <a:srgbClr val="2C2825"/>
                </a:solidFill>
                <a:latin typeface="Cambria" pitchFamily="34" charset="0"/>
                <a:ea typeface="Cambria" pitchFamily="34" charset="-122"/>
                <a:cs typeface="Cambria" pitchFamily="34" charset="-120"/>
              </a:rPr>
              <a:t>$320</a:t>
            </a:r>
            <a:endParaRPr lang="en-US" sz="4000" dirty="0"/>
          </a:p>
        </p:txBody>
      </p:sp>
      <p:sp>
        <p:nvSpPr>
          <p:cNvPr id="18" name="Text 16"/>
          <p:cNvSpPr txBox="1"/>
          <p:nvPr/>
        </p:nvSpPr>
        <p:spPr>
          <a:xfrm>
            <a:off x="6995160" y="3291840"/>
            <a:ext cx="2432304" cy="256032"/>
          </a:xfrm>
          <a:prstGeom prst="rect">
            <a:avLst/>
          </a:prstGeom>
          <a:noFill/>
          <a:ln/>
        </p:spPr>
        <p:txBody>
          <a:bodyPr wrap="square" lIns="0" tIns="0" rIns="0" bIns="0" rtlCol="0" anchor="ctr"/>
          <a:lstStyle/>
          <a:p>
            <a:pPr indent="0" marL="0">
              <a:buNone/>
            </a:pPr>
            <a:r>
              <a:rPr lang="en-US" sz="1250" dirty="0">
                <a:solidFill>
                  <a:srgbClr val="5A534C"/>
                </a:solidFill>
                <a:latin typeface="Calibri" pitchFamily="34" charset="0"/>
                <a:ea typeface="Calibri" pitchFamily="34" charset="-122"/>
                <a:cs typeface="Calibri" pitchFamily="34" charset="-120"/>
              </a:rPr>
              <a:t>per year</a:t>
            </a:r>
            <a:endParaRPr lang="en-US" sz="1250" dirty="0"/>
          </a:p>
        </p:txBody>
      </p:sp>
      <p:sp>
        <p:nvSpPr>
          <p:cNvPr id="19" name="Text 17"/>
          <p:cNvSpPr txBox="1"/>
          <p:nvPr/>
        </p:nvSpPr>
        <p:spPr>
          <a:xfrm>
            <a:off x="6995160" y="3639312"/>
            <a:ext cx="2432304" cy="411480"/>
          </a:xfrm>
          <a:prstGeom prst="rect">
            <a:avLst/>
          </a:prstGeom>
          <a:noFill/>
          <a:ln/>
        </p:spPr>
        <p:txBody>
          <a:bodyPr wrap="square" lIns="0" tIns="0" rIns="0" bIns="0" rtlCol="0" anchor="ctr"/>
          <a:lstStyle/>
          <a:p>
            <a:pPr indent="0" marL="0">
              <a:lnSpc>
                <a:spcPts val="1500"/>
              </a:lnSpc>
              <a:buNone/>
            </a:pPr>
            <a:r>
              <a:rPr lang="en-US" sz="1150" dirty="0">
                <a:solidFill>
                  <a:srgbClr val="5A534C"/>
                </a:solidFill>
                <a:latin typeface="Calibri" pitchFamily="34" charset="0"/>
                <a:ea typeface="Calibri" pitchFamily="34" charset="-122"/>
                <a:cs typeface="Calibri" pitchFamily="34" charset="-120"/>
              </a:rPr>
              <a:t>Save 8%.</a:t>
            </a:r>
            <a:endParaRPr lang="en-US" sz="1150" dirty="0"/>
          </a:p>
        </p:txBody>
      </p:sp>
      <p:sp>
        <p:nvSpPr>
          <p:cNvPr id="20" name="Shape 18"/>
          <p:cNvSpPr/>
          <p:nvPr/>
        </p:nvSpPr>
        <p:spPr>
          <a:xfrm>
            <a:off x="9848088" y="2139696"/>
            <a:ext cx="1627632" cy="2084832"/>
          </a:xfrm>
          <a:prstGeom prst="roundRect">
            <a:avLst>
              <a:gd name="adj" fmla="val 6180"/>
            </a:avLst>
          </a:prstGeom>
          <a:solidFill>
            <a:srgbClr val="2C2825"/>
          </a:solidFill>
          <a:ln w="9525">
            <a:solidFill>
              <a:srgbClr val="2C2825"/>
            </a:solidFill>
            <a:prstDash val="solid"/>
          </a:ln>
          <a:effectLst>
            <a:outerShdw sx="100000" sy="100000" kx="0" ky="0" algn="bl" rotWithShape="0" blurRad="101600" dist="25400" dir="5400000">
              <a:srgbClr val="2C2825">
                <a:alpha val="6000"/>
              </a:srgbClr>
            </a:outerShdw>
          </a:effectLst>
        </p:spPr>
      </p:sp>
      <p:sp>
        <p:nvSpPr>
          <p:cNvPr id="21" name="Text 19"/>
          <p:cNvSpPr txBox="1"/>
          <p:nvPr/>
        </p:nvSpPr>
        <p:spPr>
          <a:xfrm>
            <a:off x="9893808" y="2606040"/>
            <a:ext cx="1536192" cy="640080"/>
          </a:xfrm>
          <a:prstGeom prst="rect">
            <a:avLst/>
          </a:prstGeom>
          <a:noFill/>
          <a:ln/>
        </p:spPr>
        <p:txBody>
          <a:bodyPr wrap="square" lIns="0" tIns="0" rIns="0" bIns="0" rtlCol="0" anchor="ctr"/>
          <a:lstStyle/>
          <a:p>
            <a:pPr algn="ctr" indent="0" marL="0">
              <a:buNone/>
            </a:pPr>
            <a:r>
              <a:rPr lang="en-US" sz="4000" b="1" dirty="0">
                <a:solidFill>
                  <a:srgbClr val="D4876F"/>
                </a:solidFill>
                <a:latin typeface="Cambria" pitchFamily="34" charset="0"/>
                <a:ea typeface="Cambria" pitchFamily="34" charset="-122"/>
                <a:cs typeface="Cambria" pitchFamily="34" charset="-120"/>
              </a:rPr>
              <a:t>0%</a:t>
            </a:r>
            <a:endParaRPr lang="en-US" sz="4000" dirty="0"/>
          </a:p>
        </p:txBody>
      </p:sp>
      <p:sp>
        <p:nvSpPr>
          <p:cNvPr id="22" name="Text 20"/>
          <p:cNvSpPr txBox="1"/>
          <p:nvPr/>
        </p:nvSpPr>
        <p:spPr>
          <a:xfrm>
            <a:off x="9893808" y="3291840"/>
            <a:ext cx="1536192" cy="640080"/>
          </a:xfrm>
          <a:prstGeom prst="rect">
            <a:avLst/>
          </a:prstGeom>
          <a:noFill/>
          <a:ln/>
        </p:spPr>
        <p:txBody>
          <a:bodyPr wrap="square" lIns="0" tIns="0" rIns="0" bIns="0" rtlCol="0" anchor="ctr"/>
          <a:lstStyle/>
          <a:p>
            <a:pPr algn="ctr" indent="0" marL="0">
              <a:lnSpc>
                <a:spcPts val="1600"/>
              </a:lnSpc>
              <a:buNone/>
            </a:pPr>
            <a:r>
              <a:rPr lang="en-US" sz="1200" dirty="0">
                <a:solidFill>
                  <a:srgbClr val="EFEBE5"/>
                </a:solidFill>
                <a:latin typeface="Calibri" pitchFamily="34" charset="0"/>
                <a:ea typeface="Calibri" pitchFamily="34" charset="-122"/>
                <a:cs typeface="Calibri" pitchFamily="34" charset="-120"/>
              </a:rPr>
              <a:t>take rate on</a:t>
            </a:r>
            <a:endParaRPr lang="en-US" sz="1200" dirty="0"/>
          </a:p>
          <a:p>
            <a:pPr algn="ctr" indent="0" marL="0">
              <a:lnSpc>
                <a:spcPts val="1600"/>
              </a:lnSpc>
              <a:buNone/>
            </a:pPr>
            <a:r>
              <a:rPr lang="en-US" sz="1200" dirty="0">
                <a:solidFill>
                  <a:srgbClr val="EFEBE5"/>
                </a:solidFill>
                <a:latin typeface="Calibri" pitchFamily="34" charset="0"/>
                <a:ea typeface="Calibri" pitchFamily="34" charset="-122"/>
                <a:cs typeface="Calibri" pitchFamily="34" charset="-120"/>
              </a:rPr>
              <a:t>every sale</a:t>
            </a:r>
            <a:endParaRPr lang="en-US" sz="1200" dirty="0"/>
          </a:p>
        </p:txBody>
      </p:sp>
      <p:sp>
        <p:nvSpPr>
          <p:cNvPr id="23" name="Shape 21"/>
          <p:cNvSpPr/>
          <p:nvPr/>
        </p:nvSpPr>
        <p:spPr>
          <a:xfrm>
            <a:off x="685800" y="4480560"/>
            <a:ext cx="3429000" cy="1170432"/>
          </a:xfrm>
          <a:prstGeom prst="roundRect">
            <a:avLst>
              <a:gd name="adj" fmla="val 8594"/>
            </a:avLst>
          </a:prstGeom>
          <a:solidFill>
            <a:srgbClr val="FFFFFF"/>
          </a:solidFill>
          <a:ln w="9525">
            <a:solidFill>
              <a:srgbClr val="E7E3DE"/>
            </a:solidFill>
            <a:prstDash val="solid"/>
          </a:ln>
          <a:effectLst>
            <a:outerShdw sx="100000" sy="100000" kx="0" ky="0" algn="bl" rotWithShape="0" blurRad="101600" dist="25400" dir="5400000">
              <a:srgbClr val="2C2825">
                <a:alpha val="6000"/>
              </a:srgbClr>
            </a:outerShdw>
          </a:effectLst>
        </p:spPr>
      </p:sp>
      <p:sp>
        <p:nvSpPr>
          <p:cNvPr id="24" name="Shape 22"/>
          <p:cNvSpPr/>
          <p:nvPr/>
        </p:nvSpPr>
        <p:spPr>
          <a:xfrm>
            <a:off x="905256" y="4645152"/>
            <a:ext cx="365760" cy="365760"/>
          </a:xfrm>
          <a:prstGeom prst="ellipse">
            <a:avLst/>
          </a:prstGeom>
          <a:solidFill>
            <a:srgbClr val="F5EAE6"/>
          </a:solidFill>
          <a:ln w="12700">
            <a:solidFill>
              <a:srgbClr val="D4876F"/>
            </a:solidFill>
            <a:prstDash val="solid"/>
          </a:ln>
        </p:spPr>
      </p:sp>
      <p:sp>
        <p:nvSpPr>
          <p:cNvPr id="25" name="Text 23"/>
          <p:cNvSpPr txBox="1"/>
          <p:nvPr/>
        </p:nvSpPr>
        <p:spPr>
          <a:xfrm>
            <a:off x="905256" y="4645152"/>
            <a:ext cx="365760" cy="365760"/>
          </a:xfrm>
          <a:prstGeom prst="rect">
            <a:avLst/>
          </a:prstGeom>
          <a:noFill/>
          <a:ln/>
        </p:spPr>
        <p:txBody>
          <a:bodyPr wrap="square" lIns="0" tIns="0" rIns="0" bIns="0" rtlCol="0" anchor="ctr"/>
          <a:lstStyle/>
          <a:p>
            <a:pPr algn="ctr" indent="0" marL="0">
              <a:buNone/>
            </a:pPr>
            <a:r>
              <a:rPr lang="en-US" sz="1200" b="1" dirty="0">
                <a:solidFill>
                  <a:srgbClr val="8B3E2D"/>
                </a:solidFill>
                <a:latin typeface="Cambria" pitchFamily="34" charset="0"/>
                <a:ea typeface="Cambria" pitchFamily="34" charset="-122"/>
                <a:cs typeface="Cambria" pitchFamily="34" charset="-120"/>
              </a:rPr>
              <a:t>1</a:t>
            </a:r>
            <a:endParaRPr lang="en-US" sz="1200" dirty="0"/>
          </a:p>
        </p:txBody>
      </p:sp>
      <p:sp>
        <p:nvSpPr>
          <p:cNvPr id="26" name="Text 24"/>
          <p:cNvSpPr txBox="1"/>
          <p:nvPr/>
        </p:nvSpPr>
        <p:spPr>
          <a:xfrm>
            <a:off x="1362456" y="4672584"/>
            <a:ext cx="2606040" cy="274320"/>
          </a:xfrm>
          <a:prstGeom prst="rect">
            <a:avLst/>
          </a:prstGeom>
          <a:noFill/>
          <a:ln/>
        </p:spPr>
        <p:txBody>
          <a:bodyPr wrap="square" lIns="0" tIns="0" rIns="0" bIns="0" rtlCol="0" anchor="ctr"/>
          <a:lstStyle/>
          <a:p>
            <a:pPr indent="0" marL="0">
              <a:buNone/>
            </a:pPr>
            <a:r>
              <a:rPr lang="en-US" sz="1350" b="1" dirty="0">
                <a:solidFill>
                  <a:srgbClr val="2C2825"/>
                </a:solidFill>
                <a:latin typeface="Calibri" pitchFamily="34" charset="0"/>
                <a:ea typeface="Calibri" pitchFamily="34" charset="-122"/>
                <a:cs typeface="Calibri" pitchFamily="34" charset="-120"/>
              </a:rPr>
              <a:t>Recurring from day one</a:t>
            </a:r>
            <a:endParaRPr lang="en-US" sz="1350" dirty="0"/>
          </a:p>
        </p:txBody>
      </p:sp>
      <p:sp>
        <p:nvSpPr>
          <p:cNvPr id="27" name="Text 25"/>
          <p:cNvSpPr txBox="1"/>
          <p:nvPr/>
        </p:nvSpPr>
        <p:spPr>
          <a:xfrm>
            <a:off x="905256" y="5074920"/>
            <a:ext cx="3017520" cy="502920"/>
          </a:xfrm>
          <a:prstGeom prst="rect">
            <a:avLst/>
          </a:prstGeom>
          <a:noFill/>
          <a:ln/>
        </p:spPr>
        <p:txBody>
          <a:bodyPr wrap="square" lIns="0" tIns="0" rIns="0" bIns="0" rtlCol="0" anchor="ctr"/>
          <a:lstStyle/>
          <a:p>
            <a:pPr indent="0" marL="0">
              <a:lnSpc>
                <a:spcPts val="1500"/>
              </a:lnSpc>
              <a:buNone/>
            </a:pPr>
            <a:r>
              <a:rPr lang="en-US" sz="1150" dirty="0">
                <a:solidFill>
                  <a:srgbClr val="5A534C"/>
                </a:solidFill>
                <a:latin typeface="Calibri" pitchFamily="34" charset="0"/>
                <a:ea typeface="Calibri" pitchFamily="34" charset="-122"/>
                <a:cs typeface="Calibri" pitchFamily="34" charset="-120"/>
              </a:rPr>
              <a:t>Revenue is subscription, not transaction — predictable and forecastable before GMV exists.</a:t>
            </a:r>
            <a:endParaRPr lang="en-US" sz="1150" dirty="0"/>
          </a:p>
        </p:txBody>
      </p:sp>
      <p:sp>
        <p:nvSpPr>
          <p:cNvPr id="28" name="Shape 26"/>
          <p:cNvSpPr/>
          <p:nvPr/>
        </p:nvSpPr>
        <p:spPr>
          <a:xfrm>
            <a:off x="4343400" y="4480560"/>
            <a:ext cx="3429000" cy="1170432"/>
          </a:xfrm>
          <a:prstGeom prst="roundRect">
            <a:avLst>
              <a:gd name="adj" fmla="val 8594"/>
            </a:avLst>
          </a:prstGeom>
          <a:solidFill>
            <a:srgbClr val="FFFFFF"/>
          </a:solidFill>
          <a:ln w="9525">
            <a:solidFill>
              <a:srgbClr val="E7E3DE"/>
            </a:solidFill>
            <a:prstDash val="solid"/>
          </a:ln>
          <a:effectLst>
            <a:outerShdw sx="100000" sy="100000" kx="0" ky="0" algn="bl" rotWithShape="0" blurRad="101600" dist="25400" dir="5400000">
              <a:srgbClr val="2C2825">
                <a:alpha val="6000"/>
              </a:srgbClr>
            </a:outerShdw>
          </a:effectLst>
        </p:spPr>
      </p:sp>
      <p:sp>
        <p:nvSpPr>
          <p:cNvPr id="29" name="Shape 27"/>
          <p:cNvSpPr/>
          <p:nvPr/>
        </p:nvSpPr>
        <p:spPr>
          <a:xfrm>
            <a:off x="4562856" y="4645152"/>
            <a:ext cx="365760" cy="365760"/>
          </a:xfrm>
          <a:prstGeom prst="ellipse">
            <a:avLst/>
          </a:prstGeom>
          <a:solidFill>
            <a:srgbClr val="EAF0EB"/>
          </a:solidFill>
          <a:ln w="12700">
            <a:solidFill>
              <a:srgbClr val="A8C4AC"/>
            </a:solidFill>
            <a:prstDash val="solid"/>
          </a:ln>
        </p:spPr>
      </p:sp>
      <p:sp>
        <p:nvSpPr>
          <p:cNvPr id="30" name="Text 28"/>
          <p:cNvSpPr txBox="1"/>
          <p:nvPr/>
        </p:nvSpPr>
        <p:spPr>
          <a:xfrm>
            <a:off x="4562856" y="4645152"/>
            <a:ext cx="365760" cy="365760"/>
          </a:xfrm>
          <a:prstGeom prst="rect">
            <a:avLst/>
          </a:prstGeom>
          <a:noFill/>
          <a:ln/>
        </p:spPr>
        <p:txBody>
          <a:bodyPr wrap="square" lIns="0" tIns="0" rIns="0" bIns="0" rtlCol="0" anchor="ctr"/>
          <a:lstStyle/>
          <a:p>
            <a:pPr algn="ctr" indent="0" marL="0">
              <a:buNone/>
            </a:pPr>
            <a:r>
              <a:rPr lang="en-US" sz="1200" b="1" dirty="0">
                <a:solidFill>
                  <a:srgbClr val="4D7255"/>
                </a:solidFill>
                <a:latin typeface="Cambria" pitchFamily="34" charset="0"/>
                <a:ea typeface="Cambria" pitchFamily="34" charset="-122"/>
                <a:cs typeface="Cambria" pitchFamily="34" charset="-120"/>
              </a:rPr>
              <a:t>2</a:t>
            </a:r>
            <a:endParaRPr lang="en-US" sz="1200" dirty="0"/>
          </a:p>
        </p:txBody>
      </p:sp>
      <p:sp>
        <p:nvSpPr>
          <p:cNvPr id="31" name="Text 29"/>
          <p:cNvSpPr txBox="1"/>
          <p:nvPr/>
        </p:nvSpPr>
        <p:spPr>
          <a:xfrm>
            <a:off x="5020056" y="4672584"/>
            <a:ext cx="2606040" cy="274320"/>
          </a:xfrm>
          <a:prstGeom prst="rect">
            <a:avLst/>
          </a:prstGeom>
          <a:noFill/>
          <a:ln/>
        </p:spPr>
        <p:txBody>
          <a:bodyPr wrap="square" lIns="0" tIns="0" rIns="0" bIns="0" rtlCol="0" anchor="ctr"/>
          <a:lstStyle/>
          <a:p>
            <a:pPr indent="0" marL="0">
              <a:buNone/>
            </a:pPr>
            <a:r>
              <a:rPr lang="en-US" sz="1350" b="1" dirty="0">
                <a:solidFill>
                  <a:srgbClr val="2C2825"/>
                </a:solidFill>
                <a:latin typeface="Calibri" pitchFamily="34" charset="0"/>
                <a:ea typeface="Calibri" pitchFamily="34" charset="-122"/>
                <a:cs typeface="Calibri" pitchFamily="34" charset="-120"/>
              </a:rPr>
              <a:t>Low friction to say yes</a:t>
            </a:r>
            <a:endParaRPr lang="en-US" sz="1350" dirty="0"/>
          </a:p>
        </p:txBody>
      </p:sp>
      <p:sp>
        <p:nvSpPr>
          <p:cNvPr id="32" name="Text 30"/>
          <p:cNvSpPr txBox="1"/>
          <p:nvPr/>
        </p:nvSpPr>
        <p:spPr>
          <a:xfrm>
            <a:off x="4562856" y="5074920"/>
            <a:ext cx="3017520" cy="502920"/>
          </a:xfrm>
          <a:prstGeom prst="rect">
            <a:avLst/>
          </a:prstGeom>
          <a:noFill/>
          <a:ln/>
        </p:spPr>
        <p:txBody>
          <a:bodyPr wrap="square" lIns="0" tIns="0" rIns="0" bIns="0" rtlCol="0" anchor="ctr"/>
          <a:lstStyle/>
          <a:p>
            <a:pPr indent="0" marL="0">
              <a:lnSpc>
                <a:spcPts val="1500"/>
              </a:lnSpc>
              <a:buNone/>
            </a:pPr>
            <a:r>
              <a:rPr lang="en-US" sz="1150" dirty="0">
                <a:solidFill>
                  <a:srgbClr val="5A534C"/>
                </a:solidFill>
                <a:latin typeface="Calibri" pitchFamily="34" charset="0"/>
                <a:ea typeface="Calibri" pitchFamily="34" charset="-122"/>
                <a:cs typeface="Calibri" pitchFamily="34" charset="-120"/>
              </a:rPr>
              <a:t>A free quarter and $29/month is an easy decision for a solo doula or a one-person studio.</a:t>
            </a:r>
            <a:endParaRPr lang="en-US" sz="1150" dirty="0"/>
          </a:p>
        </p:txBody>
      </p:sp>
      <p:sp>
        <p:nvSpPr>
          <p:cNvPr id="33" name="Shape 31"/>
          <p:cNvSpPr/>
          <p:nvPr/>
        </p:nvSpPr>
        <p:spPr>
          <a:xfrm>
            <a:off x="8001000" y="4480560"/>
            <a:ext cx="3429000" cy="1170432"/>
          </a:xfrm>
          <a:prstGeom prst="roundRect">
            <a:avLst>
              <a:gd name="adj" fmla="val 8594"/>
            </a:avLst>
          </a:prstGeom>
          <a:solidFill>
            <a:srgbClr val="FFFFFF"/>
          </a:solidFill>
          <a:ln w="9525">
            <a:solidFill>
              <a:srgbClr val="E7E3DE"/>
            </a:solidFill>
            <a:prstDash val="solid"/>
          </a:ln>
          <a:effectLst>
            <a:outerShdw sx="100000" sy="100000" kx="0" ky="0" algn="bl" rotWithShape="0" blurRad="101600" dist="25400" dir="5400000">
              <a:srgbClr val="2C2825">
                <a:alpha val="6000"/>
              </a:srgbClr>
            </a:outerShdw>
          </a:effectLst>
        </p:spPr>
      </p:sp>
      <p:sp>
        <p:nvSpPr>
          <p:cNvPr id="34" name="Shape 32"/>
          <p:cNvSpPr/>
          <p:nvPr/>
        </p:nvSpPr>
        <p:spPr>
          <a:xfrm>
            <a:off x="8220456" y="4645152"/>
            <a:ext cx="365760" cy="365760"/>
          </a:xfrm>
          <a:prstGeom prst="ellipse">
            <a:avLst/>
          </a:prstGeom>
          <a:solidFill>
            <a:srgbClr val="F5EAE6"/>
          </a:solidFill>
          <a:ln w="12700">
            <a:solidFill>
              <a:srgbClr val="D4876F"/>
            </a:solidFill>
            <a:prstDash val="solid"/>
          </a:ln>
        </p:spPr>
      </p:sp>
      <p:sp>
        <p:nvSpPr>
          <p:cNvPr id="35" name="Text 33"/>
          <p:cNvSpPr txBox="1"/>
          <p:nvPr/>
        </p:nvSpPr>
        <p:spPr>
          <a:xfrm>
            <a:off x="8220456" y="4645152"/>
            <a:ext cx="365760" cy="365760"/>
          </a:xfrm>
          <a:prstGeom prst="rect">
            <a:avLst/>
          </a:prstGeom>
          <a:noFill/>
          <a:ln/>
        </p:spPr>
        <p:txBody>
          <a:bodyPr wrap="square" lIns="0" tIns="0" rIns="0" bIns="0" rtlCol="0" anchor="ctr"/>
          <a:lstStyle/>
          <a:p>
            <a:pPr algn="ctr" indent="0" marL="0">
              <a:buNone/>
            </a:pPr>
            <a:r>
              <a:rPr lang="en-US" sz="1200" b="1" dirty="0">
                <a:solidFill>
                  <a:srgbClr val="8B3E2D"/>
                </a:solidFill>
                <a:latin typeface="Cambria" pitchFamily="34" charset="0"/>
                <a:ea typeface="Cambria" pitchFamily="34" charset="-122"/>
                <a:cs typeface="Cambria" pitchFamily="34" charset="-120"/>
              </a:rPr>
              <a:t>3</a:t>
            </a:r>
            <a:endParaRPr lang="en-US" sz="1200" dirty="0"/>
          </a:p>
        </p:txBody>
      </p:sp>
      <p:sp>
        <p:nvSpPr>
          <p:cNvPr id="36" name="Text 34"/>
          <p:cNvSpPr txBox="1"/>
          <p:nvPr/>
        </p:nvSpPr>
        <p:spPr>
          <a:xfrm>
            <a:off x="8677656" y="4672584"/>
            <a:ext cx="2606040" cy="274320"/>
          </a:xfrm>
          <a:prstGeom prst="rect">
            <a:avLst/>
          </a:prstGeom>
          <a:noFill/>
          <a:ln/>
        </p:spPr>
        <p:txBody>
          <a:bodyPr wrap="square" lIns="0" tIns="0" rIns="0" bIns="0" rtlCol="0" anchor="ctr"/>
          <a:lstStyle/>
          <a:p>
            <a:pPr indent="0" marL="0">
              <a:buNone/>
            </a:pPr>
            <a:r>
              <a:rPr lang="en-US" sz="1350" b="1" dirty="0">
                <a:solidFill>
                  <a:srgbClr val="2C2825"/>
                </a:solidFill>
                <a:latin typeface="Calibri" pitchFamily="34" charset="0"/>
                <a:ea typeface="Calibri" pitchFamily="34" charset="-122"/>
                <a:cs typeface="Calibri" pitchFamily="34" charset="-120"/>
              </a:rPr>
              <a:t>Same price on both sides</a:t>
            </a:r>
            <a:endParaRPr lang="en-US" sz="1350" dirty="0"/>
          </a:p>
        </p:txBody>
      </p:sp>
      <p:sp>
        <p:nvSpPr>
          <p:cNvPr id="37" name="Text 35"/>
          <p:cNvSpPr txBox="1"/>
          <p:nvPr/>
        </p:nvSpPr>
        <p:spPr>
          <a:xfrm>
            <a:off x="8220456" y="5074920"/>
            <a:ext cx="3017520" cy="502920"/>
          </a:xfrm>
          <a:prstGeom prst="rect">
            <a:avLst/>
          </a:prstGeom>
          <a:noFill/>
          <a:ln/>
        </p:spPr>
        <p:txBody>
          <a:bodyPr wrap="square" lIns="0" tIns="0" rIns="0" bIns="0" rtlCol="0" anchor="ctr"/>
          <a:lstStyle/>
          <a:p>
            <a:pPr indent="0" marL="0">
              <a:lnSpc>
                <a:spcPts val="1500"/>
              </a:lnSpc>
              <a:buNone/>
            </a:pPr>
            <a:r>
              <a:rPr lang="en-US" sz="1150" dirty="0">
                <a:solidFill>
                  <a:srgbClr val="5A534C"/>
                </a:solidFill>
                <a:latin typeface="Calibri" pitchFamily="34" charset="0"/>
                <a:ea typeface="Calibri" pitchFamily="34" charset="-122"/>
                <a:cs typeface="Calibri" pitchFamily="34" charset="-120"/>
              </a:rPr>
              <a:t>Goods and services share one plan, one dashboard, one billing path — no second business to run.</a:t>
            </a:r>
            <a:endParaRPr lang="en-US" sz="1150" dirty="0"/>
          </a:p>
        </p:txBody>
      </p:sp>
      <p:sp>
        <p:nvSpPr>
          <p:cNvPr id="38" name="Text 36"/>
          <p:cNvSpPr txBox="1"/>
          <p:nvPr/>
        </p:nvSpPr>
        <p:spPr>
          <a:xfrm>
            <a:off x="713232" y="5870448"/>
            <a:ext cx="10698480" cy="292608"/>
          </a:xfrm>
          <a:prstGeom prst="rect">
            <a:avLst/>
          </a:prstGeom>
          <a:noFill/>
          <a:ln/>
        </p:spPr>
        <p:txBody>
          <a:bodyPr wrap="square" lIns="0" tIns="0" rIns="0" bIns="0" rtlCol="0" anchor="ctr"/>
          <a:lstStyle/>
          <a:p>
            <a:pPr indent="0" marL="0">
              <a:buNone/>
            </a:pPr>
            <a:r>
              <a:rPr lang="en-US" sz="1150" i="1" dirty="0">
                <a:solidFill>
                  <a:srgbClr val="9A9189"/>
                </a:solidFill>
                <a:latin typeface="Calibri" pitchFamily="34" charset="0"/>
                <a:ea typeface="Calibri" pitchFamily="34" charset="-122"/>
                <a:cs typeface="Calibri" pitchFamily="34" charset="-120"/>
              </a:rPr>
              <a:t>Not yet in the model: gift cards and group-gift pools, vendor-bills-client-through-CodaCo, and sponsored placement.</a:t>
            </a:r>
            <a:endParaRPr lang="en-US" sz="11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AF9F7"/>
        </a:solidFill>
      </p:bgPr>
    </p:bg>
    <p:spTree>
      <p:nvGrpSpPr>
        <p:cNvPr id="1" name=""/>
        <p:cNvGrpSpPr/>
        <p:nvPr/>
      </p:nvGrpSpPr>
      <p:grpSpPr>
        <a:xfrm>
          <a:off x="0" y="0"/>
          <a:ext cx="0" cy="0"/>
          <a:chOff x="0" y="0"/>
          <a:chExt cx="0" cy="0"/>
        </a:xfrm>
      </p:grpSpPr>
      <p:sp>
        <p:nvSpPr>
          <p:cNvPr id="2" name="Text 0"/>
          <p:cNvSpPr txBox="1"/>
          <p:nvPr/>
        </p:nvSpPr>
        <p:spPr>
          <a:xfrm>
            <a:off x="685800" y="502920"/>
            <a:ext cx="7315200" cy="256032"/>
          </a:xfrm>
          <a:prstGeom prst="rect">
            <a:avLst/>
          </a:prstGeom>
          <a:noFill/>
          <a:ln/>
        </p:spPr>
        <p:txBody>
          <a:bodyPr wrap="square" lIns="0" tIns="0" rIns="0" bIns="0" rtlCol="0" anchor="ctr"/>
          <a:lstStyle/>
          <a:p>
            <a:pPr indent="0" marL="0">
              <a:buNone/>
            </a:pPr>
            <a:r>
              <a:rPr lang="en-US" sz="1100" b="1" spc="220" kern="0" dirty="0">
                <a:solidFill>
                  <a:srgbClr val="C1634F"/>
                </a:solidFill>
                <a:latin typeface="Calibri" pitchFamily="34" charset="0"/>
                <a:ea typeface="Calibri" pitchFamily="34" charset="-122"/>
                <a:cs typeface="Calibri" pitchFamily="34" charset="-120"/>
              </a:rPr>
              <a:t>YEAR 1</a:t>
            </a:r>
            <a:endParaRPr lang="en-US" sz="1100" dirty="0"/>
          </a:p>
        </p:txBody>
      </p:sp>
      <p:sp>
        <p:nvSpPr>
          <p:cNvPr id="3" name="Text 1"/>
          <p:cNvSpPr txBox="1"/>
          <p:nvPr/>
        </p:nvSpPr>
        <p:spPr>
          <a:xfrm>
            <a:off x="685800" y="841248"/>
            <a:ext cx="10789920" cy="658368"/>
          </a:xfrm>
          <a:prstGeom prst="rect">
            <a:avLst/>
          </a:prstGeom>
          <a:noFill/>
          <a:ln/>
        </p:spPr>
        <p:txBody>
          <a:bodyPr wrap="square" lIns="0" tIns="0" rIns="0" bIns="0" rtlCol="0" anchor="t"/>
          <a:lstStyle/>
          <a:p>
            <a:pPr indent="0" marL="0">
              <a:buNone/>
            </a:pPr>
            <a:r>
              <a:rPr lang="en-US" sz="3600" dirty="0">
                <a:solidFill>
                  <a:srgbClr val="2C2825"/>
                </a:solidFill>
                <a:latin typeface="Cambria" pitchFamily="34" charset="0"/>
                <a:ea typeface="Cambria" pitchFamily="34" charset="-122"/>
                <a:cs typeface="Cambria" pitchFamily="34" charset="-120"/>
              </a:rPr>
              <a:t>Four cities in the first year</a:t>
            </a:r>
            <a:endParaRPr lang="en-US" sz="3600" dirty="0"/>
          </a:p>
        </p:txBody>
      </p:sp>
      <p:sp>
        <p:nvSpPr>
          <p:cNvPr id="4" name="Text 2"/>
          <p:cNvSpPr txBox="1"/>
          <p:nvPr/>
        </p:nvSpPr>
        <p:spPr>
          <a:xfrm>
            <a:off x="685800" y="1517904"/>
            <a:ext cx="7863840" cy="384048"/>
          </a:xfrm>
          <a:prstGeom prst="rect">
            <a:avLst/>
          </a:prstGeom>
          <a:noFill/>
          <a:ln/>
        </p:spPr>
        <p:txBody>
          <a:bodyPr wrap="square" lIns="0" tIns="0" rIns="0" bIns="0" rtlCol="0" anchor="ctr"/>
          <a:lstStyle/>
          <a:p>
            <a:pPr indent="0" marL="0">
              <a:lnSpc>
                <a:spcPts val="2000"/>
              </a:lnSpc>
              <a:buNone/>
            </a:pPr>
            <a:r>
              <a:rPr lang="en-US" sz="1350" dirty="0">
                <a:solidFill>
                  <a:srgbClr val="5A534C"/>
                </a:solidFill>
                <a:latin typeface="Calibri" pitchFamily="34" charset="0"/>
                <a:ea typeface="Calibri" pitchFamily="34" charset="-122"/>
                <a:cs typeface="Calibri" pitchFamily="34" charset="-120"/>
              </a:rPr>
              <a:t>Portland and Denver open 1 November 2026, with shipped-goods makers nationwide. Seattle follows in May, Los Angeles in August.</a:t>
            </a:r>
            <a:endParaRPr lang="en-US" sz="1350" dirty="0"/>
          </a:p>
        </p:txBody>
      </p:sp>
      <p:graphicFrame>
        <p:nvGraphicFramePr>
          <p:cNvPr id="5" name="Chart 0" descr=""/>
          <p:cNvGraphicFramePr/>
          <p:nvPr/>
        </p:nvGraphicFramePr>
        <p:xfrm>
          <a:off x="640080" y="2212848"/>
          <a:ext cx="7772400" cy="3794760"/>
        </p:xfrm>
        <a:graphic xmlns:a="http://schemas.openxmlformats.org/drawingml/2006/main">
          <a:graphicData uri="http://schemas.openxmlformats.org/drawingml/2006/chart">
            <c:chart xmlns:c="http://schemas.openxmlformats.org/drawingml/2006/chart" r:id="rId1"/>
          </a:graphicData>
        </a:graphic>
      </p:graphicFrame>
      <p:sp>
        <p:nvSpPr>
          <p:cNvPr id="6" name="Shape 3"/>
          <p:cNvSpPr/>
          <p:nvPr/>
        </p:nvSpPr>
        <p:spPr>
          <a:xfrm>
            <a:off x="8686800" y="2212848"/>
            <a:ext cx="2788920" cy="841248"/>
          </a:xfrm>
          <a:prstGeom prst="roundRect">
            <a:avLst>
              <a:gd name="adj" fmla="val 11957"/>
            </a:avLst>
          </a:prstGeom>
          <a:solidFill>
            <a:srgbClr val="F5EAE6"/>
          </a:solidFill>
          <a:ln w="9525">
            <a:solidFill>
              <a:srgbClr val="EBD8D1"/>
            </a:solidFill>
            <a:prstDash val="solid"/>
          </a:ln>
          <a:effectLst>
            <a:outerShdw sx="100000" sy="100000" kx="0" ky="0" algn="bl" rotWithShape="0" blurRad="101600" dist="25400" dir="5400000">
              <a:srgbClr val="2C2825">
                <a:alpha val="6000"/>
              </a:srgbClr>
            </a:outerShdw>
          </a:effectLst>
        </p:spPr>
      </p:sp>
      <p:sp>
        <p:nvSpPr>
          <p:cNvPr id="7" name="Text 4"/>
          <p:cNvSpPr txBox="1"/>
          <p:nvPr/>
        </p:nvSpPr>
        <p:spPr>
          <a:xfrm>
            <a:off x="8851392" y="2286000"/>
            <a:ext cx="2468880" cy="402336"/>
          </a:xfrm>
          <a:prstGeom prst="rect">
            <a:avLst/>
          </a:prstGeom>
          <a:noFill/>
          <a:ln/>
        </p:spPr>
        <p:txBody>
          <a:bodyPr wrap="square" lIns="0" tIns="0" rIns="0" bIns="0" rtlCol="0" anchor="ctr"/>
          <a:lstStyle/>
          <a:p>
            <a:pPr indent="0" marL="0">
              <a:buNone/>
            </a:pPr>
            <a:r>
              <a:rPr lang="en-US" sz="2600" b="1" dirty="0">
                <a:solidFill>
                  <a:srgbClr val="8B3E2D"/>
                </a:solidFill>
                <a:latin typeface="Cambria" pitchFamily="34" charset="0"/>
                <a:ea typeface="Cambria" pitchFamily="34" charset="-122"/>
                <a:cs typeface="Cambria" pitchFamily="34" charset="-120"/>
              </a:rPr>
              <a:t>$109,707</a:t>
            </a:r>
            <a:endParaRPr lang="en-US" sz="2600" dirty="0"/>
          </a:p>
        </p:txBody>
      </p:sp>
      <p:sp>
        <p:nvSpPr>
          <p:cNvPr id="8" name="Text 5"/>
          <p:cNvSpPr txBox="1"/>
          <p:nvPr/>
        </p:nvSpPr>
        <p:spPr>
          <a:xfrm>
            <a:off x="8851392" y="2670048"/>
            <a:ext cx="2468880" cy="219456"/>
          </a:xfrm>
          <a:prstGeom prst="rect">
            <a:avLst/>
          </a:prstGeom>
          <a:noFill/>
          <a:ln/>
        </p:spPr>
        <p:txBody>
          <a:bodyPr wrap="square" lIns="0" tIns="0" rIns="0" bIns="0" rtlCol="0" anchor="ctr"/>
          <a:lstStyle/>
          <a:p>
            <a:pPr indent="0" marL="0">
              <a:buNone/>
            </a:pPr>
            <a:r>
              <a:rPr lang="en-US" sz="1200" b="1" dirty="0">
                <a:solidFill>
                  <a:srgbClr val="2C2825"/>
                </a:solidFill>
                <a:latin typeface="Calibri" pitchFamily="34" charset="0"/>
                <a:ea typeface="Calibri" pitchFamily="34" charset="-122"/>
                <a:cs typeface="Calibri" pitchFamily="34" charset="-120"/>
              </a:rPr>
              <a:t>Year 1 revenue</a:t>
            </a:r>
            <a:endParaRPr lang="en-US" sz="1200" dirty="0"/>
          </a:p>
        </p:txBody>
      </p:sp>
      <p:sp>
        <p:nvSpPr>
          <p:cNvPr id="9" name="Text 6"/>
          <p:cNvSpPr txBox="1"/>
          <p:nvPr/>
        </p:nvSpPr>
        <p:spPr>
          <a:xfrm>
            <a:off x="8851392" y="2862072"/>
            <a:ext cx="2468880" cy="201168"/>
          </a:xfrm>
          <a:prstGeom prst="rect">
            <a:avLst/>
          </a:prstGeom>
          <a:noFill/>
          <a:ln/>
        </p:spPr>
        <p:txBody>
          <a:bodyPr wrap="square" lIns="0" tIns="0" rIns="0" bIns="0" rtlCol="0" anchor="ctr"/>
          <a:lstStyle/>
          <a:p>
            <a:pPr indent="0" marL="0">
              <a:buNone/>
            </a:pPr>
            <a:r>
              <a:rPr lang="en-US" sz="1050" dirty="0">
                <a:solidFill>
                  <a:srgbClr val="5A534C"/>
                </a:solidFill>
                <a:latin typeface="Calibri" pitchFamily="34" charset="0"/>
                <a:ea typeface="Calibri" pitchFamily="34" charset="-122"/>
                <a:cs typeface="Calibri" pitchFamily="34" charset="-120"/>
              </a:rPr>
              <a:t>Nov '26 – Oct '27</a:t>
            </a:r>
            <a:endParaRPr lang="en-US" sz="1050" dirty="0"/>
          </a:p>
        </p:txBody>
      </p:sp>
      <p:sp>
        <p:nvSpPr>
          <p:cNvPr id="10" name="Shape 7"/>
          <p:cNvSpPr/>
          <p:nvPr/>
        </p:nvSpPr>
        <p:spPr>
          <a:xfrm>
            <a:off x="8686800" y="3182112"/>
            <a:ext cx="2788920" cy="841248"/>
          </a:xfrm>
          <a:prstGeom prst="roundRect">
            <a:avLst>
              <a:gd name="adj" fmla="val 11957"/>
            </a:avLst>
          </a:prstGeom>
          <a:solidFill>
            <a:srgbClr val="EAF0EB"/>
          </a:solidFill>
          <a:ln w="9525">
            <a:solidFill>
              <a:srgbClr val="D8E3D9"/>
            </a:solidFill>
            <a:prstDash val="solid"/>
          </a:ln>
          <a:effectLst>
            <a:outerShdw sx="100000" sy="100000" kx="0" ky="0" algn="bl" rotWithShape="0" blurRad="101600" dist="25400" dir="5400000">
              <a:srgbClr val="2C2825">
                <a:alpha val="6000"/>
              </a:srgbClr>
            </a:outerShdw>
          </a:effectLst>
        </p:spPr>
      </p:sp>
      <p:sp>
        <p:nvSpPr>
          <p:cNvPr id="11" name="Text 8"/>
          <p:cNvSpPr txBox="1"/>
          <p:nvPr/>
        </p:nvSpPr>
        <p:spPr>
          <a:xfrm>
            <a:off x="8851392" y="3255264"/>
            <a:ext cx="2468880" cy="402336"/>
          </a:xfrm>
          <a:prstGeom prst="rect">
            <a:avLst/>
          </a:prstGeom>
          <a:noFill/>
          <a:ln/>
        </p:spPr>
        <p:txBody>
          <a:bodyPr wrap="square" lIns="0" tIns="0" rIns="0" bIns="0" rtlCol="0" anchor="ctr"/>
          <a:lstStyle/>
          <a:p>
            <a:pPr indent="0" marL="0">
              <a:buNone/>
            </a:pPr>
            <a:r>
              <a:rPr lang="en-US" sz="2600" b="1" dirty="0">
                <a:solidFill>
                  <a:srgbClr val="4D7255"/>
                </a:solidFill>
                <a:latin typeface="Cambria" pitchFamily="34" charset="0"/>
                <a:ea typeface="Cambria" pitchFamily="34" charset="-122"/>
                <a:cs typeface="Cambria" pitchFamily="34" charset="-120"/>
              </a:rPr>
              <a:t>682</a:t>
            </a:r>
            <a:endParaRPr lang="en-US" sz="2600" dirty="0"/>
          </a:p>
        </p:txBody>
      </p:sp>
      <p:sp>
        <p:nvSpPr>
          <p:cNvPr id="12" name="Text 9"/>
          <p:cNvSpPr txBox="1"/>
          <p:nvPr/>
        </p:nvSpPr>
        <p:spPr>
          <a:xfrm>
            <a:off x="8851392" y="3639312"/>
            <a:ext cx="2468880" cy="219456"/>
          </a:xfrm>
          <a:prstGeom prst="rect">
            <a:avLst/>
          </a:prstGeom>
          <a:noFill/>
          <a:ln/>
        </p:spPr>
        <p:txBody>
          <a:bodyPr wrap="square" lIns="0" tIns="0" rIns="0" bIns="0" rtlCol="0" anchor="ctr"/>
          <a:lstStyle/>
          <a:p>
            <a:pPr indent="0" marL="0">
              <a:buNone/>
            </a:pPr>
            <a:r>
              <a:rPr lang="en-US" sz="1200" b="1" dirty="0">
                <a:solidFill>
                  <a:srgbClr val="2C2825"/>
                </a:solidFill>
                <a:latin typeface="Calibri" pitchFamily="34" charset="0"/>
                <a:ea typeface="Calibri" pitchFamily="34" charset="-122"/>
                <a:cs typeface="Calibri" pitchFamily="34" charset="-120"/>
              </a:rPr>
              <a:t>paying vendors</a:t>
            </a:r>
            <a:endParaRPr lang="en-US" sz="1200" dirty="0"/>
          </a:p>
        </p:txBody>
      </p:sp>
      <p:sp>
        <p:nvSpPr>
          <p:cNvPr id="13" name="Text 10"/>
          <p:cNvSpPr txBox="1"/>
          <p:nvPr/>
        </p:nvSpPr>
        <p:spPr>
          <a:xfrm>
            <a:off x="8851392" y="3831336"/>
            <a:ext cx="2468880" cy="201168"/>
          </a:xfrm>
          <a:prstGeom prst="rect">
            <a:avLst/>
          </a:prstGeom>
          <a:noFill/>
          <a:ln/>
        </p:spPr>
        <p:txBody>
          <a:bodyPr wrap="square" lIns="0" tIns="0" rIns="0" bIns="0" rtlCol="0" anchor="ctr"/>
          <a:lstStyle/>
          <a:p>
            <a:pPr indent="0" marL="0">
              <a:buNone/>
            </a:pPr>
            <a:r>
              <a:rPr lang="en-US" sz="1050" dirty="0">
                <a:solidFill>
                  <a:srgbClr val="5A534C"/>
                </a:solidFill>
                <a:latin typeface="Calibri" pitchFamily="34" charset="0"/>
                <a:ea typeface="Calibri" pitchFamily="34" charset="-122"/>
                <a:cs typeface="Calibri" pitchFamily="34" charset="-120"/>
              </a:rPr>
              <a:t>subscribing in Oct '27</a:t>
            </a:r>
            <a:endParaRPr lang="en-US" sz="1050" dirty="0"/>
          </a:p>
        </p:txBody>
      </p:sp>
      <p:sp>
        <p:nvSpPr>
          <p:cNvPr id="14" name="Shape 11"/>
          <p:cNvSpPr/>
          <p:nvPr/>
        </p:nvSpPr>
        <p:spPr>
          <a:xfrm>
            <a:off x="8686800" y="4151376"/>
            <a:ext cx="2788920" cy="841248"/>
          </a:xfrm>
          <a:prstGeom prst="roundRect">
            <a:avLst>
              <a:gd name="adj" fmla="val 11957"/>
            </a:avLst>
          </a:prstGeom>
          <a:solidFill>
            <a:srgbClr val="F5EAE6"/>
          </a:solidFill>
          <a:ln w="9525">
            <a:solidFill>
              <a:srgbClr val="EBD8D1"/>
            </a:solidFill>
            <a:prstDash val="solid"/>
          </a:ln>
          <a:effectLst>
            <a:outerShdw sx="100000" sy="100000" kx="0" ky="0" algn="bl" rotWithShape="0" blurRad="101600" dist="25400" dir="5400000">
              <a:srgbClr val="2C2825">
                <a:alpha val="6000"/>
              </a:srgbClr>
            </a:outerShdw>
          </a:effectLst>
        </p:spPr>
      </p:sp>
      <p:sp>
        <p:nvSpPr>
          <p:cNvPr id="15" name="Text 12"/>
          <p:cNvSpPr txBox="1"/>
          <p:nvPr/>
        </p:nvSpPr>
        <p:spPr>
          <a:xfrm>
            <a:off x="8851392" y="4224528"/>
            <a:ext cx="2468880" cy="402336"/>
          </a:xfrm>
          <a:prstGeom prst="rect">
            <a:avLst/>
          </a:prstGeom>
          <a:noFill/>
          <a:ln/>
        </p:spPr>
        <p:txBody>
          <a:bodyPr wrap="square" lIns="0" tIns="0" rIns="0" bIns="0" rtlCol="0" anchor="ctr"/>
          <a:lstStyle/>
          <a:p>
            <a:pPr indent="0" marL="0">
              <a:buNone/>
            </a:pPr>
            <a:r>
              <a:rPr lang="en-US" sz="2600" b="1" dirty="0">
                <a:solidFill>
                  <a:srgbClr val="8B3E2D"/>
                </a:solidFill>
                <a:latin typeface="Cambria" pitchFamily="34" charset="0"/>
                <a:ea typeface="Cambria" pitchFamily="34" charset="-122"/>
                <a:cs typeface="Cambria" pitchFamily="34" charset="-120"/>
              </a:rPr>
              <a:t>$19,778</a:t>
            </a:r>
            <a:endParaRPr lang="en-US" sz="2600" dirty="0"/>
          </a:p>
        </p:txBody>
      </p:sp>
      <p:sp>
        <p:nvSpPr>
          <p:cNvPr id="16" name="Text 13"/>
          <p:cNvSpPr txBox="1"/>
          <p:nvPr/>
        </p:nvSpPr>
        <p:spPr>
          <a:xfrm>
            <a:off x="8851392" y="4608576"/>
            <a:ext cx="2468880" cy="219456"/>
          </a:xfrm>
          <a:prstGeom prst="rect">
            <a:avLst/>
          </a:prstGeom>
          <a:noFill/>
          <a:ln/>
        </p:spPr>
        <p:txBody>
          <a:bodyPr wrap="square" lIns="0" tIns="0" rIns="0" bIns="0" rtlCol="0" anchor="ctr"/>
          <a:lstStyle/>
          <a:p>
            <a:pPr indent="0" marL="0">
              <a:buNone/>
            </a:pPr>
            <a:r>
              <a:rPr lang="en-US" sz="1200" b="1" dirty="0">
                <a:solidFill>
                  <a:srgbClr val="2C2825"/>
                </a:solidFill>
                <a:latin typeface="Calibri" pitchFamily="34" charset="0"/>
                <a:ea typeface="Calibri" pitchFamily="34" charset="-122"/>
                <a:cs typeface="Calibri" pitchFamily="34" charset="-120"/>
              </a:rPr>
              <a:t>exit monthly revenue</a:t>
            </a:r>
            <a:endParaRPr lang="en-US" sz="1200" dirty="0"/>
          </a:p>
        </p:txBody>
      </p:sp>
      <p:sp>
        <p:nvSpPr>
          <p:cNvPr id="17" name="Text 14"/>
          <p:cNvSpPr txBox="1"/>
          <p:nvPr/>
        </p:nvSpPr>
        <p:spPr>
          <a:xfrm>
            <a:off x="8851392" y="4800600"/>
            <a:ext cx="2468880" cy="201168"/>
          </a:xfrm>
          <a:prstGeom prst="rect">
            <a:avLst/>
          </a:prstGeom>
          <a:noFill/>
          <a:ln/>
        </p:spPr>
        <p:txBody>
          <a:bodyPr wrap="square" lIns="0" tIns="0" rIns="0" bIns="0" rtlCol="0" anchor="ctr"/>
          <a:lstStyle/>
          <a:p>
            <a:pPr indent="0" marL="0">
              <a:buNone/>
            </a:pPr>
            <a:r>
              <a:rPr lang="en-US" sz="1050" dirty="0">
                <a:solidFill>
                  <a:srgbClr val="5A534C"/>
                </a:solidFill>
                <a:latin typeface="Calibri" pitchFamily="34" charset="0"/>
                <a:ea typeface="Calibri" pitchFamily="34" charset="-122"/>
                <a:cs typeface="Calibri" pitchFamily="34" charset="-120"/>
              </a:rPr>
              <a:t>Oct '27 — ≈ $237K ARR</a:t>
            </a:r>
            <a:endParaRPr lang="en-US" sz="1050" dirty="0"/>
          </a:p>
        </p:txBody>
      </p:sp>
      <p:sp>
        <p:nvSpPr>
          <p:cNvPr id="18" name="Shape 15"/>
          <p:cNvSpPr/>
          <p:nvPr/>
        </p:nvSpPr>
        <p:spPr>
          <a:xfrm>
            <a:off x="8686800" y="5120640"/>
            <a:ext cx="2788920" cy="841248"/>
          </a:xfrm>
          <a:prstGeom prst="roundRect">
            <a:avLst>
              <a:gd name="adj" fmla="val 11957"/>
            </a:avLst>
          </a:prstGeom>
          <a:solidFill>
            <a:srgbClr val="EAF0EB"/>
          </a:solidFill>
          <a:ln w="9525">
            <a:solidFill>
              <a:srgbClr val="D8E3D9"/>
            </a:solidFill>
            <a:prstDash val="solid"/>
          </a:ln>
          <a:effectLst>
            <a:outerShdw sx="100000" sy="100000" kx="0" ky="0" algn="bl" rotWithShape="0" blurRad="101600" dist="25400" dir="5400000">
              <a:srgbClr val="2C2825">
                <a:alpha val="6000"/>
              </a:srgbClr>
            </a:outerShdw>
          </a:effectLst>
        </p:spPr>
      </p:sp>
      <p:sp>
        <p:nvSpPr>
          <p:cNvPr id="19" name="Text 16"/>
          <p:cNvSpPr txBox="1"/>
          <p:nvPr/>
        </p:nvSpPr>
        <p:spPr>
          <a:xfrm>
            <a:off x="8851392" y="5193792"/>
            <a:ext cx="2468880" cy="402336"/>
          </a:xfrm>
          <a:prstGeom prst="rect">
            <a:avLst/>
          </a:prstGeom>
          <a:noFill/>
          <a:ln/>
        </p:spPr>
        <p:txBody>
          <a:bodyPr wrap="square" lIns="0" tIns="0" rIns="0" bIns="0" rtlCol="0" anchor="ctr"/>
          <a:lstStyle/>
          <a:p>
            <a:pPr indent="0" marL="0">
              <a:buNone/>
            </a:pPr>
            <a:r>
              <a:rPr lang="en-US" sz="2600" b="1" dirty="0">
                <a:solidFill>
                  <a:srgbClr val="4D7255"/>
                </a:solidFill>
                <a:latin typeface="Cambria" pitchFamily="34" charset="0"/>
                <a:ea typeface="Cambria" pitchFamily="34" charset="-122"/>
                <a:cs typeface="Cambria" pitchFamily="34" charset="-120"/>
              </a:rPr>
              <a:t>4</a:t>
            </a:r>
            <a:endParaRPr lang="en-US" sz="2600" dirty="0"/>
          </a:p>
        </p:txBody>
      </p:sp>
      <p:sp>
        <p:nvSpPr>
          <p:cNvPr id="20" name="Text 17"/>
          <p:cNvSpPr txBox="1"/>
          <p:nvPr/>
        </p:nvSpPr>
        <p:spPr>
          <a:xfrm>
            <a:off x="8851392" y="5577840"/>
            <a:ext cx="2468880" cy="219456"/>
          </a:xfrm>
          <a:prstGeom prst="rect">
            <a:avLst/>
          </a:prstGeom>
          <a:noFill/>
          <a:ln/>
        </p:spPr>
        <p:txBody>
          <a:bodyPr wrap="square" lIns="0" tIns="0" rIns="0" bIns="0" rtlCol="0" anchor="ctr"/>
          <a:lstStyle/>
          <a:p>
            <a:pPr indent="0" marL="0">
              <a:buNone/>
            </a:pPr>
            <a:r>
              <a:rPr lang="en-US" sz="1200" b="1" dirty="0">
                <a:solidFill>
                  <a:srgbClr val="2C2825"/>
                </a:solidFill>
                <a:latin typeface="Calibri" pitchFamily="34" charset="0"/>
                <a:ea typeface="Calibri" pitchFamily="34" charset="-122"/>
                <a:cs typeface="Calibri" pitchFamily="34" charset="-120"/>
              </a:rPr>
              <a:t>metros live</a:t>
            </a:r>
            <a:endParaRPr lang="en-US" sz="1200" dirty="0"/>
          </a:p>
        </p:txBody>
      </p:sp>
      <p:sp>
        <p:nvSpPr>
          <p:cNvPr id="21" name="Text 18"/>
          <p:cNvSpPr txBox="1"/>
          <p:nvPr/>
        </p:nvSpPr>
        <p:spPr>
          <a:xfrm>
            <a:off x="8851392" y="5769864"/>
            <a:ext cx="2468880" cy="201168"/>
          </a:xfrm>
          <a:prstGeom prst="rect">
            <a:avLst/>
          </a:prstGeom>
          <a:noFill/>
          <a:ln/>
        </p:spPr>
        <p:txBody>
          <a:bodyPr wrap="square" lIns="0" tIns="0" rIns="0" bIns="0" rtlCol="0" anchor="ctr"/>
          <a:lstStyle/>
          <a:p>
            <a:pPr indent="0" marL="0">
              <a:buNone/>
            </a:pPr>
            <a:r>
              <a:rPr lang="en-US" sz="1050" dirty="0">
                <a:solidFill>
                  <a:srgbClr val="5A534C"/>
                </a:solidFill>
                <a:latin typeface="Calibri" pitchFamily="34" charset="0"/>
                <a:ea typeface="Calibri" pitchFamily="34" charset="-122"/>
                <a:cs typeface="Calibri" pitchFamily="34" charset="-120"/>
              </a:rPr>
              <a:t>plus nationwide shipping</a:t>
            </a:r>
            <a:endParaRPr lang="en-US" sz="1050" dirty="0"/>
          </a:p>
        </p:txBody>
      </p:sp>
      <p:sp>
        <p:nvSpPr>
          <p:cNvPr id="22" name="Text 19"/>
          <p:cNvSpPr txBox="1"/>
          <p:nvPr/>
        </p:nvSpPr>
        <p:spPr>
          <a:xfrm>
            <a:off x="713232" y="6144768"/>
            <a:ext cx="10698480" cy="256032"/>
          </a:xfrm>
          <a:prstGeom prst="rect">
            <a:avLst/>
          </a:prstGeom>
          <a:noFill/>
          <a:ln/>
        </p:spPr>
        <p:txBody>
          <a:bodyPr wrap="square" lIns="0" tIns="0" rIns="0" bIns="0" rtlCol="0" anchor="ctr"/>
          <a:lstStyle/>
          <a:p>
            <a:pPr indent="0" marL="0">
              <a:buNone/>
            </a:pPr>
            <a:r>
              <a:rPr lang="en-US" sz="1000" dirty="0">
                <a:solidFill>
                  <a:srgbClr val="9A9189"/>
                </a:solidFill>
                <a:latin typeface="Calibri" pitchFamily="34" charset="0"/>
                <a:ea typeface="Calibri" pitchFamily="34" charset="-122"/>
                <a:cs typeface="Calibri" pitchFamily="34" charset="-120"/>
              </a:rPr>
              <a:t>$29 per vendor per month, less 10% attrition on each converting cohort. A vendor’s first payment falls three months after signup, at the end of the free trial — so the first revenue month is December 2026.</a:t>
            </a:r>
            <a:endParaRPr lang="en-US" sz="1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AF9F7"/>
        </a:solidFill>
      </p:bgPr>
    </p:bg>
    <p:spTree>
      <p:nvGrpSpPr>
        <p:cNvPr id="1" name=""/>
        <p:cNvGrpSpPr/>
        <p:nvPr/>
      </p:nvGrpSpPr>
      <p:grpSpPr>
        <a:xfrm>
          <a:off x="0" y="0"/>
          <a:ext cx="0" cy="0"/>
          <a:chOff x="0" y="0"/>
          <a:chExt cx="0" cy="0"/>
        </a:xfrm>
      </p:grpSpPr>
      <p:sp>
        <p:nvSpPr>
          <p:cNvPr id="2" name="Text 0"/>
          <p:cNvSpPr txBox="1"/>
          <p:nvPr/>
        </p:nvSpPr>
        <p:spPr>
          <a:xfrm>
            <a:off x="685800" y="502920"/>
            <a:ext cx="7315200" cy="256032"/>
          </a:xfrm>
          <a:prstGeom prst="rect">
            <a:avLst/>
          </a:prstGeom>
          <a:noFill/>
          <a:ln/>
        </p:spPr>
        <p:txBody>
          <a:bodyPr wrap="square" lIns="0" tIns="0" rIns="0" bIns="0" rtlCol="0" anchor="ctr"/>
          <a:lstStyle/>
          <a:p>
            <a:pPr indent="0" marL="0">
              <a:buNone/>
            </a:pPr>
            <a:r>
              <a:rPr lang="en-US" sz="1100" b="1" spc="220" kern="0" dirty="0">
                <a:solidFill>
                  <a:srgbClr val="4D7255"/>
                </a:solidFill>
                <a:latin typeface="Calibri" pitchFamily="34" charset="0"/>
                <a:ea typeface="Calibri" pitchFamily="34" charset="-122"/>
                <a:cs typeface="Calibri" pitchFamily="34" charset="-120"/>
              </a:rPr>
              <a:t>YEARS 1 – 3</a:t>
            </a:r>
            <a:endParaRPr lang="en-US" sz="1100" dirty="0"/>
          </a:p>
        </p:txBody>
      </p:sp>
      <p:sp>
        <p:nvSpPr>
          <p:cNvPr id="3" name="Text 1"/>
          <p:cNvSpPr txBox="1"/>
          <p:nvPr/>
        </p:nvSpPr>
        <p:spPr>
          <a:xfrm>
            <a:off x="685800" y="841248"/>
            <a:ext cx="10789920" cy="658368"/>
          </a:xfrm>
          <a:prstGeom prst="rect">
            <a:avLst/>
          </a:prstGeom>
          <a:noFill/>
          <a:ln/>
        </p:spPr>
        <p:txBody>
          <a:bodyPr wrap="square" lIns="0" tIns="0" rIns="0" bIns="0" rtlCol="0" anchor="t"/>
          <a:lstStyle/>
          <a:p>
            <a:pPr indent="0" marL="0">
              <a:buNone/>
            </a:pPr>
            <a:r>
              <a:rPr lang="en-US" sz="3600" dirty="0">
                <a:solidFill>
                  <a:srgbClr val="2C2825"/>
                </a:solidFill>
                <a:latin typeface="Cambria" pitchFamily="34" charset="0"/>
                <a:ea typeface="Cambria" pitchFamily="34" charset="-122"/>
                <a:cs typeface="Cambria" pitchFamily="34" charset="-120"/>
              </a:rPr>
              <a:t>Five metros by the third year</a:t>
            </a:r>
            <a:endParaRPr lang="en-US" sz="3600" dirty="0"/>
          </a:p>
        </p:txBody>
      </p:sp>
      <p:sp>
        <p:nvSpPr>
          <p:cNvPr id="4" name="Text 2"/>
          <p:cNvSpPr txBox="1"/>
          <p:nvPr/>
        </p:nvSpPr>
        <p:spPr>
          <a:xfrm>
            <a:off x="685800" y="1481328"/>
            <a:ext cx="10424160" cy="384048"/>
          </a:xfrm>
          <a:prstGeom prst="rect">
            <a:avLst/>
          </a:prstGeom>
          <a:noFill/>
          <a:ln/>
        </p:spPr>
        <p:txBody>
          <a:bodyPr wrap="square" lIns="0" tIns="0" rIns="0" bIns="0" rtlCol="0" anchor="ctr"/>
          <a:lstStyle/>
          <a:p>
            <a:pPr indent="0" marL="0">
              <a:lnSpc>
                <a:spcPts val="2000"/>
              </a:lnSpc>
              <a:buNone/>
            </a:pPr>
            <a:r>
              <a:rPr lang="en-US" sz="1350" dirty="0">
                <a:solidFill>
                  <a:srgbClr val="5A534C"/>
                </a:solidFill>
                <a:latin typeface="Calibri" pitchFamily="34" charset="0"/>
                <a:ea typeface="Calibri" pitchFamily="34" charset="-122"/>
                <a:cs typeface="Calibri" pitchFamily="34" charset="-120"/>
              </a:rPr>
              <a:t>The same playbook run city by city, each new metro inheriting a marketplace that already works. Revenue compounds because vendors signed in year one are still subscribing in year three.</a:t>
            </a:r>
            <a:endParaRPr lang="en-US" sz="1350" dirty="0"/>
          </a:p>
        </p:txBody>
      </p:sp>
      <p:graphicFrame>
        <p:nvGraphicFramePr>
          <p:cNvPr id="5" name="Chart 0" descr=""/>
          <p:cNvGraphicFramePr/>
          <p:nvPr/>
        </p:nvGraphicFramePr>
        <p:xfrm>
          <a:off x="640080" y="2286000"/>
          <a:ext cx="4846320" cy="2926080"/>
        </p:xfrm>
        <a:graphic xmlns:a="http://schemas.openxmlformats.org/drawingml/2006/main">
          <a:graphicData uri="http://schemas.openxmlformats.org/drawingml/2006/chart">
            <c:chart xmlns:c="http://schemas.openxmlformats.org/drawingml/2006/chart" r:id="rId1"/>
          </a:graphicData>
        </a:graphic>
      </p:graphicFrame>
      <p:sp>
        <p:nvSpPr>
          <p:cNvPr id="6" name="Text 3"/>
          <p:cNvSpPr txBox="1"/>
          <p:nvPr/>
        </p:nvSpPr>
        <p:spPr>
          <a:xfrm>
            <a:off x="640080" y="5285232"/>
            <a:ext cx="4937760" cy="274320"/>
          </a:xfrm>
          <a:prstGeom prst="rect">
            <a:avLst/>
          </a:prstGeom>
          <a:noFill/>
          <a:ln/>
        </p:spPr>
        <p:txBody>
          <a:bodyPr wrap="square" lIns="0" tIns="0" rIns="0" bIns="0" rtlCol="0" anchor="ctr"/>
          <a:lstStyle/>
          <a:p>
            <a:pPr algn="ctr" indent="0" marL="0">
              <a:buNone/>
            </a:pPr>
            <a:r>
              <a:rPr lang="en-US" sz="1200" b="1" dirty="0">
                <a:solidFill>
                  <a:srgbClr val="8B3E2D"/>
                </a:solidFill>
                <a:latin typeface="Calibri" pitchFamily="34" charset="0"/>
                <a:ea typeface="Calibri" pitchFamily="34" charset="-122"/>
                <a:cs typeface="Calibri" pitchFamily="34" charset="-120"/>
              </a:rPr>
              <a:t>$1,568,572</a:t>
            </a:r>
            <a:pPr algn="ctr" indent="0" marL="0">
              <a:buNone/>
            </a:pPr>
            <a:r>
              <a:rPr lang="en-US" sz="1200" dirty="0">
                <a:solidFill>
                  <a:srgbClr val="5A534C"/>
                </a:solidFill>
                <a:latin typeface="Calibri" pitchFamily="34" charset="0"/>
                <a:ea typeface="Calibri" pitchFamily="34" charset="-122"/>
                <a:cs typeface="Calibri" pitchFamily="34" charset="-120"/>
              </a:rPr>
              <a:t> over three years — exiting at ≈ </a:t>
            </a:r>
            <a:pPr algn="ctr" indent="0" marL="0">
              <a:buNone/>
            </a:pPr>
            <a:r>
              <a:rPr lang="en-US" sz="1200" b="1" dirty="0">
                <a:solidFill>
                  <a:srgbClr val="8B3E2D"/>
                </a:solidFill>
                <a:latin typeface="Calibri" pitchFamily="34" charset="0"/>
                <a:ea typeface="Calibri" pitchFamily="34" charset="-122"/>
                <a:cs typeface="Calibri" pitchFamily="34" charset="-120"/>
              </a:rPr>
              <a:t>$1.21M ARR</a:t>
            </a:r>
            <a:pPr algn="ctr" indent="0" marL="0">
              <a:buNone/>
            </a:pPr>
            <a:r>
              <a:rPr lang="en-US" sz="1200" dirty="0">
                <a:solidFill>
                  <a:srgbClr val="5A534C"/>
                </a:solidFill>
                <a:latin typeface="Calibri" pitchFamily="34" charset="0"/>
                <a:ea typeface="Calibri" pitchFamily="34" charset="-122"/>
                <a:cs typeface="Calibri" pitchFamily="34" charset="-120"/>
              </a:rPr>
              <a:t>.</a:t>
            </a:r>
            <a:endParaRPr lang="en-US" sz="1200" dirty="0"/>
          </a:p>
        </p:txBody>
      </p:sp>
      <p:sp>
        <p:nvSpPr>
          <p:cNvPr id="7" name="Text 4"/>
          <p:cNvSpPr txBox="1"/>
          <p:nvPr/>
        </p:nvSpPr>
        <p:spPr>
          <a:xfrm>
            <a:off x="5806440" y="2286000"/>
            <a:ext cx="5669280" cy="274320"/>
          </a:xfrm>
          <a:prstGeom prst="rect">
            <a:avLst/>
          </a:prstGeom>
          <a:noFill/>
          <a:ln/>
        </p:spPr>
        <p:txBody>
          <a:bodyPr wrap="square" lIns="0" tIns="0" rIns="0" bIns="0" rtlCol="0" anchor="ctr"/>
          <a:lstStyle/>
          <a:p>
            <a:pPr indent="0" marL="0">
              <a:buNone/>
            </a:pPr>
            <a:r>
              <a:rPr lang="en-US" sz="1300" b="1" dirty="0">
                <a:solidFill>
                  <a:srgbClr val="2C2825"/>
                </a:solidFill>
                <a:latin typeface="Calibri" pitchFamily="34" charset="0"/>
                <a:ea typeface="Calibri" pitchFamily="34" charset="-122"/>
                <a:cs typeface="Calibri" pitchFamily="34" charset="-120"/>
              </a:rPr>
              <a:t>Market rollout</a:t>
            </a:r>
            <a:endParaRPr lang="en-US" sz="13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5806440" y="2615184"/>
          <a:ext cx="5669280" cy="914400"/>
        </p:xfrm>
        <a:graphic>
          <a:graphicData uri="http://schemas.openxmlformats.org/drawingml/2006/table">
            <a:tbl>
              <a:tblPr/>
              <a:tblGrid>
                <a:gridCol w="1325880"/>
                <a:gridCol w="914400"/>
                <a:gridCol w="1005840"/>
                <a:gridCol w="868680"/>
                <a:gridCol w="1554480"/>
              </a:tblGrid>
              <a:tr h="283464">
                <a:tc>
                  <a:txBody>
                    <a:bodyPr/>
                    <a:lstStyle/>
                    <a:p>
                      <a:pPr indent="0" marL="0">
                        <a:buNone/>
                      </a:pPr>
                      <a:r>
                        <a:rPr lang="en-US" sz="1000" b="1" dirty="0">
                          <a:solidFill>
                            <a:srgbClr val="8B3E2D"/>
                          </a:solidFill>
                          <a:latin typeface="Calibri" pitchFamily="34" charset="0"/>
                          <a:ea typeface="Calibri" pitchFamily="34" charset="-122"/>
                          <a:cs typeface="Calibri" pitchFamily="34" charset="-120"/>
                        </a:rPr>
                        <a:t>Market</a:t>
                      </a:r>
                      <a:endParaRPr lang="en-US" sz="1000" dirty="0">
                        <a:latin typeface="Calibri" charset="0"/>
                        <a:ea typeface="Calibri" charset="0"/>
                        <a:cs typeface="Calibri" charset="0"/>
                      </a:endParaRPr>
                    </a:p>
                  </a:txBody>
                  <a:tcPr marL="76200" marR="76200" marT="38100" marB="38100" anchor="ctr">
                    <a:lnL w="9525" cap="flat" cmpd="sng" algn="ctr">
                      <a:solidFill>
                        <a:srgbClr val="E7E3DE"/>
                      </a:solidFill>
                      <a:prstDash val="solid"/>
                      <a:round/>
                      <a:headEnd type="none" w="med" len="med"/>
                      <a:tailEnd type="none" w="med" len="med"/>
                    </a:lnL>
                    <a:lnR w="9525" cap="flat" cmpd="sng" algn="ctr">
                      <a:solidFill>
                        <a:srgbClr val="E7E3DE"/>
                      </a:solidFill>
                      <a:prstDash val="solid"/>
                      <a:round/>
                      <a:headEnd type="none" w="med" len="med"/>
                      <a:tailEnd type="none" w="med" len="med"/>
                    </a:lnR>
                    <a:lnT w="9525" cap="flat" cmpd="sng" algn="ctr">
                      <a:solidFill>
                        <a:srgbClr val="E7E3DE"/>
                      </a:solidFill>
                      <a:prstDash val="solid"/>
                      <a:round/>
                      <a:headEnd type="none" w="med" len="med"/>
                      <a:tailEnd type="none" w="med" len="med"/>
                    </a:lnT>
                    <a:lnB w="9525" cap="flat" cmpd="sng" algn="ctr">
                      <a:solidFill>
                        <a:srgbClr val="E7E3DE"/>
                      </a:solidFill>
                      <a:prstDash val="solid"/>
                      <a:round/>
                      <a:headEnd type="none" w="med" len="med"/>
                      <a:tailEnd type="none" w="med" len="med"/>
                    </a:lnB>
                    <a:solidFill>
                      <a:srgbClr val="FFFFFF"/>
                    </a:solidFill>
                  </a:tcPr>
                </a:tc>
                <a:tc>
                  <a:txBody>
                    <a:bodyPr/>
                    <a:lstStyle/>
                    <a:p>
                      <a:pPr indent="0" marL="0">
                        <a:buNone/>
                      </a:pPr>
                      <a:r>
                        <a:rPr lang="en-US" sz="1000" b="1" dirty="0">
                          <a:solidFill>
                            <a:srgbClr val="8B3E2D"/>
                          </a:solidFill>
                          <a:latin typeface="Calibri" pitchFamily="34" charset="0"/>
                          <a:ea typeface="Calibri" pitchFamily="34" charset="-122"/>
                          <a:cs typeface="Calibri" pitchFamily="34" charset="-120"/>
                        </a:rPr>
                        <a:t>First rev.</a:t>
                      </a:r>
                      <a:endParaRPr lang="en-US" sz="1000" dirty="0">
                        <a:latin typeface="Calibri" charset="0"/>
                        <a:ea typeface="Calibri" charset="0"/>
                        <a:cs typeface="Calibri" charset="0"/>
                      </a:endParaRPr>
                    </a:p>
                  </a:txBody>
                  <a:tcPr marL="76200" marR="76200" marT="38100" marB="38100" anchor="ctr">
                    <a:lnL w="9525" cap="flat" cmpd="sng" algn="ctr">
                      <a:solidFill>
                        <a:srgbClr val="E7E3DE"/>
                      </a:solidFill>
                      <a:prstDash val="solid"/>
                      <a:round/>
                      <a:headEnd type="none" w="med" len="med"/>
                      <a:tailEnd type="none" w="med" len="med"/>
                    </a:lnL>
                    <a:lnR w="9525" cap="flat" cmpd="sng" algn="ctr">
                      <a:solidFill>
                        <a:srgbClr val="E7E3DE"/>
                      </a:solidFill>
                      <a:prstDash val="solid"/>
                      <a:round/>
                      <a:headEnd type="none" w="med" len="med"/>
                      <a:tailEnd type="none" w="med" len="med"/>
                    </a:lnR>
                    <a:lnT w="9525" cap="flat" cmpd="sng" algn="ctr">
                      <a:solidFill>
                        <a:srgbClr val="E7E3DE"/>
                      </a:solidFill>
                      <a:prstDash val="solid"/>
                      <a:round/>
                      <a:headEnd type="none" w="med" len="med"/>
                      <a:tailEnd type="none" w="med" len="med"/>
                    </a:lnT>
                    <a:lnB w="9525" cap="flat" cmpd="sng" algn="ctr">
                      <a:solidFill>
                        <a:srgbClr val="E7E3DE"/>
                      </a:solidFill>
                      <a:prstDash val="solid"/>
                      <a:round/>
                      <a:headEnd type="none" w="med" len="med"/>
                      <a:tailEnd type="none" w="med" len="med"/>
                    </a:lnB>
                    <a:solidFill>
                      <a:srgbClr val="FFFFFF"/>
                    </a:solidFill>
                  </a:tcPr>
                </a:tc>
                <a:tc>
                  <a:txBody>
                    <a:bodyPr/>
                    <a:lstStyle/>
                    <a:p>
                      <a:pPr algn="r" indent="0" marL="0">
                        <a:buNone/>
                      </a:pPr>
                      <a:r>
                        <a:rPr lang="en-US" sz="1000" b="1" dirty="0">
                          <a:solidFill>
                            <a:srgbClr val="8B3E2D"/>
                          </a:solidFill>
                          <a:latin typeface="Calibri" pitchFamily="34" charset="0"/>
                          <a:ea typeface="Calibri" pitchFamily="34" charset="-122"/>
                          <a:cs typeface="Calibri" pitchFamily="34" charset="-120"/>
                        </a:rPr>
                        <a:t>Metro pop.</a:t>
                      </a:r>
                      <a:endParaRPr lang="en-US" sz="1000" dirty="0">
                        <a:latin typeface="Calibri" charset="0"/>
                        <a:ea typeface="Calibri" charset="0"/>
                        <a:cs typeface="Calibri" charset="0"/>
                      </a:endParaRPr>
                    </a:p>
                  </a:txBody>
                  <a:tcPr marL="76200" marR="76200" marT="38100" marB="38100" anchor="ctr">
                    <a:lnL w="9525" cap="flat" cmpd="sng" algn="ctr">
                      <a:solidFill>
                        <a:srgbClr val="E7E3DE"/>
                      </a:solidFill>
                      <a:prstDash val="solid"/>
                      <a:round/>
                      <a:headEnd type="none" w="med" len="med"/>
                      <a:tailEnd type="none" w="med" len="med"/>
                    </a:lnL>
                    <a:lnR w="9525" cap="flat" cmpd="sng" algn="ctr">
                      <a:solidFill>
                        <a:srgbClr val="E7E3DE"/>
                      </a:solidFill>
                      <a:prstDash val="solid"/>
                      <a:round/>
                      <a:headEnd type="none" w="med" len="med"/>
                      <a:tailEnd type="none" w="med" len="med"/>
                    </a:lnR>
                    <a:lnT w="9525" cap="flat" cmpd="sng" algn="ctr">
                      <a:solidFill>
                        <a:srgbClr val="E7E3DE"/>
                      </a:solidFill>
                      <a:prstDash val="solid"/>
                      <a:round/>
                      <a:headEnd type="none" w="med" len="med"/>
                      <a:tailEnd type="none" w="med" len="med"/>
                    </a:lnT>
                    <a:lnB w="9525" cap="flat" cmpd="sng" algn="ctr">
                      <a:solidFill>
                        <a:srgbClr val="E7E3DE"/>
                      </a:solidFill>
                      <a:prstDash val="solid"/>
                      <a:round/>
                      <a:headEnd type="none" w="med" len="med"/>
                      <a:tailEnd type="none" w="med" len="med"/>
                    </a:lnB>
                    <a:solidFill>
                      <a:srgbClr val="FFFFFF"/>
                    </a:solidFill>
                  </a:tcPr>
                </a:tc>
                <a:tc>
                  <a:txBody>
                    <a:bodyPr/>
                    <a:lstStyle/>
                    <a:p>
                      <a:pPr algn="r" indent="0" marL="0">
                        <a:buNone/>
                      </a:pPr>
                      <a:r>
                        <a:rPr lang="en-US" sz="1000" b="1" dirty="0">
                          <a:solidFill>
                            <a:srgbClr val="8B3E2D"/>
                          </a:solidFill>
                          <a:latin typeface="Calibri" pitchFamily="34" charset="0"/>
                          <a:ea typeface="Calibri" pitchFamily="34" charset="-122"/>
                          <a:cs typeface="Calibri" pitchFamily="34" charset="-120"/>
                        </a:rPr>
                        <a:t>Vendors</a:t>
                      </a:r>
                      <a:endParaRPr lang="en-US" sz="1000" dirty="0">
                        <a:latin typeface="Calibri" charset="0"/>
                        <a:ea typeface="Calibri" charset="0"/>
                        <a:cs typeface="Calibri" charset="0"/>
                      </a:endParaRPr>
                    </a:p>
                  </a:txBody>
                  <a:tcPr marL="76200" marR="76200" marT="38100" marB="38100" anchor="ctr">
                    <a:lnL w="9525" cap="flat" cmpd="sng" algn="ctr">
                      <a:solidFill>
                        <a:srgbClr val="E7E3DE"/>
                      </a:solidFill>
                      <a:prstDash val="solid"/>
                      <a:round/>
                      <a:headEnd type="none" w="med" len="med"/>
                      <a:tailEnd type="none" w="med" len="med"/>
                    </a:lnL>
                    <a:lnR w="9525" cap="flat" cmpd="sng" algn="ctr">
                      <a:solidFill>
                        <a:srgbClr val="E7E3DE"/>
                      </a:solidFill>
                      <a:prstDash val="solid"/>
                      <a:round/>
                      <a:headEnd type="none" w="med" len="med"/>
                      <a:tailEnd type="none" w="med" len="med"/>
                    </a:lnR>
                    <a:lnT w="9525" cap="flat" cmpd="sng" algn="ctr">
                      <a:solidFill>
                        <a:srgbClr val="E7E3DE"/>
                      </a:solidFill>
                      <a:prstDash val="solid"/>
                      <a:round/>
                      <a:headEnd type="none" w="med" len="med"/>
                      <a:tailEnd type="none" w="med" len="med"/>
                    </a:lnT>
                    <a:lnB w="9525" cap="flat" cmpd="sng" algn="ctr">
                      <a:solidFill>
                        <a:srgbClr val="E7E3DE"/>
                      </a:solidFill>
                      <a:prstDash val="solid"/>
                      <a:round/>
                      <a:headEnd type="none" w="med" len="med"/>
                      <a:tailEnd type="none" w="med" len="med"/>
                    </a:lnB>
                    <a:solidFill>
                      <a:srgbClr val="FFFFFF"/>
                    </a:solidFill>
                  </a:tcPr>
                </a:tc>
                <a:tc>
                  <a:txBody>
                    <a:bodyPr/>
                    <a:lstStyle/>
                    <a:p>
                      <a:pPr algn="r" indent="0" marL="0">
                        <a:buNone/>
                      </a:pPr>
                      <a:r>
                        <a:rPr lang="en-US" sz="1000" b="1" dirty="0">
                          <a:solidFill>
                            <a:srgbClr val="8B3E2D"/>
                          </a:solidFill>
                          <a:latin typeface="Calibri" pitchFamily="34" charset="0"/>
                          <a:ea typeface="Calibri" pitchFamily="34" charset="-122"/>
                          <a:cs typeface="Calibri" pitchFamily="34" charset="-120"/>
                        </a:rPr>
                        <a:t>Pop. per vendor</a:t>
                      </a:r>
                      <a:endParaRPr lang="en-US" sz="1000" dirty="0">
                        <a:latin typeface="Calibri" charset="0"/>
                        <a:ea typeface="Calibri" charset="0"/>
                        <a:cs typeface="Calibri" charset="0"/>
                      </a:endParaRPr>
                    </a:p>
                  </a:txBody>
                  <a:tcPr marL="76200" marR="76200" marT="38100" marB="38100" anchor="ctr">
                    <a:lnL w="9525" cap="flat" cmpd="sng" algn="ctr">
                      <a:solidFill>
                        <a:srgbClr val="E7E3DE"/>
                      </a:solidFill>
                      <a:prstDash val="solid"/>
                      <a:round/>
                      <a:headEnd type="none" w="med" len="med"/>
                      <a:tailEnd type="none" w="med" len="med"/>
                    </a:lnL>
                    <a:lnR w="9525" cap="flat" cmpd="sng" algn="ctr">
                      <a:solidFill>
                        <a:srgbClr val="E7E3DE"/>
                      </a:solidFill>
                      <a:prstDash val="solid"/>
                      <a:round/>
                      <a:headEnd type="none" w="med" len="med"/>
                      <a:tailEnd type="none" w="med" len="med"/>
                    </a:lnR>
                    <a:lnT w="9525" cap="flat" cmpd="sng" algn="ctr">
                      <a:solidFill>
                        <a:srgbClr val="E7E3DE"/>
                      </a:solidFill>
                      <a:prstDash val="solid"/>
                      <a:round/>
                      <a:headEnd type="none" w="med" len="med"/>
                      <a:tailEnd type="none" w="med" len="med"/>
                    </a:lnT>
                    <a:lnB w="9525" cap="flat" cmpd="sng" algn="ctr">
                      <a:solidFill>
                        <a:srgbClr val="E7E3DE"/>
                      </a:solidFill>
                      <a:prstDash val="solid"/>
                      <a:round/>
                      <a:headEnd type="none" w="med" len="med"/>
                      <a:tailEnd type="none" w="med" len="med"/>
                    </a:lnB>
                    <a:solidFill>
                      <a:srgbClr val="FFFFFF"/>
                    </a:solidFill>
                  </a:tcPr>
                </a:tc>
              </a:tr>
              <a:tr h="283464">
                <a:tc>
                  <a:txBody>
                    <a:bodyPr/>
                    <a:lstStyle/>
                    <a:p>
                      <a:pPr indent="0" marL="0">
                        <a:buNone/>
                      </a:pPr>
                      <a:r>
                        <a:rPr lang="en-US" sz="1100" b="1" dirty="0">
                          <a:solidFill>
                            <a:srgbClr val="2C2825"/>
                          </a:solidFill>
                          <a:latin typeface="Calibri" pitchFamily="34" charset="0"/>
                          <a:ea typeface="Calibri" pitchFamily="34" charset="-122"/>
                          <a:cs typeface="Calibri" pitchFamily="34" charset="-120"/>
                        </a:rPr>
                        <a:t>Portland</a:t>
                      </a:r>
                      <a:endParaRPr lang="en-US" sz="1100" dirty="0">
                        <a:latin typeface="Calibri" charset="0"/>
                        <a:ea typeface="Calibri" charset="0"/>
                        <a:cs typeface="Calibri" charset="0"/>
                      </a:endParaRPr>
                    </a:p>
                  </a:txBody>
                  <a:tcPr marL="76200" marR="76200" marT="38100" marB="38100" anchor="ctr">
                    <a:lnL w="9525" cap="flat" cmpd="sng" algn="ctr">
                      <a:solidFill>
                        <a:srgbClr val="E7E3DE"/>
                      </a:solidFill>
                      <a:prstDash val="solid"/>
                      <a:round/>
                      <a:headEnd type="none" w="med" len="med"/>
                      <a:tailEnd type="none" w="med" len="med"/>
                    </a:lnL>
                    <a:lnR w="9525" cap="flat" cmpd="sng" algn="ctr">
                      <a:solidFill>
                        <a:srgbClr val="E7E3DE"/>
                      </a:solidFill>
                      <a:prstDash val="solid"/>
                      <a:round/>
                      <a:headEnd type="none" w="med" len="med"/>
                      <a:tailEnd type="none" w="med" len="med"/>
                    </a:lnR>
                    <a:lnT w="9525" cap="flat" cmpd="sng" algn="ctr">
                      <a:solidFill>
                        <a:srgbClr val="E7E3DE"/>
                      </a:solidFill>
                      <a:prstDash val="solid"/>
                      <a:round/>
                      <a:headEnd type="none" w="med" len="med"/>
                      <a:tailEnd type="none" w="med" len="med"/>
                    </a:lnT>
                    <a:lnB w="9525" cap="flat" cmpd="sng" algn="ctr">
                      <a:solidFill>
                        <a:srgbClr val="E7E3DE"/>
                      </a:solidFill>
                      <a:prstDash val="solid"/>
                      <a:round/>
                      <a:headEnd type="none" w="med" len="med"/>
                      <a:tailEnd type="none" w="med" len="med"/>
                    </a:lnB>
                    <a:solidFill>
                      <a:srgbClr val="FFFFFF"/>
                    </a:solidFill>
                  </a:tcPr>
                </a:tc>
                <a:tc>
                  <a:txBody>
                    <a:bodyPr/>
                    <a:lstStyle/>
                    <a:p>
                      <a:pPr indent="0" marL="0">
                        <a:buNone/>
                      </a:pPr>
                      <a:r>
                        <a:rPr lang="en-US" sz="1100" dirty="0">
                          <a:solidFill>
                            <a:srgbClr val="5A534C"/>
                          </a:solidFill>
                          <a:latin typeface="Calibri" pitchFamily="34" charset="0"/>
                          <a:ea typeface="Calibri" pitchFamily="34" charset="-122"/>
                          <a:cs typeface="Calibri" pitchFamily="34" charset="-120"/>
                        </a:rPr>
                        <a:t>Dec '26</a:t>
                      </a:r>
                      <a:endParaRPr lang="en-US" sz="1100" dirty="0">
                        <a:latin typeface="Calibri" charset="0"/>
                        <a:ea typeface="Calibri" charset="0"/>
                        <a:cs typeface="Calibri" charset="0"/>
                      </a:endParaRPr>
                    </a:p>
                  </a:txBody>
                  <a:tcPr marL="76200" marR="76200" marT="38100" marB="38100" anchor="ctr">
                    <a:lnL w="9525" cap="flat" cmpd="sng" algn="ctr">
                      <a:solidFill>
                        <a:srgbClr val="E7E3DE"/>
                      </a:solidFill>
                      <a:prstDash val="solid"/>
                      <a:round/>
                      <a:headEnd type="none" w="med" len="med"/>
                      <a:tailEnd type="none" w="med" len="med"/>
                    </a:lnL>
                    <a:lnR w="9525" cap="flat" cmpd="sng" algn="ctr">
                      <a:solidFill>
                        <a:srgbClr val="E7E3DE"/>
                      </a:solidFill>
                      <a:prstDash val="solid"/>
                      <a:round/>
                      <a:headEnd type="none" w="med" len="med"/>
                      <a:tailEnd type="none" w="med" len="med"/>
                    </a:lnR>
                    <a:lnT w="9525" cap="flat" cmpd="sng" algn="ctr">
                      <a:solidFill>
                        <a:srgbClr val="E7E3DE"/>
                      </a:solidFill>
                      <a:prstDash val="solid"/>
                      <a:round/>
                      <a:headEnd type="none" w="med" len="med"/>
                      <a:tailEnd type="none" w="med" len="med"/>
                    </a:lnT>
                    <a:lnB w="9525" cap="flat" cmpd="sng" algn="ctr">
                      <a:solidFill>
                        <a:srgbClr val="E7E3DE"/>
                      </a:solidFill>
                      <a:prstDash val="solid"/>
                      <a:round/>
                      <a:headEnd type="none" w="med" len="med"/>
                      <a:tailEnd type="none" w="med" len="med"/>
                    </a:lnB>
                    <a:solidFill>
                      <a:srgbClr val="FFFFFF"/>
                    </a:solidFill>
                  </a:tcPr>
                </a:tc>
                <a:tc>
                  <a:txBody>
                    <a:bodyPr/>
                    <a:lstStyle/>
                    <a:p>
                      <a:pPr algn="r" indent="0" marL="0">
                        <a:buNone/>
                      </a:pPr>
                      <a:r>
                        <a:rPr lang="en-US" sz="1100" dirty="0">
                          <a:solidFill>
                            <a:srgbClr val="5A534C"/>
                          </a:solidFill>
                          <a:latin typeface="Calibri" pitchFamily="34" charset="0"/>
                          <a:ea typeface="Calibri" pitchFamily="34" charset="-122"/>
                          <a:cs typeface="Calibri" pitchFamily="34" charset="-120"/>
                        </a:rPr>
                        <a:t>2.5M</a:t>
                      </a:r>
                      <a:endParaRPr lang="en-US" sz="1100" dirty="0">
                        <a:latin typeface="Calibri" charset="0"/>
                        <a:ea typeface="Calibri" charset="0"/>
                        <a:cs typeface="Calibri" charset="0"/>
                      </a:endParaRPr>
                    </a:p>
                  </a:txBody>
                  <a:tcPr marL="76200" marR="76200" marT="38100" marB="38100" anchor="ctr">
                    <a:lnL w="9525" cap="flat" cmpd="sng" algn="ctr">
                      <a:solidFill>
                        <a:srgbClr val="E7E3DE"/>
                      </a:solidFill>
                      <a:prstDash val="solid"/>
                      <a:round/>
                      <a:headEnd type="none" w="med" len="med"/>
                      <a:tailEnd type="none" w="med" len="med"/>
                    </a:lnL>
                    <a:lnR w="9525" cap="flat" cmpd="sng" algn="ctr">
                      <a:solidFill>
                        <a:srgbClr val="E7E3DE"/>
                      </a:solidFill>
                      <a:prstDash val="solid"/>
                      <a:round/>
                      <a:headEnd type="none" w="med" len="med"/>
                      <a:tailEnd type="none" w="med" len="med"/>
                    </a:lnR>
                    <a:lnT w="9525" cap="flat" cmpd="sng" algn="ctr">
                      <a:solidFill>
                        <a:srgbClr val="E7E3DE"/>
                      </a:solidFill>
                      <a:prstDash val="solid"/>
                      <a:round/>
                      <a:headEnd type="none" w="med" len="med"/>
                      <a:tailEnd type="none" w="med" len="med"/>
                    </a:lnT>
                    <a:lnB w="9525" cap="flat" cmpd="sng" algn="ctr">
                      <a:solidFill>
                        <a:srgbClr val="E7E3DE"/>
                      </a:solidFill>
                      <a:prstDash val="solid"/>
                      <a:round/>
                      <a:headEnd type="none" w="med" len="med"/>
                      <a:tailEnd type="none" w="med" len="med"/>
                    </a:lnB>
                    <a:solidFill>
                      <a:srgbClr val="FFFFFF"/>
                    </a:solidFill>
                  </a:tcPr>
                </a:tc>
                <a:tc>
                  <a:txBody>
                    <a:bodyPr/>
                    <a:lstStyle/>
                    <a:p>
                      <a:pPr algn="r" indent="0" marL="0">
                        <a:buNone/>
                      </a:pPr>
                      <a:r>
                        <a:rPr lang="en-US" sz="1100" dirty="0">
                          <a:solidFill>
                            <a:srgbClr val="2C2825"/>
                          </a:solidFill>
                          <a:latin typeface="Calibri" pitchFamily="34" charset="0"/>
                          <a:ea typeface="Calibri" pitchFamily="34" charset="-122"/>
                          <a:cs typeface="Calibri" pitchFamily="34" charset="-120"/>
                        </a:rPr>
                        <a:t>398</a:t>
                      </a:r>
                      <a:endParaRPr lang="en-US" sz="1100" dirty="0">
                        <a:latin typeface="Calibri" charset="0"/>
                        <a:ea typeface="Calibri" charset="0"/>
                        <a:cs typeface="Calibri" charset="0"/>
                      </a:endParaRPr>
                    </a:p>
                  </a:txBody>
                  <a:tcPr marL="76200" marR="76200" marT="38100" marB="38100" anchor="ctr">
                    <a:lnL w="9525" cap="flat" cmpd="sng" algn="ctr">
                      <a:solidFill>
                        <a:srgbClr val="E7E3DE"/>
                      </a:solidFill>
                      <a:prstDash val="solid"/>
                      <a:round/>
                      <a:headEnd type="none" w="med" len="med"/>
                      <a:tailEnd type="none" w="med" len="med"/>
                    </a:lnL>
                    <a:lnR w="9525" cap="flat" cmpd="sng" algn="ctr">
                      <a:solidFill>
                        <a:srgbClr val="E7E3DE"/>
                      </a:solidFill>
                      <a:prstDash val="solid"/>
                      <a:round/>
                      <a:headEnd type="none" w="med" len="med"/>
                      <a:tailEnd type="none" w="med" len="med"/>
                    </a:lnR>
                    <a:lnT w="9525" cap="flat" cmpd="sng" algn="ctr">
                      <a:solidFill>
                        <a:srgbClr val="E7E3DE"/>
                      </a:solidFill>
                      <a:prstDash val="solid"/>
                      <a:round/>
                      <a:headEnd type="none" w="med" len="med"/>
                      <a:tailEnd type="none" w="med" len="med"/>
                    </a:lnT>
                    <a:lnB w="9525" cap="flat" cmpd="sng" algn="ctr">
                      <a:solidFill>
                        <a:srgbClr val="E7E3DE"/>
                      </a:solidFill>
                      <a:prstDash val="solid"/>
                      <a:round/>
                      <a:headEnd type="none" w="med" len="med"/>
                      <a:tailEnd type="none" w="med" len="med"/>
                    </a:lnB>
                    <a:solidFill>
                      <a:srgbClr val="FFFFFF"/>
                    </a:solidFill>
                  </a:tcPr>
                </a:tc>
                <a:tc>
                  <a:txBody>
                    <a:bodyPr/>
                    <a:lstStyle/>
                    <a:p>
                      <a:pPr algn="r" indent="0" marL="0">
                        <a:buNone/>
                      </a:pPr>
                      <a:r>
                        <a:rPr lang="en-US" sz="1100" dirty="0">
                          <a:solidFill>
                            <a:srgbClr val="5A534C"/>
                          </a:solidFill>
                          <a:latin typeface="Calibri" pitchFamily="34" charset="0"/>
                          <a:ea typeface="Calibri" pitchFamily="34" charset="-122"/>
                          <a:cs typeface="Calibri" pitchFamily="34" charset="-120"/>
                        </a:rPr>
                        <a:t>6,281</a:t>
                      </a:r>
                      <a:endParaRPr lang="en-US" sz="1100" dirty="0">
                        <a:latin typeface="Calibri" charset="0"/>
                        <a:ea typeface="Calibri" charset="0"/>
                        <a:cs typeface="Calibri" charset="0"/>
                      </a:endParaRPr>
                    </a:p>
                  </a:txBody>
                  <a:tcPr marL="76200" marR="76200" marT="38100" marB="38100" anchor="ctr">
                    <a:lnL w="9525" cap="flat" cmpd="sng" algn="ctr">
                      <a:solidFill>
                        <a:srgbClr val="E7E3DE"/>
                      </a:solidFill>
                      <a:prstDash val="solid"/>
                      <a:round/>
                      <a:headEnd type="none" w="med" len="med"/>
                      <a:tailEnd type="none" w="med" len="med"/>
                    </a:lnL>
                    <a:lnR w="9525" cap="flat" cmpd="sng" algn="ctr">
                      <a:solidFill>
                        <a:srgbClr val="E7E3DE"/>
                      </a:solidFill>
                      <a:prstDash val="solid"/>
                      <a:round/>
                      <a:headEnd type="none" w="med" len="med"/>
                      <a:tailEnd type="none" w="med" len="med"/>
                    </a:lnR>
                    <a:lnT w="9525" cap="flat" cmpd="sng" algn="ctr">
                      <a:solidFill>
                        <a:srgbClr val="E7E3DE"/>
                      </a:solidFill>
                      <a:prstDash val="solid"/>
                      <a:round/>
                      <a:headEnd type="none" w="med" len="med"/>
                      <a:tailEnd type="none" w="med" len="med"/>
                    </a:lnT>
                    <a:lnB w="9525" cap="flat" cmpd="sng" algn="ctr">
                      <a:solidFill>
                        <a:srgbClr val="E7E3DE"/>
                      </a:solidFill>
                      <a:prstDash val="solid"/>
                      <a:round/>
                      <a:headEnd type="none" w="med" len="med"/>
                      <a:tailEnd type="none" w="med" len="med"/>
                    </a:lnB>
                    <a:solidFill>
                      <a:srgbClr val="FFFFFF"/>
                    </a:solidFill>
                  </a:tcPr>
                </a:tc>
              </a:tr>
              <a:tr h="283464">
                <a:tc>
                  <a:txBody>
                    <a:bodyPr/>
                    <a:lstStyle/>
                    <a:p>
                      <a:pPr indent="0" marL="0">
                        <a:buNone/>
                      </a:pPr>
                      <a:r>
                        <a:rPr lang="en-US" sz="1100" b="1" dirty="0">
                          <a:solidFill>
                            <a:srgbClr val="2C2825"/>
                          </a:solidFill>
                          <a:latin typeface="Calibri" pitchFamily="34" charset="0"/>
                          <a:ea typeface="Calibri" pitchFamily="34" charset="-122"/>
                          <a:cs typeface="Calibri" pitchFamily="34" charset="-120"/>
                        </a:rPr>
                        <a:t>Denver</a:t>
                      </a:r>
                      <a:endParaRPr lang="en-US" sz="1100" dirty="0">
                        <a:latin typeface="Calibri" charset="0"/>
                        <a:ea typeface="Calibri" charset="0"/>
                        <a:cs typeface="Calibri" charset="0"/>
                      </a:endParaRPr>
                    </a:p>
                  </a:txBody>
                  <a:tcPr marL="76200" marR="76200" marT="38100" marB="38100" anchor="ctr">
                    <a:lnL w="9525" cap="flat" cmpd="sng" algn="ctr">
                      <a:solidFill>
                        <a:srgbClr val="E7E3DE"/>
                      </a:solidFill>
                      <a:prstDash val="solid"/>
                      <a:round/>
                      <a:headEnd type="none" w="med" len="med"/>
                      <a:tailEnd type="none" w="med" len="med"/>
                    </a:lnL>
                    <a:lnR w="9525" cap="flat" cmpd="sng" algn="ctr">
                      <a:solidFill>
                        <a:srgbClr val="E7E3DE"/>
                      </a:solidFill>
                      <a:prstDash val="solid"/>
                      <a:round/>
                      <a:headEnd type="none" w="med" len="med"/>
                      <a:tailEnd type="none" w="med" len="med"/>
                    </a:lnR>
                    <a:lnT w="9525" cap="flat" cmpd="sng" algn="ctr">
                      <a:solidFill>
                        <a:srgbClr val="E7E3DE"/>
                      </a:solidFill>
                      <a:prstDash val="solid"/>
                      <a:round/>
                      <a:headEnd type="none" w="med" len="med"/>
                      <a:tailEnd type="none" w="med" len="med"/>
                    </a:lnT>
                    <a:lnB w="9525" cap="flat" cmpd="sng" algn="ctr">
                      <a:solidFill>
                        <a:srgbClr val="E7E3DE"/>
                      </a:solidFill>
                      <a:prstDash val="solid"/>
                      <a:round/>
                      <a:headEnd type="none" w="med" len="med"/>
                      <a:tailEnd type="none" w="med" len="med"/>
                    </a:lnB>
                    <a:solidFill>
                      <a:srgbClr val="FFFFFF"/>
                    </a:solidFill>
                  </a:tcPr>
                </a:tc>
                <a:tc>
                  <a:txBody>
                    <a:bodyPr/>
                    <a:lstStyle/>
                    <a:p>
                      <a:pPr indent="0" marL="0">
                        <a:buNone/>
                      </a:pPr>
                      <a:r>
                        <a:rPr lang="en-US" sz="1100" dirty="0">
                          <a:solidFill>
                            <a:srgbClr val="5A534C"/>
                          </a:solidFill>
                          <a:latin typeface="Calibri" pitchFamily="34" charset="0"/>
                          <a:ea typeface="Calibri" pitchFamily="34" charset="-122"/>
                          <a:cs typeface="Calibri" pitchFamily="34" charset="-120"/>
                        </a:rPr>
                        <a:t>Dec '26</a:t>
                      </a:r>
                      <a:endParaRPr lang="en-US" sz="1100" dirty="0">
                        <a:latin typeface="Calibri" charset="0"/>
                        <a:ea typeface="Calibri" charset="0"/>
                        <a:cs typeface="Calibri" charset="0"/>
                      </a:endParaRPr>
                    </a:p>
                  </a:txBody>
                  <a:tcPr marL="76200" marR="76200" marT="38100" marB="38100" anchor="ctr">
                    <a:lnL w="9525" cap="flat" cmpd="sng" algn="ctr">
                      <a:solidFill>
                        <a:srgbClr val="E7E3DE"/>
                      </a:solidFill>
                      <a:prstDash val="solid"/>
                      <a:round/>
                      <a:headEnd type="none" w="med" len="med"/>
                      <a:tailEnd type="none" w="med" len="med"/>
                    </a:lnL>
                    <a:lnR w="9525" cap="flat" cmpd="sng" algn="ctr">
                      <a:solidFill>
                        <a:srgbClr val="E7E3DE"/>
                      </a:solidFill>
                      <a:prstDash val="solid"/>
                      <a:round/>
                      <a:headEnd type="none" w="med" len="med"/>
                      <a:tailEnd type="none" w="med" len="med"/>
                    </a:lnR>
                    <a:lnT w="9525" cap="flat" cmpd="sng" algn="ctr">
                      <a:solidFill>
                        <a:srgbClr val="E7E3DE"/>
                      </a:solidFill>
                      <a:prstDash val="solid"/>
                      <a:round/>
                      <a:headEnd type="none" w="med" len="med"/>
                      <a:tailEnd type="none" w="med" len="med"/>
                    </a:lnT>
                    <a:lnB w="9525" cap="flat" cmpd="sng" algn="ctr">
                      <a:solidFill>
                        <a:srgbClr val="E7E3DE"/>
                      </a:solidFill>
                      <a:prstDash val="solid"/>
                      <a:round/>
                      <a:headEnd type="none" w="med" len="med"/>
                      <a:tailEnd type="none" w="med" len="med"/>
                    </a:lnB>
                    <a:solidFill>
                      <a:srgbClr val="FFFFFF"/>
                    </a:solidFill>
                  </a:tcPr>
                </a:tc>
                <a:tc>
                  <a:txBody>
                    <a:bodyPr/>
                    <a:lstStyle/>
                    <a:p>
                      <a:pPr algn="r" indent="0" marL="0">
                        <a:buNone/>
                      </a:pPr>
                      <a:r>
                        <a:rPr lang="en-US" sz="1100" dirty="0">
                          <a:solidFill>
                            <a:srgbClr val="5A534C"/>
                          </a:solidFill>
                          <a:latin typeface="Calibri" pitchFamily="34" charset="0"/>
                          <a:ea typeface="Calibri" pitchFamily="34" charset="-122"/>
                          <a:cs typeface="Calibri" pitchFamily="34" charset="-120"/>
                        </a:rPr>
                        <a:t>3.0M</a:t>
                      </a:r>
                      <a:endParaRPr lang="en-US" sz="1100" dirty="0">
                        <a:latin typeface="Calibri" charset="0"/>
                        <a:ea typeface="Calibri" charset="0"/>
                        <a:cs typeface="Calibri" charset="0"/>
                      </a:endParaRPr>
                    </a:p>
                  </a:txBody>
                  <a:tcPr marL="76200" marR="76200" marT="38100" marB="38100" anchor="ctr">
                    <a:lnL w="9525" cap="flat" cmpd="sng" algn="ctr">
                      <a:solidFill>
                        <a:srgbClr val="E7E3DE"/>
                      </a:solidFill>
                      <a:prstDash val="solid"/>
                      <a:round/>
                      <a:headEnd type="none" w="med" len="med"/>
                      <a:tailEnd type="none" w="med" len="med"/>
                    </a:lnL>
                    <a:lnR w="9525" cap="flat" cmpd="sng" algn="ctr">
                      <a:solidFill>
                        <a:srgbClr val="E7E3DE"/>
                      </a:solidFill>
                      <a:prstDash val="solid"/>
                      <a:round/>
                      <a:headEnd type="none" w="med" len="med"/>
                      <a:tailEnd type="none" w="med" len="med"/>
                    </a:lnR>
                    <a:lnT w="9525" cap="flat" cmpd="sng" algn="ctr">
                      <a:solidFill>
                        <a:srgbClr val="E7E3DE"/>
                      </a:solidFill>
                      <a:prstDash val="solid"/>
                      <a:round/>
                      <a:headEnd type="none" w="med" len="med"/>
                      <a:tailEnd type="none" w="med" len="med"/>
                    </a:lnT>
                    <a:lnB w="9525" cap="flat" cmpd="sng" algn="ctr">
                      <a:solidFill>
                        <a:srgbClr val="E7E3DE"/>
                      </a:solidFill>
                      <a:prstDash val="solid"/>
                      <a:round/>
                      <a:headEnd type="none" w="med" len="med"/>
                      <a:tailEnd type="none" w="med" len="med"/>
                    </a:lnB>
                    <a:solidFill>
                      <a:srgbClr val="FFFFFF"/>
                    </a:solidFill>
                  </a:tcPr>
                </a:tc>
                <a:tc>
                  <a:txBody>
                    <a:bodyPr/>
                    <a:lstStyle/>
                    <a:p>
                      <a:pPr algn="r" indent="0" marL="0">
                        <a:buNone/>
                      </a:pPr>
                      <a:r>
                        <a:rPr lang="en-US" sz="1100" dirty="0">
                          <a:solidFill>
                            <a:srgbClr val="2C2825"/>
                          </a:solidFill>
                          <a:latin typeface="Calibri" pitchFamily="34" charset="0"/>
                          <a:ea typeface="Calibri" pitchFamily="34" charset="-122"/>
                          <a:cs typeface="Calibri" pitchFamily="34" charset="-120"/>
                        </a:rPr>
                        <a:t>418</a:t>
                      </a:r>
                      <a:endParaRPr lang="en-US" sz="1100" dirty="0">
                        <a:latin typeface="Calibri" charset="0"/>
                        <a:ea typeface="Calibri" charset="0"/>
                        <a:cs typeface="Calibri" charset="0"/>
                      </a:endParaRPr>
                    </a:p>
                  </a:txBody>
                  <a:tcPr marL="76200" marR="76200" marT="38100" marB="38100" anchor="ctr">
                    <a:lnL w="9525" cap="flat" cmpd="sng" algn="ctr">
                      <a:solidFill>
                        <a:srgbClr val="E7E3DE"/>
                      </a:solidFill>
                      <a:prstDash val="solid"/>
                      <a:round/>
                      <a:headEnd type="none" w="med" len="med"/>
                      <a:tailEnd type="none" w="med" len="med"/>
                    </a:lnL>
                    <a:lnR w="9525" cap="flat" cmpd="sng" algn="ctr">
                      <a:solidFill>
                        <a:srgbClr val="E7E3DE"/>
                      </a:solidFill>
                      <a:prstDash val="solid"/>
                      <a:round/>
                      <a:headEnd type="none" w="med" len="med"/>
                      <a:tailEnd type="none" w="med" len="med"/>
                    </a:lnR>
                    <a:lnT w="9525" cap="flat" cmpd="sng" algn="ctr">
                      <a:solidFill>
                        <a:srgbClr val="E7E3DE"/>
                      </a:solidFill>
                      <a:prstDash val="solid"/>
                      <a:round/>
                      <a:headEnd type="none" w="med" len="med"/>
                      <a:tailEnd type="none" w="med" len="med"/>
                    </a:lnT>
                    <a:lnB w="9525" cap="flat" cmpd="sng" algn="ctr">
                      <a:solidFill>
                        <a:srgbClr val="E7E3DE"/>
                      </a:solidFill>
                      <a:prstDash val="solid"/>
                      <a:round/>
                      <a:headEnd type="none" w="med" len="med"/>
                      <a:tailEnd type="none" w="med" len="med"/>
                    </a:lnB>
                    <a:solidFill>
                      <a:srgbClr val="FFFFFF"/>
                    </a:solidFill>
                  </a:tcPr>
                </a:tc>
                <a:tc>
                  <a:txBody>
                    <a:bodyPr/>
                    <a:lstStyle/>
                    <a:p>
                      <a:pPr algn="r" indent="0" marL="0">
                        <a:buNone/>
                      </a:pPr>
                      <a:r>
                        <a:rPr lang="en-US" sz="1100" dirty="0">
                          <a:solidFill>
                            <a:srgbClr val="5A534C"/>
                          </a:solidFill>
                          <a:latin typeface="Calibri" pitchFamily="34" charset="0"/>
                          <a:ea typeface="Calibri" pitchFamily="34" charset="-122"/>
                          <a:cs typeface="Calibri" pitchFamily="34" charset="-120"/>
                        </a:rPr>
                        <a:t>7,177</a:t>
                      </a:r>
                      <a:endParaRPr lang="en-US" sz="1100" dirty="0">
                        <a:latin typeface="Calibri" charset="0"/>
                        <a:ea typeface="Calibri" charset="0"/>
                        <a:cs typeface="Calibri" charset="0"/>
                      </a:endParaRPr>
                    </a:p>
                  </a:txBody>
                  <a:tcPr marL="76200" marR="76200" marT="38100" marB="38100" anchor="ctr">
                    <a:lnL w="9525" cap="flat" cmpd="sng" algn="ctr">
                      <a:solidFill>
                        <a:srgbClr val="E7E3DE"/>
                      </a:solidFill>
                      <a:prstDash val="solid"/>
                      <a:round/>
                      <a:headEnd type="none" w="med" len="med"/>
                      <a:tailEnd type="none" w="med" len="med"/>
                    </a:lnL>
                    <a:lnR w="9525" cap="flat" cmpd="sng" algn="ctr">
                      <a:solidFill>
                        <a:srgbClr val="E7E3DE"/>
                      </a:solidFill>
                      <a:prstDash val="solid"/>
                      <a:round/>
                      <a:headEnd type="none" w="med" len="med"/>
                      <a:tailEnd type="none" w="med" len="med"/>
                    </a:lnR>
                    <a:lnT w="9525" cap="flat" cmpd="sng" algn="ctr">
                      <a:solidFill>
                        <a:srgbClr val="E7E3DE"/>
                      </a:solidFill>
                      <a:prstDash val="solid"/>
                      <a:round/>
                      <a:headEnd type="none" w="med" len="med"/>
                      <a:tailEnd type="none" w="med" len="med"/>
                    </a:lnT>
                    <a:lnB w="9525" cap="flat" cmpd="sng" algn="ctr">
                      <a:solidFill>
                        <a:srgbClr val="E7E3DE"/>
                      </a:solidFill>
                      <a:prstDash val="solid"/>
                      <a:round/>
                      <a:headEnd type="none" w="med" len="med"/>
                      <a:tailEnd type="none" w="med" len="med"/>
                    </a:lnB>
                    <a:solidFill>
                      <a:srgbClr val="FFFFFF"/>
                    </a:solidFill>
                  </a:tcPr>
                </a:tc>
              </a:tr>
              <a:tr h="283464">
                <a:tc>
                  <a:txBody>
                    <a:bodyPr/>
                    <a:lstStyle/>
                    <a:p>
                      <a:pPr indent="0" marL="0">
                        <a:buNone/>
                      </a:pPr>
                      <a:r>
                        <a:rPr lang="en-US" sz="1100" b="1" dirty="0">
                          <a:solidFill>
                            <a:srgbClr val="2C2825"/>
                          </a:solidFill>
                          <a:latin typeface="Calibri" pitchFamily="34" charset="0"/>
                          <a:ea typeface="Calibri" pitchFamily="34" charset="-122"/>
                          <a:cs typeface="Calibri" pitchFamily="34" charset="-120"/>
                        </a:rPr>
                        <a:t>Seattle</a:t>
                      </a:r>
                      <a:endParaRPr lang="en-US" sz="1100" dirty="0">
                        <a:latin typeface="Calibri" charset="0"/>
                        <a:ea typeface="Calibri" charset="0"/>
                        <a:cs typeface="Calibri" charset="0"/>
                      </a:endParaRPr>
                    </a:p>
                  </a:txBody>
                  <a:tcPr marL="76200" marR="76200" marT="38100" marB="38100" anchor="ctr">
                    <a:lnL w="9525" cap="flat" cmpd="sng" algn="ctr">
                      <a:solidFill>
                        <a:srgbClr val="E7E3DE"/>
                      </a:solidFill>
                      <a:prstDash val="solid"/>
                      <a:round/>
                      <a:headEnd type="none" w="med" len="med"/>
                      <a:tailEnd type="none" w="med" len="med"/>
                    </a:lnL>
                    <a:lnR w="9525" cap="flat" cmpd="sng" algn="ctr">
                      <a:solidFill>
                        <a:srgbClr val="E7E3DE"/>
                      </a:solidFill>
                      <a:prstDash val="solid"/>
                      <a:round/>
                      <a:headEnd type="none" w="med" len="med"/>
                      <a:tailEnd type="none" w="med" len="med"/>
                    </a:lnR>
                    <a:lnT w="9525" cap="flat" cmpd="sng" algn="ctr">
                      <a:solidFill>
                        <a:srgbClr val="E7E3DE"/>
                      </a:solidFill>
                      <a:prstDash val="solid"/>
                      <a:round/>
                      <a:headEnd type="none" w="med" len="med"/>
                      <a:tailEnd type="none" w="med" len="med"/>
                    </a:lnT>
                    <a:lnB w="9525" cap="flat" cmpd="sng" algn="ctr">
                      <a:solidFill>
                        <a:srgbClr val="E7E3DE"/>
                      </a:solidFill>
                      <a:prstDash val="solid"/>
                      <a:round/>
                      <a:headEnd type="none" w="med" len="med"/>
                      <a:tailEnd type="none" w="med" len="med"/>
                    </a:lnB>
                    <a:solidFill>
                      <a:srgbClr val="FFFFFF"/>
                    </a:solidFill>
                  </a:tcPr>
                </a:tc>
                <a:tc>
                  <a:txBody>
                    <a:bodyPr/>
                    <a:lstStyle/>
                    <a:p>
                      <a:pPr indent="0" marL="0">
                        <a:buNone/>
                      </a:pPr>
                      <a:r>
                        <a:rPr lang="en-US" sz="1100" dirty="0">
                          <a:solidFill>
                            <a:srgbClr val="5A534C"/>
                          </a:solidFill>
                          <a:latin typeface="Calibri" pitchFamily="34" charset="0"/>
                          <a:ea typeface="Calibri" pitchFamily="34" charset="-122"/>
                          <a:cs typeface="Calibri" pitchFamily="34" charset="-120"/>
                        </a:rPr>
                        <a:t>May '27</a:t>
                      </a:r>
                      <a:endParaRPr lang="en-US" sz="1100" dirty="0">
                        <a:latin typeface="Calibri" charset="0"/>
                        <a:ea typeface="Calibri" charset="0"/>
                        <a:cs typeface="Calibri" charset="0"/>
                      </a:endParaRPr>
                    </a:p>
                  </a:txBody>
                  <a:tcPr marL="76200" marR="76200" marT="38100" marB="38100" anchor="ctr">
                    <a:lnL w="9525" cap="flat" cmpd="sng" algn="ctr">
                      <a:solidFill>
                        <a:srgbClr val="E7E3DE"/>
                      </a:solidFill>
                      <a:prstDash val="solid"/>
                      <a:round/>
                      <a:headEnd type="none" w="med" len="med"/>
                      <a:tailEnd type="none" w="med" len="med"/>
                    </a:lnL>
                    <a:lnR w="9525" cap="flat" cmpd="sng" algn="ctr">
                      <a:solidFill>
                        <a:srgbClr val="E7E3DE"/>
                      </a:solidFill>
                      <a:prstDash val="solid"/>
                      <a:round/>
                      <a:headEnd type="none" w="med" len="med"/>
                      <a:tailEnd type="none" w="med" len="med"/>
                    </a:lnR>
                    <a:lnT w="9525" cap="flat" cmpd="sng" algn="ctr">
                      <a:solidFill>
                        <a:srgbClr val="E7E3DE"/>
                      </a:solidFill>
                      <a:prstDash val="solid"/>
                      <a:round/>
                      <a:headEnd type="none" w="med" len="med"/>
                      <a:tailEnd type="none" w="med" len="med"/>
                    </a:lnT>
                    <a:lnB w="9525" cap="flat" cmpd="sng" algn="ctr">
                      <a:solidFill>
                        <a:srgbClr val="E7E3DE"/>
                      </a:solidFill>
                      <a:prstDash val="solid"/>
                      <a:round/>
                      <a:headEnd type="none" w="med" len="med"/>
                      <a:tailEnd type="none" w="med" len="med"/>
                    </a:lnB>
                    <a:solidFill>
                      <a:srgbClr val="FFFFFF"/>
                    </a:solidFill>
                  </a:tcPr>
                </a:tc>
                <a:tc>
                  <a:txBody>
                    <a:bodyPr/>
                    <a:lstStyle/>
                    <a:p>
                      <a:pPr algn="r" indent="0" marL="0">
                        <a:buNone/>
                      </a:pPr>
                      <a:r>
                        <a:rPr lang="en-US" sz="1100" dirty="0">
                          <a:solidFill>
                            <a:srgbClr val="5A534C"/>
                          </a:solidFill>
                          <a:latin typeface="Calibri" pitchFamily="34" charset="0"/>
                          <a:ea typeface="Calibri" pitchFamily="34" charset="-122"/>
                          <a:cs typeface="Calibri" pitchFamily="34" charset="-120"/>
                        </a:rPr>
                        <a:t>4.1M</a:t>
                      </a:r>
                      <a:endParaRPr lang="en-US" sz="1100" dirty="0">
                        <a:latin typeface="Calibri" charset="0"/>
                        <a:ea typeface="Calibri" charset="0"/>
                        <a:cs typeface="Calibri" charset="0"/>
                      </a:endParaRPr>
                    </a:p>
                  </a:txBody>
                  <a:tcPr marL="76200" marR="76200" marT="38100" marB="38100" anchor="ctr">
                    <a:lnL w="9525" cap="flat" cmpd="sng" algn="ctr">
                      <a:solidFill>
                        <a:srgbClr val="E7E3DE"/>
                      </a:solidFill>
                      <a:prstDash val="solid"/>
                      <a:round/>
                      <a:headEnd type="none" w="med" len="med"/>
                      <a:tailEnd type="none" w="med" len="med"/>
                    </a:lnL>
                    <a:lnR w="9525" cap="flat" cmpd="sng" algn="ctr">
                      <a:solidFill>
                        <a:srgbClr val="E7E3DE"/>
                      </a:solidFill>
                      <a:prstDash val="solid"/>
                      <a:round/>
                      <a:headEnd type="none" w="med" len="med"/>
                      <a:tailEnd type="none" w="med" len="med"/>
                    </a:lnR>
                    <a:lnT w="9525" cap="flat" cmpd="sng" algn="ctr">
                      <a:solidFill>
                        <a:srgbClr val="E7E3DE"/>
                      </a:solidFill>
                      <a:prstDash val="solid"/>
                      <a:round/>
                      <a:headEnd type="none" w="med" len="med"/>
                      <a:tailEnd type="none" w="med" len="med"/>
                    </a:lnT>
                    <a:lnB w="9525" cap="flat" cmpd="sng" algn="ctr">
                      <a:solidFill>
                        <a:srgbClr val="E7E3DE"/>
                      </a:solidFill>
                      <a:prstDash val="solid"/>
                      <a:round/>
                      <a:headEnd type="none" w="med" len="med"/>
                      <a:tailEnd type="none" w="med" len="med"/>
                    </a:lnB>
                    <a:solidFill>
                      <a:srgbClr val="FFFFFF"/>
                    </a:solidFill>
                  </a:tcPr>
                </a:tc>
                <a:tc>
                  <a:txBody>
                    <a:bodyPr/>
                    <a:lstStyle/>
                    <a:p>
                      <a:pPr algn="r" indent="0" marL="0">
                        <a:buNone/>
                      </a:pPr>
                      <a:r>
                        <a:rPr lang="en-US" sz="1100" dirty="0">
                          <a:solidFill>
                            <a:srgbClr val="2C2825"/>
                          </a:solidFill>
                          <a:latin typeface="Calibri" pitchFamily="34" charset="0"/>
                          <a:ea typeface="Calibri" pitchFamily="34" charset="-122"/>
                          <a:cs typeface="Calibri" pitchFamily="34" charset="-120"/>
                        </a:rPr>
                        <a:t>495</a:t>
                      </a:r>
                      <a:endParaRPr lang="en-US" sz="1100" dirty="0">
                        <a:latin typeface="Calibri" charset="0"/>
                        <a:ea typeface="Calibri" charset="0"/>
                        <a:cs typeface="Calibri" charset="0"/>
                      </a:endParaRPr>
                    </a:p>
                  </a:txBody>
                  <a:tcPr marL="76200" marR="76200" marT="38100" marB="38100" anchor="ctr">
                    <a:lnL w="9525" cap="flat" cmpd="sng" algn="ctr">
                      <a:solidFill>
                        <a:srgbClr val="E7E3DE"/>
                      </a:solidFill>
                      <a:prstDash val="solid"/>
                      <a:round/>
                      <a:headEnd type="none" w="med" len="med"/>
                      <a:tailEnd type="none" w="med" len="med"/>
                    </a:lnL>
                    <a:lnR w="9525" cap="flat" cmpd="sng" algn="ctr">
                      <a:solidFill>
                        <a:srgbClr val="E7E3DE"/>
                      </a:solidFill>
                      <a:prstDash val="solid"/>
                      <a:round/>
                      <a:headEnd type="none" w="med" len="med"/>
                      <a:tailEnd type="none" w="med" len="med"/>
                    </a:lnR>
                    <a:lnT w="9525" cap="flat" cmpd="sng" algn="ctr">
                      <a:solidFill>
                        <a:srgbClr val="E7E3DE"/>
                      </a:solidFill>
                      <a:prstDash val="solid"/>
                      <a:round/>
                      <a:headEnd type="none" w="med" len="med"/>
                      <a:tailEnd type="none" w="med" len="med"/>
                    </a:lnT>
                    <a:lnB w="9525" cap="flat" cmpd="sng" algn="ctr">
                      <a:solidFill>
                        <a:srgbClr val="E7E3DE"/>
                      </a:solidFill>
                      <a:prstDash val="solid"/>
                      <a:round/>
                      <a:headEnd type="none" w="med" len="med"/>
                      <a:tailEnd type="none" w="med" len="med"/>
                    </a:lnB>
                    <a:solidFill>
                      <a:srgbClr val="FFFFFF"/>
                    </a:solidFill>
                  </a:tcPr>
                </a:tc>
                <a:tc>
                  <a:txBody>
                    <a:bodyPr/>
                    <a:lstStyle/>
                    <a:p>
                      <a:pPr algn="r" indent="0" marL="0">
                        <a:buNone/>
                      </a:pPr>
                      <a:r>
                        <a:rPr lang="en-US" sz="1100" dirty="0">
                          <a:solidFill>
                            <a:srgbClr val="5A534C"/>
                          </a:solidFill>
                          <a:latin typeface="Calibri" pitchFamily="34" charset="0"/>
                          <a:ea typeface="Calibri" pitchFamily="34" charset="-122"/>
                          <a:cs typeface="Calibri" pitchFamily="34" charset="-120"/>
                        </a:rPr>
                        <a:t>8,283</a:t>
                      </a:r>
                      <a:endParaRPr lang="en-US" sz="1100" dirty="0">
                        <a:latin typeface="Calibri" charset="0"/>
                        <a:ea typeface="Calibri" charset="0"/>
                        <a:cs typeface="Calibri" charset="0"/>
                      </a:endParaRPr>
                    </a:p>
                  </a:txBody>
                  <a:tcPr marL="76200" marR="76200" marT="38100" marB="38100" anchor="ctr">
                    <a:lnL w="9525" cap="flat" cmpd="sng" algn="ctr">
                      <a:solidFill>
                        <a:srgbClr val="E7E3DE"/>
                      </a:solidFill>
                      <a:prstDash val="solid"/>
                      <a:round/>
                      <a:headEnd type="none" w="med" len="med"/>
                      <a:tailEnd type="none" w="med" len="med"/>
                    </a:lnL>
                    <a:lnR w="9525" cap="flat" cmpd="sng" algn="ctr">
                      <a:solidFill>
                        <a:srgbClr val="E7E3DE"/>
                      </a:solidFill>
                      <a:prstDash val="solid"/>
                      <a:round/>
                      <a:headEnd type="none" w="med" len="med"/>
                      <a:tailEnd type="none" w="med" len="med"/>
                    </a:lnR>
                    <a:lnT w="9525" cap="flat" cmpd="sng" algn="ctr">
                      <a:solidFill>
                        <a:srgbClr val="E7E3DE"/>
                      </a:solidFill>
                      <a:prstDash val="solid"/>
                      <a:round/>
                      <a:headEnd type="none" w="med" len="med"/>
                      <a:tailEnd type="none" w="med" len="med"/>
                    </a:lnT>
                    <a:lnB w="9525" cap="flat" cmpd="sng" algn="ctr">
                      <a:solidFill>
                        <a:srgbClr val="E7E3DE"/>
                      </a:solidFill>
                      <a:prstDash val="solid"/>
                      <a:round/>
                      <a:headEnd type="none" w="med" len="med"/>
                      <a:tailEnd type="none" w="med" len="med"/>
                    </a:lnB>
                    <a:solidFill>
                      <a:srgbClr val="FFFFFF"/>
                    </a:solidFill>
                  </a:tcPr>
                </a:tc>
              </a:tr>
              <a:tr h="283464">
                <a:tc>
                  <a:txBody>
                    <a:bodyPr/>
                    <a:lstStyle/>
                    <a:p>
                      <a:pPr indent="0" marL="0">
                        <a:buNone/>
                      </a:pPr>
                      <a:r>
                        <a:rPr lang="en-US" sz="1100" b="1" dirty="0">
                          <a:solidFill>
                            <a:srgbClr val="2C2825"/>
                          </a:solidFill>
                          <a:latin typeface="Calibri" pitchFamily="34" charset="0"/>
                          <a:ea typeface="Calibri" pitchFamily="34" charset="-122"/>
                          <a:cs typeface="Calibri" pitchFamily="34" charset="-120"/>
                        </a:rPr>
                        <a:t>Los Angeles</a:t>
                      </a:r>
                      <a:endParaRPr lang="en-US" sz="1100" dirty="0">
                        <a:latin typeface="Calibri" charset="0"/>
                        <a:ea typeface="Calibri" charset="0"/>
                        <a:cs typeface="Calibri" charset="0"/>
                      </a:endParaRPr>
                    </a:p>
                  </a:txBody>
                  <a:tcPr marL="76200" marR="76200" marT="38100" marB="38100" anchor="ctr">
                    <a:lnL w="9525" cap="flat" cmpd="sng" algn="ctr">
                      <a:solidFill>
                        <a:srgbClr val="E7E3DE"/>
                      </a:solidFill>
                      <a:prstDash val="solid"/>
                      <a:round/>
                      <a:headEnd type="none" w="med" len="med"/>
                      <a:tailEnd type="none" w="med" len="med"/>
                    </a:lnL>
                    <a:lnR w="9525" cap="flat" cmpd="sng" algn="ctr">
                      <a:solidFill>
                        <a:srgbClr val="E7E3DE"/>
                      </a:solidFill>
                      <a:prstDash val="solid"/>
                      <a:round/>
                      <a:headEnd type="none" w="med" len="med"/>
                      <a:tailEnd type="none" w="med" len="med"/>
                    </a:lnR>
                    <a:lnT w="9525" cap="flat" cmpd="sng" algn="ctr">
                      <a:solidFill>
                        <a:srgbClr val="E7E3DE"/>
                      </a:solidFill>
                      <a:prstDash val="solid"/>
                      <a:round/>
                      <a:headEnd type="none" w="med" len="med"/>
                      <a:tailEnd type="none" w="med" len="med"/>
                    </a:lnT>
                    <a:lnB w="9525" cap="flat" cmpd="sng" algn="ctr">
                      <a:solidFill>
                        <a:srgbClr val="E7E3DE"/>
                      </a:solidFill>
                      <a:prstDash val="solid"/>
                      <a:round/>
                      <a:headEnd type="none" w="med" len="med"/>
                      <a:tailEnd type="none" w="med" len="med"/>
                    </a:lnB>
                    <a:solidFill>
                      <a:srgbClr val="FFFFFF"/>
                    </a:solidFill>
                  </a:tcPr>
                </a:tc>
                <a:tc>
                  <a:txBody>
                    <a:bodyPr/>
                    <a:lstStyle/>
                    <a:p>
                      <a:pPr indent="0" marL="0">
                        <a:buNone/>
                      </a:pPr>
                      <a:r>
                        <a:rPr lang="en-US" sz="1100" dirty="0">
                          <a:solidFill>
                            <a:srgbClr val="5A534C"/>
                          </a:solidFill>
                          <a:latin typeface="Calibri" pitchFamily="34" charset="0"/>
                          <a:ea typeface="Calibri" pitchFamily="34" charset="-122"/>
                          <a:cs typeface="Calibri" pitchFamily="34" charset="-120"/>
                        </a:rPr>
                        <a:t>Aug '27</a:t>
                      </a:r>
                      <a:endParaRPr lang="en-US" sz="1100" dirty="0">
                        <a:latin typeface="Calibri" charset="0"/>
                        <a:ea typeface="Calibri" charset="0"/>
                        <a:cs typeface="Calibri" charset="0"/>
                      </a:endParaRPr>
                    </a:p>
                  </a:txBody>
                  <a:tcPr marL="76200" marR="76200" marT="38100" marB="38100" anchor="ctr">
                    <a:lnL w="9525" cap="flat" cmpd="sng" algn="ctr">
                      <a:solidFill>
                        <a:srgbClr val="E7E3DE"/>
                      </a:solidFill>
                      <a:prstDash val="solid"/>
                      <a:round/>
                      <a:headEnd type="none" w="med" len="med"/>
                      <a:tailEnd type="none" w="med" len="med"/>
                    </a:lnL>
                    <a:lnR w="9525" cap="flat" cmpd="sng" algn="ctr">
                      <a:solidFill>
                        <a:srgbClr val="E7E3DE"/>
                      </a:solidFill>
                      <a:prstDash val="solid"/>
                      <a:round/>
                      <a:headEnd type="none" w="med" len="med"/>
                      <a:tailEnd type="none" w="med" len="med"/>
                    </a:lnR>
                    <a:lnT w="9525" cap="flat" cmpd="sng" algn="ctr">
                      <a:solidFill>
                        <a:srgbClr val="E7E3DE"/>
                      </a:solidFill>
                      <a:prstDash val="solid"/>
                      <a:round/>
                      <a:headEnd type="none" w="med" len="med"/>
                      <a:tailEnd type="none" w="med" len="med"/>
                    </a:lnT>
                    <a:lnB w="9525" cap="flat" cmpd="sng" algn="ctr">
                      <a:solidFill>
                        <a:srgbClr val="E7E3DE"/>
                      </a:solidFill>
                      <a:prstDash val="solid"/>
                      <a:round/>
                      <a:headEnd type="none" w="med" len="med"/>
                      <a:tailEnd type="none" w="med" len="med"/>
                    </a:lnB>
                    <a:solidFill>
                      <a:srgbClr val="FFFFFF"/>
                    </a:solidFill>
                  </a:tcPr>
                </a:tc>
                <a:tc>
                  <a:txBody>
                    <a:bodyPr/>
                    <a:lstStyle/>
                    <a:p>
                      <a:pPr algn="r" indent="0" marL="0">
                        <a:buNone/>
                      </a:pPr>
                      <a:r>
                        <a:rPr lang="en-US" sz="1100" dirty="0">
                          <a:solidFill>
                            <a:srgbClr val="5A534C"/>
                          </a:solidFill>
                          <a:latin typeface="Calibri" pitchFamily="34" charset="0"/>
                          <a:ea typeface="Calibri" pitchFamily="34" charset="-122"/>
                          <a:cs typeface="Calibri" pitchFamily="34" charset="-120"/>
                        </a:rPr>
                        <a:t>12.9M</a:t>
                      </a:r>
                      <a:endParaRPr lang="en-US" sz="1100" dirty="0">
                        <a:latin typeface="Calibri" charset="0"/>
                        <a:ea typeface="Calibri" charset="0"/>
                        <a:cs typeface="Calibri" charset="0"/>
                      </a:endParaRPr>
                    </a:p>
                  </a:txBody>
                  <a:tcPr marL="76200" marR="76200" marT="38100" marB="38100" anchor="ctr">
                    <a:lnL w="9525" cap="flat" cmpd="sng" algn="ctr">
                      <a:solidFill>
                        <a:srgbClr val="E7E3DE"/>
                      </a:solidFill>
                      <a:prstDash val="solid"/>
                      <a:round/>
                      <a:headEnd type="none" w="med" len="med"/>
                      <a:tailEnd type="none" w="med" len="med"/>
                    </a:lnL>
                    <a:lnR w="9525" cap="flat" cmpd="sng" algn="ctr">
                      <a:solidFill>
                        <a:srgbClr val="E7E3DE"/>
                      </a:solidFill>
                      <a:prstDash val="solid"/>
                      <a:round/>
                      <a:headEnd type="none" w="med" len="med"/>
                      <a:tailEnd type="none" w="med" len="med"/>
                    </a:lnR>
                    <a:lnT w="9525" cap="flat" cmpd="sng" algn="ctr">
                      <a:solidFill>
                        <a:srgbClr val="E7E3DE"/>
                      </a:solidFill>
                      <a:prstDash val="solid"/>
                      <a:round/>
                      <a:headEnd type="none" w="med" len="med"/>
                      <a:tailEnd type="none" w="med" len="med"/>
                    </a:lnT>
                    <a:lnB w="9525" cap="flat" cmpd="sng" algn="ctr">
                      <a:solidFill>
                        <a:srgbClr val="E7E3DE"/>
                      </a:solidFill>
                      <a:prstDash val="solid"/>
                      <a:round/>
                      <a:headEnd type="none" w="med" len="med"/>
                      <a:tailEnd type="none" w="med" len="med"/>
                    </a:lnB>
                    <a:solidFill>
                      <a:srgbClr val="FFFFFF"/>
                    </a:solidFill>
                  </a:tcPr>
                </a:tc>
                <a:tc>
                  <a:txBody>
                    <a:bodyPr/>
                    <a:lstStyle/>
                    <a:p>
                      <a:pPr algn="r" indent="0" marL="0">
                        <a:buNone/>
                      </a:pPr>
                      <a:r>
                        <a:rPr lang="en-US" sz="1100" dirty="0">
                          <a:solidFill>
                            <a:srgbClr val="2C2825"/>
                          </a:solidFill>
                          <a:latin typeface="Calibri" pitchFamily="34" charset="0"/>
                          <a:ea typeface="Calibri" pitchFamily="34" charset="-122"/>
                          <a:cs typeface="Calibri" pitchFamily="34" charset="-120"/>
                        </a:rPr>
                        <a:t>644</a:t>
                      </a:r>
                      <a:endParaRPr lang="en-US" sz="1100" dirty="0">
                        <a:latin typeface="Calibri" charset="0"/>
                        <a:ea typeface="Calibri" charset="0"/>
                        <a:cs typeface="Calibri" charset="0"/>
                      </a:endParaRPr>
                    </a:p>
                  </a:txBody>
                  <a:tcPr marL="76200" marR="76200" marT="38100" marB="38100" anchor="ctr">
                    <a:lnL w="9525" cap="flat" cmpd="sng" algn="ctr">
                      <a:solidFill>
                        <a:srgbClr val="E7E3DE"/>
                      </a:solidFill>
                      <a:prstDash val="solid"/>
                      <a:round/>
                      <a:headEnd type="none" w="med" len="med"/>
                      <a:tailEnd type="none" w="med" len="med"/>
                    </a:lnL>
                    <a:lnR w="9525" cap="flat" cmpd="sng" algn="ctr">
                      <a:solidFill>
                        <a:srgbClr val="E7E3DE"/>
                      </a:solidFill>
                      <a:prstDash val="solid"/>
                      <a:round/>
                      <a:headEnd type="none" w="med" len="med"/>
                      <a:tailEnd type="none" w="med" len="med"/>
                    </a:lnR>
                    <a:lnT w="9525" cap="flat" cmpd="sng" algn="ctr">
                      <a:solidFill>
                        <a:srgbClr val="E7E3DE"/>
                      </a:solidFill>
                      <a:prstDash val="solid"/>
                      <a:round/>
                      <a:headEnd type="none" w="med" len="med"/>
                      <a:tailEnd type="none" w="med" len="med"/>
                    </a:lnT>
                    <a:lnB w="9525" cap="flat" cmpd="sng" algn="ctr">
                      <a:solidFill>
                        <a:srgbClr val="E7E3DE"/>
                      </a:solidFill>
                      <a:prstDash val="solid"/>
                      <a:round/>
                      <a:headEnd type="none" w="med" len="med"/>
                      <a:tailEnd type="none" w="med" len="med"/>
                    </a:lnB>
                    <a:solidFill>
                      <a:srgbClr val="FFFFFF"/>
                    </a:solidFill>
                  </a:tcPr>
                </a:tc>
                <a:tc>
                  <a:txBody>
                    <a:bodyPr/>
                    <a:lstStyle/>
                    <a:p>
                      <a:pPr algn="r" indent="0" marL="0">
                        <a:buNone/>
                      </a:pPr>
                      <a:r>
                        <a:rPr lang="en-US" sz="1100" dirty="0">
                          <a:solidFill>
                            <a:srgbClr val="5A534C"/>
                          </a:solidFill>
                          <a:latin typeface="Calibri" pitchFamily="34" charset="0"/>
                          <a:ea typeface="Calibri" pitchFamily="34" charset="-122"/>
                          <a:cs typeface="Calibri" pitchFamily="34" charset="-120"/>
                        </a:rPr>
                        <a:t>20,031</a:t>
                      </a:r>
                      <a:endParaRPr lang="en-US" sz="1100" dirty="0">
                        <a:latin typeface="Calibri" charset="0"/>
                        <a:ea typeface="Calibri" charset="0"/>
                        <a:cs typeface="Calibri" charset="0"/>
                      </a:endParaRPr>
                    </a:p>
                  </a:txBody>
                  <a:tcPr marL="76200" marR="76200" marT="38100" marB="38100" anchor="ctr">
                    <a:lnL w="9525" cap="flat" cmpd="sng" algn="ctr">
                      <a:solidFill>
                        <a:srgbClr val="E7E3DE"/>
                      </a:solidFill>
                      <a:prstDash val="solid"/>
                      <a:round/>
                      <a:headEnd type="none" w="med" len="med"/>
                      <a:tailEnd type="none" w="med" len="med"/>
                    </a:lnL>
                    <a:lnR w="9525" cap="flat" cmpd="sng" algn="ctr">
                      <a:solidFill>
                        <a:srgbClr val="E7E3DE"/>
                      </a:solidFill>
                      <a:prstDash val="solid"/>
                      <a:round/>
                      <a:headEnd type="none" w="med" len="med"/>
                      <a:tailEnd type="none" w="med" len="med"/>
                    </a:lnR>
                    <a:lnT w="9525" cap="flat" cmpd="sng" algn="ctr">
                      <a:solidFill>
                        <a:srgbClr val="E7E3DE"/>
                      </a:solidFill>
                      <a:prstDash val="solid"/>
                      <a:round/>
                      <a:headEnd type="none" w="med" len="med"/>
                      <a:tailEnd type="none" w="med" len="med"/>
                    </a:lnT>
                    <a:lnB w="9525" cap="flat" cmpd="sng" algn="ctr">
                      <a:solidFill>
                        <a:srgbClr val="E7E3DE"/>
                      </a:solidFill>
                      <a:prstDash val="solid"/>
                      <a:round/>
                      <a:headEnd type="none" w="med" len="med"/>
                      <a:tailEnd type="none" w="med" len="med"/>
                    </a:lnB>
                    <a:solidFill>
                      <a:srgbClr val="FFFFFF"/>
                    </a:solidFill>
                  </a:tcPr>
                </a:tc>
              </a:tr>
              <a:tr h="283464">
                <a:tc>
                  <a:txBody>
                    <a:bodyPr/>
                    <a:lstStyle/>
                    <a:p>
                      <a:pPr indent="0" marL="0">
                        <a:buNone/>
                      </a:pPr>
                      <a:r>
                        <a:rPr lang="en-US" sz="1100" b="1" dirty="0">
                          <a:solidFill>
                            <a:srgbClr val="2C2825"/>
                          </a:solidFill>
                          <a:latin typeface="Calibri" pitchFamily="34" charset="0"/>
                          <a:ea typeface="Calibri" pitchFamily="34" charset="-122"/>
                          <a:cs typeface="Calibri" pitchFamily="34" charset="-120"/>
                        </a:rPr>
                        <a:t>New York</a:t>
                      </a:r>
                      <a:endParaRPr lang="en-US" sz="1100" dirty="0">
                        <a:latin typeface="Calibri" charset="0"/>
                        <a:ea typeface="Calibri" charset="0"/>
                        <a:cs typeface="Calibri" charset="0"/>
                      </a:endParaRPr>
                    </a:p>
                  </a:txBody>
                  <a:tcPr marL="76200" marR="76200" marT="38100" marB="38100" anchor="ctr">
                    <a:lnL w="9525" cap="flat" cmpd="sng" algn="ctr">
                      <a:solidFill>
                        <a:srgbClr val="E7E3DE"/>
                      </a:solidFill>
                      <a:prstDash val="solid"/>
                      <a:round/>
                      <a:headEnd type="none" w="med" len="med"/>
                      <a:tailEnd type="none" w="med" len="med"/>
                    </a:lnL>
                    <a:lnR w="9525" cap="flat" cmpd="sng" algn="ctr">
                      <a:solidFill>
                        <a:srgbClr val="E7E3DE"/>
                      </a:solidFill>
                      <a:prstDash val="solid"/>
                      <a:round/>
                      <a:headEnd type="none" w="med" len="med"/>
                      <a:tailEnd type="none" w="med" len="med"/>
                    </a:lnR>
                    <a:lnT w="9525" cap="flat" cmpd="sng" algn="ctr">
                      <a:solidFill>
                        <a:srgbClr val="E7E3DE"/>
                      </a:solidFill>
                      <a:prstDash val="solid"/>
                      <a:round/>
                      <a:headEnd type="none" w="med" len="med"/>
                      <a:tailEnd type="none" w="med" len="med"/>
                    </a:lnT>
                    <a:lnB w="9525" cap="flat" cmpd="sng" algn="ctr">
                      <a:solidFill>
                        <a:srgbClr val="E7E3DE"/>
                      </a:solidFill>
                      <a:prstDash val="solid"/>
                      <a:round/>
                      <a:headEnd type="none" w="med" len="med"/>
                      <a:tailEnd type="none" w="med" len="med"/>
                    </a:lnB>
                    <a:solidFill>
                      <a:srgbClr val="FFFFFF"/>
                    </a:solidFill>
                  </a:tcPr>
                </a:tc>
                <a:tc>
                  <a:txBody>
                    <a:bodyPr/>
                    <a:lstStyle/>
                    <a:p>
                      <a:pPr indent="0" marL="0">
                        <a:buNone/>
                      </a:pPr>
                      <a:r>
                        <a:rPr lang="en-US" sz="1100" dirty="0">
                          <a:solidFill>
                            <a:srgbClr val="5A534C"/>
                          </a:solidFill>
                          <a:latin typeface="Calibri" pitchFamily="34" charset="0"/>
                          <a:ea typeface="Calibri" pitchFamily="34" charset="-122"/>
                          <a:cs typeface="Calibri" pitchFamily="34" charset="-120"/>
                        </a:rPr>
                        <a:t>Dec '27</a:t>
                      </a:r>
                      <a:endParaRPr lang="en-US" sz="1100" dirty="0">
                        <a:latin typeface="Calibri" charset="0"/>
                        <a:ea typeface="Calibri" charset="0"/>
                        <a:cs typeface="Calibri" charset="0"/>
                      </a:endParaRPr>
                    </a:p>
                  </a:txBody>
                  <a:tcPr marL="76200" marR="76200" marT="38100" marB="38100" anchor="ctr">
                    <a:lnL w="9525" cap="flat" cmpd="sng" algn="ctr">
                      <a:solidFill>
                        <a:srgbClr val="E7E3DE"/>
                      </a:solidFill>
                      <a:prstDash val="solid"/>
                      <a:round/>
                      <a:headEnd type="none" w="med" len="med"/>
                      <a:tailEnd type="none" w="med" len="med"/>
                    </a:lnL>
                    <a:lnR w="9525" cap="flat" cmpd="sng" algn="ctr">
                      <a:solidFill>
                        <a:srgbClr val="E7E3DE"/>
                      </a:solidFill>
                      <a:prstDash val="solid"/>
                      <a:round/>
                      <a:headEnd type="none" w="med" len="med"/>
                      <a:tailEnd type="none" w="med" len="med"/>
                    </a:lnR>
                    <a:lnT w="9525" cap="flat" cmpd="sng" algn="ctr">
                      <a:solidFill>
                        <a:srgbClr val="E7E3DE"/>
                      </a:solidFill>
                      <a:prstDash val="solid"/>
                      <a:round/>
                      <a:headEnd type="none" w="med" len="med"/>
                      <a:tailEnd type="none" w="med" len="med"/>
                    </a:lnT>
                    <a:lnB w="9525" cap="flat" cmpd="sng" algn="ctr">
                      <a:solidFill>
                        <a:srgbClr val="E7E3DE"/>
                      </a:solidFill>
                      <a:prstDash val="solid"/>
                      <a:round/>
                      <a:headEnd type="none" w="med" len="med"/>
                      <a:tailEnd type="none" w="med" len="med"/>
                    </a:lnB>
                    <a:solidFill>
                      <a:srgbClr val="FFFFFF"/>
                    </a:solidFill>
                  </a:tcPr>
                </a:tc>
                <a:tc>
                  <a:txBody>
                    <a:bodyPr/>
                    <a:lstStyle/>
                    <a:p>
                      <a:pPr algn="r" indent="0" marL="0">
                        <a:buNone/>
                      </a:pPr>
                      <a:r>
                        <a:rPr lang="en-US" sz="1100" dirty="0">
                          <a:solidFill>
                            <a:srgbClr val="5A534C"/>
                          </a:solidFill>
                          <a:latin typeface="Calibri" pitchFamily="34" charset="0"/>
                          <a:ea typeface="Calibri" pitchFamily="34" charset="-122"/>
                          <a:cs typeface="Calibri" pitchFamily="34" charset="-120"/>
                        </a:rPr>
                        <a:t>20.0M</a:t>
                      </a:r>
                      <a:endParaRPr lang="en-US" sz="1100" dirty="0">
                        <a:latin typeface="Calibri" charset="0"/>
                        <a:ea typeface="Calibri" charset="0"/>
                        <a:cs typeface="Calibri" charset="0"/>
                      </a:endParaRPr>
                    </a:p>
                  </a:txBody>
                  <a:tcPr marL="76200" marR="76200" marT="38100" marB="38100" anchor="ctr">
                    <a:lnL w="9525" cap="flat" cmpd="sng" algn="ctr">
                      <a:solidFill>
                        <a:srgbClr val="E7E3DE"/>
                      </a:solidFill>
                      <a:prstDash val="solid"/>
                      <a:round/>
                      <a:headEnd type="none" w="med" len="med"/>
                      <a:tailEnd type="none" w="med" len="med"/>
                    </a:lnL>
                    <a:lnR w="9525" cap="flat" cmpd="sng" algn="ctr">
                      <a:solidFill>
                        <a:srgbClr val="E7E3DE"/>
                      </a:solidFill>
                      <a:prstDash val="solid"/>
                      <a:round/>
                      <a:headEnd type="none" w="med" len="med"/>
                      <a:tailEnd type="none" w="med" len="med"/>
                    </a:lnR>
                    <a:lnT w="9525" cap="flat" cmpd="sng" algn="ctr">
                      <a:solidFill>
                        <a:srgbClr val="E7E3DE"/>
                      </a:solidFill>
                      <a:prstDash val="solid"/>
                      <a:round/>
                      <a:headEnd type="none" w="med" len="med"/>
                      <a:tailEnd type="none" w="med" len="med"/>
                    </a:lnT>
                    <a:lnB w="9525" cap="flat" cmpd="sng" algn="ctr">
                      <a:solidFill>
                        <a:srgbClr val="E7E3DE"/>
                      </a:solidFill>
                      <a:prstDash val="solid"/>
                      <a:round/>
                      <a:headEnd type="none" w="med" len="med"/>
                      <a:tailEnd type="none" w="med" len="med"/>
                    </a:lnB>
                    <a:solidFill>
                      <a:srgbClr val="FFFFFF"/>
                    </a:solidFill>
                  </a:tcPr>
                </a:tc>
                <a:tc>
                  <a:txBody>
                    <a:bodyPr/>
                    <a:lstStyle/>
                    <a:p>
                      <a:pPr algn="r" indent="0" marL="0">
                        <a:buNone/>
                      </a:pPr>
                      <a:r>
                        <a:rPr lang="en-US" sz="1100" dirty="0">
                          <a:solidFill>
                            <a:srgbClr val="2C2825"/>
                          </a:solidFill>
                          <a:latin typeface="Calibri" pitchFamily="34" charset="0"/>
                          <a:ea typeface="Calibri" pitchFamily="34" charset="-122"/>
                          <a:cs typeface="Calibri" pitchFamily="34" charset="-120"/>
                        </a:rPr>
                        <a:t>476</a:t>
                      </a:r>
                      <a:endParaRPr lang="en-US" sz="1100" dirty="0">
                        <a:latin typeface="Calibri" charset="0"/>
                        <a:ea typeface="Calibri" charset="0"/>
                        <a:cs typeface="Calibri" charset="0"/>
                      </a:endParaRPr>
                    </a:p>
                  </a:txBody>
                  <a:tcPr marL="76200" marR="76200" marT="38100" marB="38100" anchor="ctr">
                    <a:lnL w="9525" cap="flat" cmpd="sng" algn="ctr">
                      <a:solidFill>
                        <a:srgbClr val="E7E3DE"/>
                      </a:solidFill>
                      <a:prstDash val="solid"/>
                      <a:round/>
                      <a:headEnd type="none" w="med" len="med"/>
                      <a:tailEnd type="none" w="med" len="med"/>
                    </a:lnL>
                    <a:lnR w="9525" cap="flat" cmpd="sng" algn="ctr">
                      <a:solidFill>
                        <a:srgbClr val="E7E3DE"/>
                      </a:solidFill>
                      <a:prstDash val="solid"/>
                      <a:round/>
                      <a:headEnd type="none" w="med" len="med"/>
                      <a:tailEnd type="none" w="med" len="med"/>
                    </a:lnR>
                    <a:lnT w="9525" cap="flat" cmpd="sng" algn="ctr">
                      <a:solidFill>
                        <a:srgbClr val="E7E3DE"/>
                      </a:solidFill>
                      <a:prstDash val="solid"/>
                      <a:round/>
                      <a:headEnd type="none" w="med" len="med"/>
                      <a:tailEnd type="none" w="med" len="med"/>
                    </a:lnT>
                    <a:lnB w="9525" cap="flat" cmpd="sng" algn="ctr">
                      <a:solidFill>
                        <a:srgbClr val="E7E3DE"/>
                      </a:solidFill>
                      <a:prstDash val="solid"/>
                      <a:round/>
                      <a:headEnd type="none" w="med" len="med"/>
                      <a:tailEnd type="none" w="med" len="med"/>
                    </a:lnB>
                    <a:solidFill>
                      <a:srgbClr val="FFFFFF"/>
                    </a:solidFill>
                  </a:tcPr>
                </a:tc>
                <a:tc>
                  <a:txBody>
                    <a:bodyPr/>
                    <a:lstStyle/>
                    <a:p>
                      <a:pPr algn="r" indent="0" marL="0">
                        <a:buNone/>
                      </a:pPr>
                      <a:r>
                        <a:rPr lang="en-US" sz="1100" dirty="0">
                          <a:solidFill>
                            <a:srgbClr val="5A534C"/>
                          </a:solidFill>
                          <a:latin typeface="Calibri" pitchFamily="34" charset="0"/>
                          <a:ea typeface="Calibri" pitchFamily="34" charset="-122"/>
                          <a:cs typeface="Calibri" pitchFamily="34" charset="-120"/>
                        </a:rPr>
                        <a:t>42,017</a:t>
                      </a:r>
                      <a:endParaRPr lang="en-US" sz="1100" dirty="0">
                        <a:latin typeface="Calibri" charset="0"/>
                        <a:ea typeface="Calibri" charset="0"/>
                        <a:cs typeface="Calibri" charset="0"/>
                      </a:endParaRPr>
                    </a:p>
                  </a:txBody>
                  <a:tcPr marL="76200" marR="76200" marT="38100" marB="38100" anchor="ctr">
                    <a:lnL w="9525" cap="flat" cmpd="sng" algn="ctr">
                      <a:solidFill>
                        <a:srgbClr val="E7E3DE"/>
                      </a:solidFill>
                      <a:prstDash val="solid"/>
                      <a:round/>
                      <a:headEnd type="none" w="med" len="med"/>
                      <a:tailEnd type="none" w="med" len="med"/>
                    </a:lnL>
                    <a:lnR w="9525" cap="flat" cmpd="sng" algn="ctr">
                      <a:solidFill>
                        <a:srgbClr val="E7E3DE"/>
                      </a:solidFill>
                      <a:prstDash val="solid"/>
                      <a:round/>
                      <a:headEnd type="none" w="med" len="med"/>
                      <a:tailEnd type="none" w="med" len="med"/>
                    </a:lnR>
                    <a:lnT w="9525" cap="flat" cmpd="sng" algn="ctr">
                      <a:solidFill>
                        <a:srgbClr val="E7E3DE"/>
                      </a:solidFill>
                      <a:prstDash val="solid"/>
                      <a:round/>
                      <a:headEnd type="none" w="med" len="med"/>
                      <a:tailEnd type="none" w="med" len="med"/>
                    </a:lnT>
                    <a:lnB w="9525" cap="flat" cmpd="sng" algn="ctr">
                      <a:solidFill>
                        <a:srgbClr val="E7E3DE"/>
                      </a:solidFill>
                      <a:prstDash val="solid"/>
                      <a:round/>
                      <a:headEnd type="none" w="med" len="med"/>
                      <a:tailEnd type="none" w="med" len="med"/>
                    </a:lnB>
                    <a:solidFill>
                      <a:srgbClr val="FFFFFF"/>
                    </a:solidFill>
                  </a:tcPr>
                </a:tc>
              </a:tr>
              <a:tr h="283464">
                <a:tc>
                  <a:txBody>
                    <a:bodyPr/>
                    <a:lstStyle/>
                    <a:p>
                      <a:pPr indent="0" marL="0">
                        <a:buNone/>
                      </a:pPr>
                      <a:r>
                        <a:rPr lang="en-US" sz="1100" b="1" dirty="0">
                          <a:solidFill>
                            <a:srgbClr val="2C2825"/>
                          </a:solidFill>
                          <a:latin typeface="Calibri" pitchFamily="34" charset="0"/>
                          <a:ea typeface="Calibri" pitchFamily="34" charset="-122"/>
                          <a:cs typeface="Calibri" pitchFamily="34" charset="-120"/>
                        </a:rPr>
                        <a:t>Shipped goods</a:t>
                      </a:r>
                      <a:endParaRPr lang="en-US" sz="1100" dirty="0">
                        <a:latin typeface="Calibri" charset="0"/>
                        <a:ea typeface="Calibri" charset="0"/>
                        <a:cs typeface="Calibri" charset="0"/>
                      </a:endParaRPr>
                    </a:p>
                  </a:txBody>
                  <a:tcPr marL="76200" marR="76200" marT="38100" marB="38100" anchor="ctr">
                    <a:lnL w="9525" cap="flat" cmpd="sng" algn="ctr">
                      <a:solidFill>
                        <a:srgbClr val="E7E3DE"/>
                      </a:solidFill>
                      <a:prstDash val="solid"/>
                      <a:round/>
                      <a:headEnd type="none" w="med" len="med"/>
                      <a:tailEnd type="none" w="med" len="med"/>
                    </a:lnL>
                    <a:lnR w="9525" cap="flat" cmpd="sng" algn="ctr">
                      <a:solidFill>
                        <a:srgbClr val="E7E3DE"/>
                      </a:solidFill>
                      <a:prstDash val="solid"/>
                      <a:round/>
                      <a:headEnd type="none" w="med" len="med"/>
                      <a:tailEnd type="none" w="med" len="med"/>
                    </a:lnR>
                    <a:lnT w="9525" cap="flat" cmpd="sng" algn="ctr">
                      <a:solidFill>
                        <a:srgbClr val="E7E3DE"/>
                      </a:solidFill>
                      <a:prstDash val="solid"/>
                      <a:round/>
                      <a:headEnd type="none" w="med" len="med"/>
                      <a:tailEnd type="none" w="med" len="med"/>
                    </a:lnT>
                    <a:lnB w="9525" cap="flat" cmpd="sng" algn="ctr">
                      <a:solidFill>
                        <a:srgbClr val="E7E3DE"/>
                      </a:solidFill>
                      <a:prstDash val="solid"/>
                      <a:round/>
                      <a:headEnd type="none" w="med" len="med"/>
                      <a:tailEnd type="none" w="med" len="med"/>
                    </a:lnB>
                    <a:solidFill>
                      <a:srgbClr val="FFFFFF"/>
                    </a:solidFill>
                  </a:tcPr>
                </a:tc>
                <a:tc>
                  <a:txBody>
                    <a:bodyPr/>
                    <a:lstStyle/>
                    <a:p>
                      <a:pPr indent="0" marL="0">
                        <a:buNone/>
                      </a:pPr>
                      <a:r>
                        <a:rPr lang="en-US" sz="1100" dirty="0">
                          <a:solidFill>
                            <a:srgbClr val="5A534C"/>
                          </a:solidFill>
                          <a:latin typeface="Calibri" pitchFamily="34" charset="0"/>
                          <a:ea typeface="Calibri" pitchFamily="34" charset="-122"/>
                          <a:cs typeface="Calibri" pitchFamily="34" charset="-120"/>
                        </a:rPr>
                        <a:t>Dec '26</a:t>
                      </a:r>
                      <a:endParaRPr lang="en-US" sz="1100" dirty="0">
                        <a:latin typeface="Calibri" charset="0"/>
                        <a:ea typeface="Calibri" charset="0"/>
                        <a:cs typeface="Calibri" charset="0"/>
                      </a:endParaRPr>
                    </a:p>
                  </a:txBody>
                  <a:tcPr marL="76200" marR="76200" marT="38100" marB="38100" anchor="ctr">
                    <a:lnL w="9525" cap="flat" cmpd="sng" algn="ctr">
                      <a:solidFill>
                        <a:srgbClr val="E7E3DE"/>
                      </a:solidFill>
                      <a:prstDash val="solid"/>
                      <a:round/>
                      <a:headEnd type="none" w="med" len="med"/>
                      <a:tailEnd type="none" w="med" len="med"/>
                    </a:lnL>
                    <a:lnR w="9525" cap="flat" cmpd="sng" algn="ctr">
                      <a:solidFill>
                        <a:srgbClr val="E7E3DE"/>
                      </a:solidFill>
                      <a:prstDash val="solid"/>
                      <a:round/>
                      <a:headEnd type="none" w="med" len="med"/>
                      <a:tailEnd type="none" w="med" len="med"/>
                    </a:lnR>
                    <a:lnT w="9525" cap="flat" cmpd="sng" algn="ctr">
                      <a:solidFill>
                        <a:srgbClr val="E7E3DE"/>
                      </a:solidFill>
                      <a:prstDash val="solid"/>
                      <a:round/>
                      <a:headEnd type="none" w="med" len="med"/>
                      <a:tailEnd type="none" w="med" len="med"/>
                    </a:lnT>
                    <a:lnB w="9525" cap="flat" cmpd="sng" algn="ctr">
                      <a:solidFill>
                        <a:srgbClr val="E7E3DE"/>
                      </a:solidFill>
                      <a:prstDash val="solid"/>
                      <a:round/>
                      <a:headEnd type="none" w="med" len="med"/>
                      <a:tailEnd type="none" w="med" len="med"/>
                    </a:lnB>
                    <a:solidFill>
                      <a:srgbClr val="FFFFFF"/>
                    </a:solidFill>
                  </a:tcPr>
                </a:tc>
                <a:tc>
                  <a:txBody>
                    <a:bodyPr/>
                    <a:lstStyle/>
                    <a:p>
                      <a:pPr algn="r" indent="0" marL="0">
                        <a:buNone/>
                      </a:pPr>
                      <a:r>
                        <a:rPr lang="en-US" sz="1100" dirty="0">
                          <a:solidFill>
                            <a:srgbClr val="5A534C"/>
                          </a:solidFill>
                          <a:latin typeface="Calibri" pitchFamily="34" charset="0"/>
                          <a:ea typeface="Calibri" pitchFamily="34" charset="-122"/>
                          <a:cs typeface="Calibri" pitchFamily="34" charset="-120"/>
                        </a:rPr>
                        <a:t>Nationwide</a:t>
                      </a:r>
                      <a:endParaRPr lang="en-US" sz="1100" dirty="0">
                        <a:latin typeface="Calibri" charset="0"/>
                        <a:ea typeface="Calibri" charset="0"/>
                        <a:cs typeface="Calibri" charset="0"/>
                      </a:endParaRPr>
                    </a:p>
                  </a:txBody>
                  <a:tcPr marL="76200" marR="76200" marT="38100" marB="38100" anchor="ctr">
                    <a:lnL w="9525" cap="flat" cmpd="sng" algn="ctr">
                      <a:solidFill>
                        <a:srgbClr val="E7E3DE"/>
                      </a:solidFill>
                      <a:prstDash val="solid"/>
                      <a:round/>
                      <a:headEnd type="none" w="med" len="med"/>
                      <a:tailEnd type="none" w="med" len="med"/>
                    </a:lnL>
                    <a:lnR w="9525" cap="flat" cmpd="sng" algn="ctr">
                      <a:solidFill>
                        <a:srgbClr val="E7E3DE"/>
                      </a:solidFill>
                      <a:prstDash val="solid"/>
                      <a:round/>
                      <a:headEnd type="none" w="med" len="med"/>
                      <a:tailEnd type="none" w="med" len="med"/>
                    </a:lnR>
                    <a:lnT w="9525" cap="flat" cmpd="sng" algn="ctr">
                      <a:solidFill>
                        <a:srgbClr val="E7E3DE"/>
                      </a:solidFill>
                      <a:prstDash val="solid"/>
                      <a:round/>
                      <a:headEnd type="none" w="med" len="med"/>
                      <a:tailEnd type="none" w="med" len="med"/>
                    </a:lnT>
                    <a:lnB w="9525" cap="flat" cmpd="sng" algn="ctr">
                      <a:solidFill>
                        <a:srgbClr val="E7E3DE"/>
                      </a:solidFill>
                      <a:prstDash val="solid"/>
                      <a:round/>
                      <a:headEnd type="none" w="med" len="med"/>
                      <a:tailEnd type="none" w="med" len="med"/>
                    </a:lnB>
                    <a:solidFill>
                      <a:srgbClr val="FFFFFF"/>
                    </a:solidFill>
                  </a:tcPr>
                </a:tc>
                <a:tc>
                  <a:txBody>
                    <a:bodyPr/>
                    <a:lstStyle/>
                    <a:p>
                      <a:pPr algn="r" indent="0" marL="0">
                        <a:buNone/>
                      </a:pPr>
                      <a:r>
                        <a:rPr lang="en-US" sz="1100" dirty="0">
                          <a:solidFill>
                            <a:srgbClr val="2C2825"/>
                          </a:solidFill>
                          <a:latin typeface="Calibri" pitchFamily="34" charset="0"/>
                          <a:ea typeface="Calibri" pitchFamily="34" charset="-122"/>
                          <a:cs typeface="Calibri" pitchFamily="34" charset="-120"/>
                        </a:rPr>
                        <a:t>—</a:t>
                      </a:r>
                      <a:endParaRPr lang="en-US" sz="1100" dirty="0">
                        <a:latin typeface="Calibri" charset="0"/>
                        <a:ea typeface="Calibri" charset="0"/>
                        <a:cs typeface="Calibri" charset="0"/>
                      </a:endParaRPr>
                    </a:p>
                  </a:txBody>
                  <a:tcPr marL="76200" marR="76200" marT="38100" marB="38100" anchor="ctr">
                    <a:lnL w="9525" cap="flat" cmpd="sng" algn="ctr">
                      <a:solidFill>
                        <a:srgbClr val="E7E3DE"/>
                      </a:solidFill>
                      <a:prstDash val="solid"/>
                      <a:round/>
                      <a:headEnd type="none" w="med" len="med"/>
                      <a:tailEnd type="none" w="med" len="med"/>
                    </a:lnL>
                    <a:lnR w="9525" cap="flat" cmpd="sng" algn="ctr">
                      <a:solidFill>
                        <a:srgbClr val="E7E3DE"/>
                      </a:solidFill>
                      <a:prstDash val="solid"/>
                      <a:round/>
                      <a:headEnd type="none" w="med" len="med"/>
                      <a:tailEnd type="none" w="med" len="med"/>
                    </a:lnR>
                    <a:lnT w="9525" cap="flat" cmpd="sng" algn="ctr">
                      <a:solidFill>
                        <a:srgbClr val="E7E3DE"/>
                      </a:solidFill>
                      <a:prstDash val="solid"/>
                      <a:round/>
                      <a:headEnd type="none" w="med" len="med"/>
                      <a:tailEnd type="none" w="med" len="med"/>
                    </a:lnT>
                    <a:lnB w="9525" cap="flat" cmpd="sng" algn="ctr">
                      <a:solidFill>
                        <a:srgbClr val="E7E3DE"/>
                      </a:solidFill>
                      <a:prstDash val="solid"/>
                      <a:round/>
                      <a:headEnd type="none" w="med" len="med"/>
                      <a:tailEnd type="none" w="med" len="med"/>
                    </a:lnB>
                    <a:solidFill>
                      <a:srgbClr val="FFFFFF"/>
                    </a:solidFill>
                  </a:tcPr>
                </a:tc>
                <a:tc>
                  <a:txBody>
                    <a:bodyPr/>
                    <a:lstStyle/>
                    <a:p>
                      <a:pPr algn="r" indent="0" marL="0">
                        <a:buNone/>
                      </a:pPr>
                      <a:r>
                        <a:rPr lang="en-US" sz="1100" dirty="0">
                          <a:solidFill>
                            <a:srgbClr val="5A534C"/>
                          </a:solidFill>
                          <a:latin typeface="Calibri" pitchFamily="34" charset="0"/>
                          <a:ea typeface="Calibri" pitchFamily="34" charset="-122"/>
                          <a:cs typeface="Calibri" pitchFamily="34" charset="-120"/>
                        </a:rPr>
                        <a:t>—</a:t>
                      </a:r>
                      <a:endParaRPr lang="en-US" sz="1100" dirty="0">
                        <a:latin typeface="Calibri" charset="0"/>
                        <a:ea typeface="Calibri" charset="0"/>
                        <a:cs typeface="Calibri" charset="0"/>
                      </a:endParaRPr>
                    </a:p>
                  </a:txBody>
                  <a:tcPr marL="76200" marR="76200" marT="38100" marB="38100" anchor="ctr">
                    <a:lnL w="9525" cap="flat" cmpd="sng" algn="ctr">
                      <a:solidFill>
                        <a:srgbClr val="E7E3DE"/>
                      </a:solidFill>
                      <a:prstDash val="solid"/>
                      <a:round/>
                      <a:headEnd type="none" w="med" len="med"/>
                      <a:tailEnd type="none" w="med" len="med"/>
                    </a:lnL>
                    <a:lnR w="9525" cap="flat" cmpd="sng" algn="ctr">
                      <a:solidFill>
                        <a:srgbClr val="E7E3DE"/>
                      </a:solidFill>
                      <a:prstDash val="solid"/>
                      <a:round/>
                      <a:headEnd type="none" w="med" len="med"/>
                      <a:tailEnd type="none" w="med" len="med"/>
                    </a:lnR>
                    <a:lnT w="9525" cap="flat" cmpd="sng" algn="ctr">
                      <a:solidFill>
                        <a:srgbClr val="E7E3DE"/>
                      </a:solidFill>
                      <a:prstDash val="solid"/>
                      <a:round/>
                      <a:headEnd type="none" w="med" len="med"/>
                      <a:tailEnd type="none" w="med" len="med"/>
                    </a:lnT>
                    <a:lnB w="9525" cap="flat" cmpd="sng" algn="ctr">
                      <a:solidFill>
                        <a:srgbClr val="E7E3DE"/>
                      </a:solidFill>
                      <a:prstDash val="solid"/>
                      <a:round/>
                      <a:headEnd type="none" w="med" len="med"/>
                      <a:tailEnd type="none" w="med" len="med"/>
                    </a:lnB>
                    <a:solidFill>
                      <a:srgbClr val="FFFFFF"/>
                    </a:solidFill>
                  </a:tcPr>
                </a:tc>
              </a:tr>
              <a:tr h="283464">
                <a:tc>
                  <a:txBody>
                    <a:bodyPr/>
                    <a:lstStyle/>
                    <a:p>
                      <a:pPr indent="0" marL="0">
                        <a:buNone/>
                      </a:pPr>
                      <a:r>
                        <a:rPr lang="en-US" sz="1100" b="1" dirty="0">
                          <a:solidFill>
                            <a:srgbClr val="2C2825"/>
                          </a:solidFill>
                          <a:latin typeface="Calibri" pitchFamily="34" charset="0"/>
                          <a:ea typeface="Calibri" pitchFamily="34" charset="-122"/>
                          <a:cs typeface="Calibri" pitchFamily="34" charset="-120"/>
                        </a:rPr>
                        <a:t>Five metros</a:t>
                      </a:r>
                      <a:endParaRPr lang="en-US" sz="1100" dirty="0">
                        <a:latin typeface="Calibri" charset="0"/>
                        <a:ea typeface="Calibri" charset="0"/>
                        <a:cs typeface="Calibri" charset="0"/>
                      </a:endParaRPr>
                    </a:p>
                  </a:txBody>
                  <a:tcPr marL="76200" marR="76200" marT="38100" marB="38100" anchor="ctr">
                    <a:lnL w="9525" cap="flat" cmpd="sng" algn="ctr">
                      <a:solidFill>
                        <a:srgbClr val="E7E3DE"/>
                      </a:solidFill>
                      <a:prstDash val="solid"/>
                      <a:round/>
                      <a:headEnd type="none" w="med" len="med"/>
                      <a:tailEnd type="none" w="med" len="med"/>
                    </a:lnL>
                    <a:lnR w="9525" cap="flat" cmpd="sng" algn="ctr">
                      <a:solidFill>
                        <a:srgbClr val="E7E3DE"/>
                      </a:solidFill>
                      <a:prstDash val="solid"/>
                      <a:round/>
                      <a:headEnd type="none" w="med" len="med"/>
                      <a:tailEnd type="none" w="med" len="med"/>
                    </a:lnR>
                    <a:lnT w="9525" cap="flat" cmpd="sng" algn="ctr">
                      <a:solidFill>
                        <a:srgbClr val="E7E3DE"/>
                      </a:solidFill>
                      <a:prstDash val="solid"/>
                      <a:round/>
                      <a:headEnd type="none" w="med" len="med"/>
                      <a:tailEnd type="none" w="med" len="med"/>
                    </a:lnT>
                    <a:lnB w="9525" cap="flat" cmpd="sng" algn="ctr">
                      <a:solidFill>
                        <a:srgbClr val="E7E3DE"/>
                      </a:solidFill>
                      <a:prstDash val="solid"/>
                      <a:round/>
                      <a:headEnd type="none" w="med" len="med"/>
                      <a:tailEnd type="none" w="med" len="med"/>
                    </a:lnB>
                    <a:solidFill>
                      <a:srgbClr val="FFFFFF"/>
                    </a:solidFill>
                  </a:tcPr>
                </a:tc>
                <a:tc>
                  <a:txBody>
                    <a:bodyPr/>
                    <a:lstStyle/>
                    <a:p>
                      <a:pPr indent="0" marL="0">
                        <a:buNone/>
                      </a:pPr>
                      <a:endParaRPr lang="en-US" sz="1100" dirty="0">
                        <a:latin typeface="Calibri" charset="0"/>
                        <a:ea typeface="Calibri" charset="0"/>
                        <a:cs typeface="Calibri" charset="0"/>
                      </a:endParaRPr>
                    </a:p>
                  </a:txBody>
                  <a:tcPr marL="76200" marR="76200" marT="38100" marB="38100" anchor="ctr">
                    <a:lnL w="9525" cap="flat" cmpd="sng" algn="ctr">
                      <a:solidFill>
                        <a:srgbClr val="E7E3DE"/>
                      </a:solidFill>
                      <a:prstDash val="solid"/>
                      <a:round/>
                      <a:headEnd type="none" w="med" len="med"/>
                      <a:tailEnd type="none" w="med" len="med"/>
                    </a:lnL>
                    <a:lnR w="9525" cap="flat" cmpd="sng" algn="ctr">
                      <a:solidFill>
                        <a:srgbClr val="E7E3DE"/>
                      </a:solidFill>
                      <a:prstDash val="solid"/>
                      <a:round/>
                      <a:headEnd type="none" w="med" len="med"/>
                      <a:tailEnd type="none" w="med" len="med"/>
                    </a:lnR>
                    <a:lnT w="9525" cap="flat" cmpd="sng" algn="ctr">
                      <a:solidFill>
                        <a:srgbClr val="E7E3DE"/>
                      </a:solidFill>
                      <a:prstDash val="solid"/>
                      <a:round/>
                      <a:headEnd type="none" w="med" len="med"/>
                      <a:tailEnd type="none" w="med" len="med"/>
                    </a:lnT>
                    <a:lnB w="9525" cap="flat" cmpd="sng" algn="ctr">
                      <a:solidFill>
                        <a:srgbClr val="E7E3DE"/>
                      </a:solidFill>
                      <a:prstDash val="solid"/>
                      <a:round/>
                      <a:headEnd type="none" w="med" len="med"/>
                      <a:tailEnd type="none" w="med" len="med"/>
                    </a:lnB>
                    <a:solidFill>
                      <a:srgbClr val="FFFFFF"/>
                    </a:solidFill>
                  </a:tcPr>
                </a:tc>
                <a:tc>
                  <a:txBody>
                    <a:bodyPr/>
                    <a:lstStyle/>
                    <a:p>
                      <a:pPr indent="0" marL="0">
                        <a:buNone/>
                      </a:pPr>
                      <a:endParaRPr lang="en-US" sz="1100" dirty="0">
                        <a:latin typeface="Calibri" charset="0"/>
                        <a:ea typeface="Calibri" charset="0"/>
                        <a:cs typeface="Calibri" charset="0"/>
                      </a:endParaRPr>
                    </a:p>
                  </a:txBody>
                  <a:tcPr marL="76200" marR="76200" marT="38100" marB="38100" anchor="ctr">
                    <a:lnL w="9525" cap="flat" cmpd="sng" algn="ctr">
                      <a:solidFill>
                        <a:srgbClr val="E7E3DE"/>
                      </a:solidFill>
                      <a:prstDash val="solid"/>
                      <a:round/>
                      <a:headEnd type="none" w="med" len="med"/>
                      <a:tailEnd type="none" w="med" len="med"/>
                    </a:lnL>
                    <a:lnR w="9525" cap="flat" cmpd="sng" algn="ctr">
                      <a:solidFill>
                        <a:srgbClr val="E7E3DE"/>
                      </a:solidFill>
                      <a:prstDash val="solid"/>
                      <a:round/>
                      <a:headEnd type="none" w="med" len="med"/>
                      <a:tailEnd type="none" w="med" len="med"/>
                    </a:lnR>
                    <a:lnT w="9525" cap="flat" cmpd="sng" algn="ctr">
                      <a:solidFill>
                        <a:srgbClr val="E7E3DE"/>
                      </a:solidFill>
                      <a:prstDash val="solid"/>
                      <a:round/>
                      <a:headEnd type="none" w="med" len="med"/>
                      <a:tailEnd type="none" w="med" len="med"/>
                    </a:lnT>
                    <a:lnB w="9525" cap="flat" cmpd="sng" algn="ctr">
                      <a:solidFill>
                        <a:srgbClr val="E7E3DE"/>
                      </a:solidFill>
                      <a:prstDash val="solid"/>
                      <a:round/>
                      <a:headEnd type="none" w="med" len="med"/>
                      <a:tailEnd type="none" w="med" len="med"/>
                    </a:lnB>
                    <a:solidFill>
                      <a:srgbClr val="FFFFFF"/>
                    </a:solidFill>
                  </a:tcPr>
                </a:tc>
                <a:tc>
                  <a:txBody>
                    <a:bodyPr/>
                    <a:lstStyle/>
                    <a:p>
                      <a:pPr algn="r" indent="0" marL="0">
                        <a:buNone/>
                      </a:pPr>
                      <a:r>
                        <a:rPr lang="en-US" sz="1100" b="1" dirty="0">
                          <a:solidFill>
                            <a:srgbClr val="2C2825"/>
                          </a:solidFill>
                          <a:latin typeface="Calibri" pitchFamily="34" charset="0"/>
                          <a:ea typeface="Calibri" pitchFamily="34" charset="-122"/>
                          <a:cs typeface="Calibri" pitchFamily="34" charset="-120"/>
                        </a:rPr>
                        <a:t>2,431</a:t>
                      </a:r>
                      <a:endParaRPr lang="en-US" sz="1100" dirty="0">
                        <a:latin typeface="Calibri" charset="0"/>
                        <a:ea typeface="Calibri" charset="0"/>
                        <a:cs typeface="Calibri" charset="0"/>
                      </a:endParaRPr>
                    </a:p>
                  </a:txBody>
                  <a:tcPr marL="76200" marR="76200" marT="38100" marB="38100" anchor="ctr">
                    <a:lnL w="9525" cap="flat" cmpd="sng" algn="ctr">
                      <a:solidFill>
                        <a:srgbClr val="E7E3DE"/>
                      </a:solidFill>
                      <a:prstDash val="solid"/>
                      <a:round/>
                      <a:headEnd type="none" w="med" len="med"/>
                      <a:tailEnd type="none" w="med" len="med"/>
                    </a:lnL>
                    <a:lnR w="9525" cap="flat" cmpd="sng" algn="ctr">
                      <a:solidFill>
                        <a:srgbClr val="E7E3DE"/>
                      </a:solidFill>
                      <a:prstDash val="solid"/>
                      <a:round/>
                      <a:headEnd type="none" w="med" len="med"/>
                      <a:tailEnd type="none" w="med" len="med"/>
                    </a:lnR>
                    <a:lnT w="9525" cap="flat" cmpd="sng" algn="ctr">
                      <a:solidFill>
                        <a:srgbClr val="E7E3DE"/>
                      </a:solidFill>
                      <a:prstDash val="solid"/>
                      <a:round/>
                      <a:headEnd type="none" w="med" len="med"/>
                      <a:tailEnd type="none" w="med" len="med"/>
                    </a:lnT>
                    <a:lnB w="9525" cap="flat" cmpd="sng" algn="ctr">
                      <a:solidFill>
                        <a:srgbClr val="E7E3DE"/>
                      </a:solidFill>
                      <a:prstDash val="solid"/>
                      <a:round/>
                      <a:headEnd type="none" w="med" len="med"/>
                      <a:tailEnd type="none" w="med" len="med"/>
                    </a:lnB>
                    <a:solidFill>
                      <a:srgbClr val="FFFFFF"/>
                    </a:solidFill>
                  </a:tcPr>
                </a:tc>
                <a:tc>
                  <a:txBody>
                    <a:bodyPr/>
                    <a:lstStyle/>
                    <a:p>
                      <a:pPr indent="0" marL="0">
                        <a:buNone/>
                      </a:pPr>
                      <a:endParaRPr lang="en-US" sz="1100" dirty="0">
                        <a:latin typeface="Calibri" charset="0"/>
                        <a:ea typeface="Calibri" charset="0"/>
                        <a:cs typeface="Calibri" charset="0"/>
                      </a:endParaRPr>
                    </a:p>
                  </a:txBody>
                  <a:tcPr marL="76200" marR="76200" marT="38100" marB="38100" anchor="ctr">
                    <a:lnL w="9525" cap="flat" cmpd="sng" algn="ctr">
                      <a:solidFill>
                        <a:srgbClr val="E7E3DE"/>
                      </a:solidFill>
                      <a:prstDash val="solid"/>
                      <a:round/>
                      <a:headEnd type="none" w="med" len="med"/>
                      <a:tailEnd type="none" w="med" len="med"/>
                    </a:lnL>
                    <a:lnR w="9525" cap="flat" cmpd="sng" algn="ctr">
                      <a:solidFill>
                        <a:srgbClr val="E7E3DE"/>
                      </a:solidFill>
                      <a:prstDash val="solid"/>
                      <a:round/>
                      <a:headEnd type="none" w="med" len="med"/>
                      <a:tailEnd type="none" w="med" len="med"/>
                    </a:lnR>
                    <a:lnT w="9525" cap="flat" cmpd="sng" algn="ctr">
                      <a:solidFill>
                        <a:srgbClr val="E7E3DE"/>
                      </a:solidFill>
                      <a:prstDash val="solid"/>
                      <a:round/>
                      <a:headEnd type="none" w="med" len="med"/>
                      <a:tailEnd type="none" w="med" len="med"/>
                    </a:lnT>
                    <a:lnB w="9525" cap="flat" cmpd="sng" algn="ctr">
                      <a:solidFill>
                        <a:srgbClr val="E7E3DE"/>
                      </a:solidFill>
                      <a:prstDash val="solid"/>
                      <a:round/>
                      <a:headEnd type="none" w="med" len="med"/>
                      <a:tailEnd type="none" w="med" len="med"/>
                    </a:lnB>
                    <a:solidFill>
                      <a:srgbClr val="FFFFFF"/>
                    </a:solidFill>
                  </a:tcPr>
                </a:tc>
              </a:tr>
            </a:tbl>
          </a:graphicData>
        </a:graphic>
      </p:graphicFrame>
      <p:sp>
        <p:nvSpPr>
          <p:cNvPr id="9" name="Shape 5"/>
          <p:cNvSpPr/>
          <p:nvPr/>
        </p:nvSpPr>
        <p:spPr>
          <a:xfrm>
            <a:off x="685800" y="5632704"/>
            <a:ext cx="3429000" cy="841248"/>
          </a:xfrm>
          <a:prstGeom prst="roundRect">
            <a:avLst>
              <a:gd name="adj" fmla="val 11957"/>
            </a:avLst>
          </a:prstGeom>
          <a:solidFill>
            <a:srgbClr val="F5EAE6"/>
          </a:solidFill>
          <a:ln w="9525">
            <a:solidFill>
              <a:srgbClr val="EBD8D1"/>
            </a:solidFill>
            <a:prstDash val="solid"/>
          </a:ln>
          <a:effectLst>
            <a:outerShdw sx="100000" sy="100000" kx="0" ky="0" algn="bl" rotWithShape="0" blurRad="101600" dist="25400" dir="5400000">
              <a:srgbClr val="2C2825">
                <a:alpha val="6000"/>
              </a:srgbClr>
            </a:outerShdw>
          </a:effectLst>
        </p:spPr>
      </p:sp>
      <p:sp>
        <p:nvSpPr>
          <p:cNvPr id="10" name="Text 6"/>
          <p:cNvSpPr txBox="1"/>
          <p:nvPr/>
        </p:nvSpPr>
        <p:spPr>
          <a:xfrm>
            <a:off x="886968" y="5724144"/>
            <a:ext cx="3035808" cy="237744"/>
          </a:xfrm>
          <a:prstGeom prst="rect">
            <a:avLst/>
          </a:prstGeom>
          <a:noFill/>
          <a:ln/>
        </p:spPr>
        <p:txBody>
          <a:bodyPr wrap="square" lIns="0" tIns="0" rIns="0" bIns="0" rtlCol="0" anchor="ctr"/>
          <a:lstStyle/>
          <a:p>
            <a:pPr indent="0" marL="0">
              <a:buNone/>
            </a:pPr>
            <a:r>
              <a:rPr lang="en-US" sz="1250" b="1" dirty="0">
                <a:solidFill>
                  <a:srgbClr val="8B3E2D"/>
                </a:solidFill>
                <a:latin typeface="Calibri" pitchFamily="34" charset="0"/>
                <a:ea typeface="Calibri" pitchFamily="34" charset="-122"/>
                <a:cs typeface="Calibri" pitchFamily="34" charset="-120"/>
              </a:rPr>
              <a:t>3-month free trial</a:t>
            </a:r>
            <a:endParaRPr lang="en-US" sz="1250" dirty="0"/>
          </a:p>
        </p:txBody>
      </p:sp>
      <p:sp>
        <p:nvSpPr>
          <p:cNvPr id="11" name="Text 7"/>
          <p:cNvSpPr txBox="1"/>
          <p:nvPr/>
        </p:nvSpPr>
        <p:spPr>
          <a:xfrm>
            <a:off x="886968" y="5980176"/>
            <a:ext cx="3035808" cy="438912"/>
          </a:xfrm>
          <a:prstGeom prst="rect">
            <a:avLst/>
          </a:prstGeom>
          <a:noFill/>
          <a:ln/>
        </p:spPr>
        <p:txBody>
          <a:bodyPr wrap="square" lIns="0" tIns="0" rIns="0" bIns="0" rtlCol="0" anchor="ctr"/>
          <a:lstStyle/>
          <a:p>
            <a:pPr indent="0" marL="0">
              <a:lnSpc>
                <a:spcPts val="1350"/>
              </a:lnSpc>
              <a:buNone/>
            </a:pPr>
            <a:r>
              <a:rPr lang="en-US" sz="1050" dirty="0">
                <a:solidFill>
                  <a:srgbClr val="5A534C"/>
                </a:solidFill>
                <a:latin typeface="Calibri" pitchFamily="34" charset="0"/>
                <a:ea typeface="Calibri" pitchFamily="34" charset="-122"/>
                <a:cs typeface="Calibri" pitchFamily="34" charset="-120"/>
              </a:rPr>
              <a:t>Every vendor starts free, so the first payment lands three months after signup.</a:t>
            </a:r>
            <a:endParaRPr lang="en-US" sz="1050" dirty="0"/>
          </a:p>
        </p:txBody>
      </p:sp>
      <p:sp>
        <p:nvSpPr>
          <p:cNvPr id="12" name="Shape 8"/>
          <p:cNvSpPr/>
          <p:nvPr/>
        </p:nvSpPr>
        <p:spPr>
          <a:xfrm>
            <a:off x="4343400" y="5632704"/>
            <a:ext cx="3429000" cy="841248"/>
          </a:xfrm>
          <a:prstGeom prst="roundRect">
            <a:avLst>
              <a:gd name="adj" fmla="val 11957"/>
            </a:avLst>
          </a:prstGeom>
          <a:solidFill>
            <a:srgbClr val="EAF0EB"/>
          </a:solidFill>
          <a:ln w="9525">
            <a:solidFill>
              <a:srgbClr val="D8E3D9"/>
            </a:solidFill>
            <a:prstDash val="solid"/>
          </a:ln>
          <a:effectLst>
            <a:outerShdw sx="100000" sy="100000" kx="0" ky="0" algn="bl" rotWithShape="0" blurRad="101600" dist="25400" dir="5400000">
              <a:srgbClr val="2C2825">
                <a:alpha val="6000"/>
              </a:srgbClr>
            </a:outerShdw>
          </a:effectLst>
        </p:spPr>
      </p:sp>
      <p:sp>
        <p:nvSpPr>
          <p:cNvPr id="13" name="Text 9"/>
          <p:cNvSpPr txBox="1"/>
          <p:nvPr/>
        </p:nvSpPr>
        <p:spPr>
          <a:xfrm>
            <a:off x="4544568" y="5724144"/>
            <a:ext cx="3035808" cy="237744"/>
          </a:xfrm>
          <a:prstGeom prst="rect">
            <a:avLst/>
          </a:prstGeom>
          <a:noFill/>
          <a:ln/>
        </p:spPr>
        <p:txBody>
          <a:bodyPr wrap="square" lIns="0" tIns="0" rIns="0" bIns="0" rtlCol="0" anchor="ctr"/>
          <a:lstStyle/>
          <a:p>
            <a:pPr indent="0" marL="0">
              <a:buNone/>
            </a:pPr>
            <a:r>
              <a:rPr lang="en-US" sz="1250" b="1" dirty="0">
                <a:solidFill>
                  <a:srgbClr val="4D7255"/>
                </a:solidFill>
                <a:latin typeface="Calibri" pitchFamily="34" charset="0"/>
                <a:ea typeface="Calibri" pitchFamily="34" charset="-122"/>
                <a:cs typeface="Calibri" pitchFamily="34" charset="-120"/>
              </a:rPr>
              <a:t>~10% attrition</a:t>
            </a:r>
            <a:endParaRPr lang="en-US" sz="1250" dirty="0"/>
          </a:p>
        </p:txBody>
      </p:sp>
      <p:sp>
        <p:nvSpPr>
          <p:cNvPr id="14" name="Text 10"/>
          <p:cNvSpPr txBox="1"/>
          <p:nvPr/>
        </p:nvSpPr>
        <p:spPr>
          <a:xfrm>
            <a:off x="4544568" y="5980176"/>
            <a:ext cx="3035808" cy="438912"/>
          </a:xfrm>
          <a:prstGeom prst="rect">
            <a:avLst/>
          </a:prstGeom>
          <a:noFill/>
          <a:ln/>
        </p:spPr>
        <p:txBody>
          <a:bodyPr wrap="square" lIns="0" tIns="0" rIns="0" bIns="0" rtlCol="0" anchor="ctr"/>
          <a:lstStyle/>
          <a:p>
            <a:pPr indent="0" marL="0">
              <a:lnSpc>
                <a:spcPts val="1350"/>
              </a:lnSpc>
              <a:buNone/>
            </a:pPr>
            <a:r>
              <a:rPr lang="en-US" sz="1050" dirty="0">
                <a:solidFill>
                  <a:srgbClr val="5A534C"/>
                </a:solidFill>
                <a:latin typeface="Calibri" pitchFamily="34" charset="0"/>
                <a:ea typeface="Calibri" pitchFamily="34" charset="-122"/>
                <a:cs typeface="Calibri" pitchFamily="34" charset="-120"/>
              </a:rPr>
              <a:t>A tenth of each arriving cohort is written off — churn is in the model, not assumed away.</a:t>
            </a:r>
            <a:endParaRPr lang="en-US" sz="1050" dirty="0"/>
          </a:p>
        </p:txBody>
      </p:sp>
      <p:sp>
        <p:nvSpPr>
          <p:cNvPr id="15" name="Shape 11"/>
          <p:cNvSpPr/>
          <p:nvPr/>
        </p:nvSpPr>
        <p:spPr>
          <a:xfrm>
            <a:off x="8001000" y="5632704"/>
            <a:ext cx="3429000" cy="841248"/>
          </a:xfrm>
          <a:prstGeom prst="roundRect">
            <a:avLst>
              <a:gd name="adj" fmla="val 11957"/>
            </a:avLst>
          </a:prstGeom>
          <a:solidFill>
            <a:srgbClr val="F5EAE6"/>
          </a:solidFill>
          <a:ln w="9525">
            <a:solidFill>
              <a:srgbClr val="EBD8D1"/>
            </a:solidFill>
            <a:prstDash val="solid"/>
          </a:ln>
          <a:effectLst>
            <a:outerShdw sx="100000" sy="100000" kx="0" ky="0" algn="bl" rotWithShape="0" blurRad="101600" dist="25400" dir="5400000">
              <a:srgbClr val="2C2825">
                <a:alpha val="6000"/>
              </a:srgbClr>
            </a:outerShdw>
          </a:effectLst>
        </p:spPr>
      </p:sp>
      <p:sp>
        <p:nvSpPr>
          <p:cNvPr id="16" name="Text 12"/>
          <p:cNvSpPr txBox="1"/>
          <p:nvPr/>
        </p:nvSpPr>
        <p:spPr>
          <a:xfrm>
            <a:off x="8202168" y="5724144"/>
            <a:ext cx="3035808" cy="237744"/>
          </a:xfrm>
          <a:prstGeom prst="rect">
            <a:avLst/>
          </a:prstGeom>
          <a:noFill/>
          <a:ln/>
        </p:spPr>
        <p:txBody>
          <a:bodyPr wrap="square" lIns="0" tIns="0" rIns="0" bIns="0" rtlCol="0" anchor="ctr"/>
          <a:lstStyle/>
          <a:p>
            <a:pPr indent="0" marL="0">
              <a:buNone/>
            </a:pPr>
            <a:r>
              <a:rPr lang="en-US" sz="1250" b="1" dirty="0">
                <a:solidFill>
                  <a:srgbClr val="8B3E2D"/>
                </a:solidFill>
                <a:latin typeface="Calibri" pitchFamily="34" charset="0"/>
                <a:ea typeface="Calibri" pitchFamily="34" charset="-122"/>
                <a:cs typeface="Calibri" pitchFamily="34" charset="-120"/>
              </a:rPr>
              <a:t>$29 → $39 from Dec '28</a:t>
            </a:r>
            <a:endParaRPr lang="en-US" sz="1250" dirty="0"/>
          </a:p>
        </p:txBody>
      </p:sp>
      <p:sp>
        <p:nvSpPr>
          <p:cNvPr id="17" name="Text 13"/>
          <p:cNvSpPr txBox="1"/>
          <p:nvPr/>
        </p:nvSpPr>
        <p:spPr>
          <a:xfrm>
            <a:off x="8202168" y="5980176"/>
            <a:ext cx="3035808" cy="438912"/>
          </a:xfrm>
          <a:prstGeom prst="rect">
            <a:avLst/>
          </a:prstGeom>
          <a:noFill/>
          <a:ln/>
        </p:spPr>
        <p:txBody>
          <a:bodyPr wrap="square" lIns="0" tIns="0" rIns="0" bIns="0" rtlCol="0" anchor="ctr"/>
          <a:lstStyle/>
          <a:p>
            <a:pPr indent="0" marL="0">
              <a:lnSpc>
                <a:spcPts val="1350"/>
              </a:lnSpc>
              <a:buNone/>
            </a:pPr>
            <a:r>
              <a:rPr lang="en-US" sz="1050" dirty="0">
                <a:solidFill>
                  <a:srgbClr val="5A534C"/>
                </a:solidFill>
                <a:latin typeface="Calibri" pitchFamily="34" charset="0"/>
                <a:ea typeface="Calibri" pitchFamily="34" charset="-122"/>
                <a:cs typeface="Calibri" pitchFamily="34" charset="-120"/>
              </a:rPr>
              <a:t>One price step in year three, once the marketplace has depth in five metros.</a:t>
            </a:r>
            <a:endParaRPr lang="en-US" sz="10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2C2825"/>
        </a:solidFill>
      </p:bgPr>
    </p:bg>
    <p:spTree>
      <p:nvGrpSpPr>
        <p:cNvPr id="1" name=""/>
        <p:cNvGrpSpPr/>
        <p:nvPr/>
      </p:nvGrpSpPr>
      <p:grpSpPr>
        <a:xfrm>
          <a:off x="0" y="0"/>
          <a:ext cx="0" cy="0"/>
          <a:chOff x="0" y="0"/>
          <a:chExt cx="0" cy="0"/>
        </a:xfrm>
      </p:grpSpPr>
      <p:sp>
        <p:nvSpPr>
          <p:cNvPr id="2" name="Shape 0"/>
          <p:cNvSpPr/>
          <p:nvPr/>
        </p:nvSpPr>
        <p:spPr>
          <a:xfrm>
            <a:off x="-4206240" y="-2194560"/>
            <a:ext cx="5943600" cy="5943600"/>
          </a:xfrm>
          <a:prstGeom prst="ellipse">
            <a:avLst/>
          </a:prstGeom>
          <a:solidFill>
            <a:srgbClr val="8B3E2D">
              <a:alpha val="14000"/>
            </a:srgbClr>
          </a:solidFill>
          <a:ln/>
        </p:spPr>
      </p:sp>
      <p:sp>
        <p:nvSpPr>
          <p:cNvPr id="3" name="Shape 1"/>
          <p:cNvSpPr/>
          <p:nvPr/>
        </p:nvSpPr>
        <p:spPr>
          <a:xfrm>
            <a:off x="-5120640" y="2377440"/>
            <a:ext cx="5486400" cy="5486400"/>
          </a:xfrm>
          <a:prstGeom prst="ellipse">
            <a:avLst/>
          </a:prstGeom>
          <a:solidFill>
            <a:srgbClr val="4D7255">
              <a:alpha val="12000"/>
            </a:srgbClr>
          </a:solidFill>
          <a:ln/>
        </p:spPr>
      </p:sp>
      <p:sp>
        <p:nvSpPr>
          <p:cNvPr id="4" name="Text 2"/>
          <p:cNvSpPr txBox="1"/>
          <p:nvPr/>
        </p:nvSpPr>
        <p:spPr>
          <a:xfrm>
            <a:off x="685800" y="548640"/>
            <a:ext cx="7315200" cy="256032"/>
          </a:xfrm>
          <a:prstGeom prst="rect">
            <a:avLst/>
          </a:prstGeom>
          <a:noFill/>
          <a:ln/>
        </p:spPr>
        <p:txBody>
          <a:bodyPr wrap="square" lIns="0" tIns="0" rIns="0" bIns="0" rtlCol="0" anchor="ctr"/>
          <a:lstStyle/>
          <a:p>
            <a:pPr indent="0" marL="0">
              <a:buNone/>
            </a:pPr>
            <a:r>
              <a:rPr lang="en-US" sz="1100" b="1" spc="220" kern="0" dirty="0">
                <a:solidFill>
                  <a:srgbClr val="D4876F"/>
                </a:solidFill>
                <a:latin typeface="Calibri" pitchFamily="34" charset="0"/>
                <a:ea typeface="Calibri" pitchFamily="34" charset="-122"/>
                <a:cs typeface="Calibri" pitchFamily="34" charset="-120"/>
              </a:rPr>
              <a:t>THE TEAM</a:t>
            </a:r>
            <a:endParaRPr lang="en-US" sz="1100" dirty="0"/>
          </a:p>
        </p:txBody>
      </p:sp>
      <p:sp>
        <p:nvSpPr>
          <p:cNvPr id="5" name="Text 3"/>
          <p:cNvSpPr txBox="1"/>
          <p:nvPr/>
        </p:nvSpPr>
        <p:spPr>
          <a:xfrm>
            <a:off x="685800" y="859536"/>
            <a:ext cx="10789920" cy="658368"/>
          </a:xfrm>
          <a:prstGeom prst="rect">
            <a:avLst/>
          </a:prstGeom>
          <a:noFill/>
          <a:ln/>
        </p:spPr>
        <p:txBody>
          <a:bodyPr wrap="square" lIns="0" tIns="0" rIns="0" bIns="0" rtlCol="0" anchor="t"/>
          <a:lstStyle/>
          <a:p>
            <a:pPr indent="0" marL="0">
              <a:buNone/>
            </a:pPr>
            <a:r>
              <a:rPr lang="en-US" sz="3200" dirty="0">
                <a:solidFill>
                  <a:srgbClr val="FAF9F7"/>
                </a:solidFill>
                <a:latin typeface="Cambria" pitchFamily="34" charset="0"/>
                <a:ea typeface="Cambria" pitchFamily="34" charset="-122"/>
                <a:cs typeface="Cambria" pitchFamily="34" charset="-120"/>
              </a:rPr>
              <a:t>Built by people who have done this work</a:t>
            </a:r>
            <a:endParaRPr lang="en-US" sz="3200" dirty="0"/>
          </a:p>
        </p:txBody>
      </p:sp>
      <p:sp>
        <p:nvSpPr>
          <p:cNvPr id="6" name="Shape 4"/>
          <p:cNvSpPr/>
          <p:nvPr/>
        </p:nvSpPr>
        <p:spPr>
          <a:xfrm>
            <a:off x="685800" y="1664208"/>
            <a:ext cx="3429000" cy="2761488"/>
          </a:xfrm>
          <a:prstGeom prst="roundRect">
            <a:avLst>
              <a:gd name="adj" fmla="val 3642"/>
            </a:avLst>
          </a:prstGeom>
          <a:solidFill>
            <a:srgbClr val="FAF9F7">
              <a:alpha val="8000"/>
            </a:srgbClr>
          </a:solidFill>
          <a:ln w="12700">
            <a:solidFill>
              <a:srgbClr val="8B3E2D"/>
            </a:solidFill>
            <a:prstDash val="solid"/>
          </a:ln>
        </p:spPr>
      </p:sp>
      <p:sp>
        <p:nvSpPr>
          <p:cNvPr id="7" name="Shape 5"/>
          <p:cNvSpPr/>
          <p:nvPr/>
        </p:nvSpPr>
        <p:spPr>
          <a:xfrm>
            <a:off x="923544" y="1865376"/>
            <a:ext cx="585216" cy="585216"/>
          </a:xfrm>
          <a:prstGeom prst="ellipse">
            <a:avLst/>
          </a:prstGeom>
          <a:solidFill>
            <a:srgbClr val="C1634F"/>
          </a:solidFill>
          <a:ln/>
        </p:spPr>
      </p:sp>
      <p:sp>
        <p:nvSpPr>
          <p:cNvPr id="8" name="Text 6"/>
          <p:cNvSpPr txBox="1"/>
          <p:nvPr/>
        </p:nvSpPr>
        <p:spPr>
          <a:xfrm>
            <a:off x="923544" y="1865376"/>
            <a:ext cx="585216" cy="585216"/>
          </a:xfrm>
          <a:prstGeom prst="rect">
            <a:avLst/>
          </a:prstGeom>
          <a:noFill/>
          <a:ln/>
        </p:spPr>
        <p:txBody>
          <a:bodyPr wrap="square" lIns="0" tIns="0" rIns="0" bIns="0" rtlCol="0" anchor="ctr"/>
          <a:lstStyle/>
          <a:p>
            <a:pPr algn="ctr" indent="0" marL="0">
              <a:buNone/>
            </a:pPr>
            <a:r>
              <a:rPr lang="en-US" sz="1800" b="1" dirty="0">
                <a:solidFill>
                  <a:srgbClr val="2C2825"/>
                </a:solidFill>
                <a:latin typeface="Cambria" pitchFamily="34" charset="0"/>
                <a:ea typeface="Cambria" pitchFamily="34" charset="-122"/>
                <a:cs typeface="Cambria" pitchFamily="34" charset="-120"/>
              </a:rPr>
              <a:t>JB</a:t>
            </a:r>
            <a:endParaRPr lang="en-US" sz="1800" dirty="0"/>
          </a:p>
        </p:txBody>
      </p:sp>
      <p:sp>
        <p:nvSpPr>
          <p:cNvPr id="9" name="Text 7"/>
          <p:cNvSpPr txBox="1"/>
          <p:nvPr/>
        </p:nvSpPr>
        <p:spPr>
          <a:xfrm>
            <a:off x="923544" y="2560320"/>
            <a:ext cx="2962656" cy="292608"/>
          </a:xfrm>
          <a:prstGeom prst="rect">
            <a:avLst/>
          </a:prstGeom>
          <a:noFill/>
          <a:ln/>
        </p:spPr>
        <p:txBody>
          <a:bodyPr wrap="square" lIns="0" tIns="0" rIns="0" bIns="0" rtlCol="0" anchor="ctr"/>
          <a:lstStyle/>
          <a:p>
            <a:pPr indent="0" marL="0">
              <a:buNone/>
            </a:pPr>
            <a:r>
              <a:rPr lang="en-US" sz="1650" dirty="0">
                <a:solidFill>
                  <a:srgbClr val="FAF9F7"/>
                </a:solidFill>
                <a:latin typeface="Cambria" pitchFamily="34" charset="0"/>
                <a:ea typeface="Cambria" pitchFamily="34" charset="-122"/>
                <a:cs typeface="Cambria" pitchFamily="34" charset="-120"/>
              </a:rPr>
              <a:t>Juliana Bernstein</a:t>
            </a:r>
            <a:endParaRPr lang="en-US" sz="1650" dirty="0"/>
          </a:p>
        </p:txBody>
      </p:sp>
      <p:sp>
        <p:nvSpPr>
          <p:cNvPr id="10" name="Text 8"/>
          <p:cNvSpPr txBox="1"/>
          <p:nvPr/>
        </p:nvSpPr>
        <p:spPr>
          <a:xfrm>
            <a:off x="923544" y="2880360"/>
            <a:ext cx="2962656" cy="201168"/>
          </a:xfrm>
          <a:prstGeom prst="rect">
            <a:avLst/>
          </a:prstGeom>
          <a:noFill/>
          <a:ln/>
        </p:spPr>
        <p:txBody>
          <a:bodyPr wrap="square" lIns="0" tIns="0" rIns="0" bIns="0" rtlCol="0" anchor="ctr"/>
          <a:lstStyle/>
          <a:p>
            <a:pPr indent="0" marL="0">
              <a:buNone/>
            </a:pPr>
            <a:r>
              <a:rPr lang="en-US" sz="1000" b="1" spc="200" kern="0" dirty="0">
                <a:solidFill>
                  <a:srgbClr val="D4876F"/>
                </a:solidFill>
                <a:latin typeface="Calibri" pitchFamily="34" charset="0"/>
                <a:ea typeface="Calibri" pitchFamily="34" charset="-122"/>
                <a:cs typeface="Calibri" pitchFamily="34" charset="-120"/>
              </a:rPr>
              <a:t>CO-FOUNDER</a:t>
            </a:r>
            <a:endParaRPr lang="en-US" sz="1000" dirty="0"/>
          </a:p>
        </p:txBody>
      </p:sp>
      <p:sp>
        <p:nvSpPr>
          <p:cNvPr id="11" name="Text 9"/>
          <p:cNvSpPr txBox="1"/>
          <p:nvPr/>
        </p:nvSpPr>
        <p:spPr>
          <a:xfrm>
            <a:off x="923544" y="3145536"/>
            <a:ext cx="2962656" cy="1097280"/>
          </a:xfrm>
          <a:prstGeom prst="rect">
            <a:avLst/>
          </a:prstGeom>
          <a:noFill/>
          <a:ln/>
        </p:spPr>
        <p:txBody>
          <a:bodyPr wrap="square" lIns="0" tIns="0" rIns="0" bIns="0" rtlCol="0" anchor="ctr"/>
          <a:lstStyle/>
          <a:p>
            <a:pPr indent="0" marL="0">
              <a:lnSpc>
                <a:spcPts val="1400"/>
              </a:lnSpc>
              <a:buNone/>
            </a:pPr>
            <a:r>
              <a:rPr lang="en-US" sz="1050" dirty="0">
                <a:solidFill>
                  <a:srgbClr val="EFEBE5"/>
                </a:solidFill>
                <a:latin typeface="Calibri" pitchFamily="34" charset="0"/>
                <a:ea typeface="Calibri" pitchFamily="34" charset="-122"/>
                <a:cs typeface="Calibri" pitchFamily="34" charset="-120"/>
              </a:rPr>
              <a:t>Geriatric physician associate turned entrepreneur. Sixteen years in geriatric and palliative medicine, then founded Oregon’s first event company dedicated to living funerals and celebrations of life. Brown University; OHSU.</a:t>
            </a:r>
            <a:endParaRPr lang="en-US" sz="1050" dirty="0"/>
          </a:p>
        </p:txBody>
      </p:sp>
      <p:sp>
        <p:nvSpPr>
          <p:cNvPr id="12" name="Shape 10"/>
          <p:cNvSpPr/>
          <p:nvPr/>
        </p:nvSpPr>
        <p:spPr>
          <a:xfrm>
            <a:off x="4343400" y="1664208"/>
            <a:ext cx="3429000" cy="2761488"/>
          </a:xfrm>
          <a:prstGeom prst="roundRect">
            <a:avLst>
              <a:gd name="adj" fmla="val 3642"/>
            </a:avLst>
          </a:prstGeom>
          <a:solidFill>
            <a:srgbClr val="FAF9F7">
              <a:alpha val="8000"/>
            </a:srgbClr>
          </a:solidFill>
          <a:ln w="12700">
            <a:solidFill>
              <a:srgbClr val="4D7255"/>
            </a:solidFill>
            <a:prstDash val="solid"/>
          </a:ln>
        </p:spPr>
      </p:sp>
      <p:sp>
        <p:nvSpPr>
          <p:cNvPr id="13" name="Shape 11"/>
          <p:cNvSpPr/>
          <p:nvPr/>
        </p:nvSpPr>
        <p:spPr>
          <a:xfrm>
            <a:off x="4581144" y="1865376"/>
            <a:ext cx="585216" cy="585216"/>
          </a:xfrm>
          <a:prstGeom prst="ellipse">
            <a:avLst/>
          </a:prstGeom>
          <a:solidFill>
            <a:srgbClr val="7A9E82"/>
          </a:solidFill>
          <a:ln/>
        </p:spPr>
      </p:sp>
      <p:sp>
        <p:nvSpPr>
          <p:cNvPr id="14" name="Text 12"/>
          <p:cNvSpPr txBox="1"/>
          <p:nvPr/>
        </p:nvSpPr>
        <p:spPr>
          <a:xfrm>
            <a:off x="4581144" y="1865376"/>
            <a:ext cx="585216" cy="585216"/>
          </a:xfrm>
          <a:prstGeom prst="rect">
            <a:avLst/>
          </a:prstGeom>
          <a:noFill/>
          <a:ln/>
        </p:spPr>
        <p:txBody>
          <a:bodyPr wrap="square" lIns="0" tIns="0" rIns="0" bIns="0" rtlCol="0" anchor="ctr"/>
          <a:lstStyle/>
          <a:p>
            <a:pPr algn="ctr" indent="0" marL="0">
              <a:buNone/>
            </a:pPr>
            <a:r>
              <a:rPr lang="en-US" sz="1800" b="1" dirty="0">
                <a:solidFill>
                  <a:srgbClr val="2C2825"/>
                </a:solidFill>
                <a:latin typeface="Cambria" pitchFamily="34" charset="0"/>
                <a:ea typeface="Cambria" pitchFamily="34" charset="-122"/>
                <a:cs typeface="Cambria" pitchFamily="34" charset="-120"/>
              </a:rPr>
              <a:t>NL</a:t>
            </a:r>
            <a:endParaRPr lang="en-US" sz="1800" dirty="0"/>
          </a:p>
        </p:txBody>
      </p:sp>
      <p:sp>
        <p:nvSpPr>
          <p:cNvPr id="15" name="Text 13"/>
          <p:cNvSpPr txBox="1"/>
          <p:nvPr/>
        </p:nvSpPr>
        <p:spPr>
          <a:xfrm>
            <a:off x="4581144" y="2560320"/>
            <a:ext cx="2962656" cy="292608"/>
          </a:xfrm>
          <a:prstGeom prst="rect">
            <a:avLst/>
          </a:prstGeom>
          <a:noFill/>
          <a:ln/>
        </p:spPr>
        <p:txBody>
          <a:bodyPr wrap="square" lIns="0" tIns="0" rIns="0" bIns="0" rtlCol="0" anchor="ctr"/>
          <a:lstStyle/>
          <a:p>
            <a:pPr indent="0" marL="0">
              <a:buNone/>
            </a:pPr>
            <a:r>
              <a:rPr lang="en-US" sz="1650" dirty="0">
                <a:solidFill>
                  <a:srgbClr val="FAF9F7"/>
                </a:solidFill>
                <a:latin typeface="Cambria" pitchFamily="34" charset="0"/>
                <a:ea typeface="Cambria" pitchFamily="34" charset="-122"/>
                <a:cs typeface="Cambria" pitchFamily="34" charset="-120"/>
              </a:rPr>
              <a:t>Naomi Levy</a:t>
            </a:r>
            <a:endParaRPr lang="en-US" sz="1650" dirty="0"/>
          </a:p>
        </p:txBody>
      </p:sp>
      <p:sp>
        <p:nvSpPr>
          <p:cNvPr id="16" name="Text 14"/>
          <p:cNvSpPr txBox="1"/>
          <p:nvPr/>
        </p:nvSpPr>
        <p:spPr>
          <a:xfrm>
            <a:off x="4581144" y="2880360"/>
            <a:ext cx="2962656" cy="201168"/>
          </a:xfrm>
          <a:prstGeom prst="rect">
            <a:avLst/>
          </a:prstGeom>
          <a:noFill/>
          <a:ln/>
        </p:spPr>
        <p:txBody>
          <a:bodyPr wrap="square" lIns="0" tIns="0" rIns="0" bIns="0" rtlCol="0" anchor="ctr"/>
          <a:lstStyle/>
          <a:p>
            <a:pPr indent="0" marL="0">
              <a:buNone/>
            </a:pPr>
            <a:r>
              <a:rPr lang="en-US" sz="1000" b="1" spc="200" kern="0" dirty="0">
                <a:solidFill>
                  <a:srgbClr val="A8C4AC"/>
                </a:solidFill>
                <a:latin typeface="Calibri" pitchFamily="34" charset="0"/>
                <a:ea typeface="Calibri" pitchFamily="34" charset="-122"/>
                <a:cs typeface="Calibri" pitchFamily="34" charset="-120"/>
              </a:rPr>
              <a:t>CO-FOUNDER</a:t>
            </a:r>
            <a:endParaRPr lang="en-US" sz="1000" dirty="0"/>
          </a:p>
        </p:txBody>
      </p:sp>
      <p:sp>
        <p:nvSpPr>
          <p:cNvPr id="17" name="Text 15"/>
          <p:cNvSpPr txBox="1"/>
          <p:nvPr/>
        </p:nvSpPr>
        <p:spPr>
          <a:xfrm>
            <a:off x="4581144" y="3145536"/>
            <a:ext cx="2962656" cy="1097280"/>
          </a:xfrm>
          <a:prstGeom prst="rect">
            <a:avLst/>
          </a:prstGeom>
          <a:noFill/>
          <a:ln/>
        </p:spPr>
        <p:txBody>
          <a:bodyPr wrap="square" lIns="0" tIns="0" rIns="0" bIns="0" rtlCol="0" anchor="ctr"/>
          <a:lstStyle/>
          <a:p>
            <a:pPr indent="0" marL="0">
              <a:lnSpc>
                <a:spcPts val="1400"/>
              </a:lnSpc>
              <a:buNone/>
            </a:pPr>
            <a:r>
              <a:rPr lang="en-US" sz="1050" dirty="0">
                <a:solidFill>
                  <a:srgbClr val="EFEBE5"/>
                </a:solidFill>
                <a:latin typeface="Calibri" pitchFamily="34" charset="0"/>
                <a:ea typeface="Calibri" pitchFamily="34" charset="-122"/>
                <a:cs typeface="Calibri" pitchFamily="34" charset="-120"/>
              </a:rPr>
              <a:t>Seventeen years in product and project management of economic forecasts, then founded a home-organizing practice helping people manage their lives and belongings. Economics, New York University.</a:t>
            </a:r>
            <a:endParaRPr lang="en-US" sz="1050" dirty="0"/>
          </a:p>
        </p:txBody>
      </p:sp>
      <p:sp>
        <p:nvSpPr>
          <p:cNvPr id="18" name="Shape 16"/>
          <p:cNvSpPr/>
          <p:nvPr/>
        </p:nvSpPr>
        <p:spPr>
          <a:xfrm>
            <a:off x="8001000" y="1664208"/>
            <a:ext cx="3429000" cy="2761488"/>
          </a:xfrm>
          <a:prstGeom prst="roundRect">
            <a:avLst>
              <a:gd name="adj" fmla="val 3642"/>
            </a:avLst>
          </a:prstGeom>
          <a:solidFill>
            <a:srgbClr val="FAF9F7">
              <a:alpha val="8000"/>
            </a:srgbClr>
          </a:solidFill>
          <a:ln w="12700">
            <a:solidFill>
              <a:srgbClr val="8B3E2D"/>
            </a:solidFill>
            <a:prstDash val="solid"/>
          </a:ln>
        </p:spPr>
      </p:sp>
      <p:sp>
        <p:nvSpPr>
          <p:cNvPr id="19" name="Shape 17"/>
          <p:cNvSpPr/>
          <p:nvPr/>
        </p:nvSpPr>
        <p:spPr>
          <a:xfrm>
            <a:off x="8238744" y="1865376"/>
            <a:ext cx="585216" cy="585216"/>
          </a:xfrm>
          <a:prstGeom prst="ellipse">
            <a:avLst/>
          </a:prstGeom>
          <a:solidFill>
            <a:srgbClr val="C1634F"/>
          </a:solidFill>
          <a:ln/>
        </p:spPr>
      </p:sp>
      <p:sp>
        <p:nvSpPr>
          <p:cNvPr id="20" name="Text 18"/>
          <p:cNvSpPr txBox="1"/>
          <p:nvPr/>
        </p:nvSpPr>
        <p:spPr>
          <a:xfrm>
            <a:off x="8238744" y="1865376"/>
            <a:ext cx="585216" cy="585216"/>
          </a:xfrm>
          <a:prstGeom prst="rect">
            <a:avLst/>
          </a:prstGeom>
          <a:noFill/>
          <a:ln/>
        </p:spPr>
        <p:txBody>
          <a:bodyPr wrap="square" lIns="0" tIns="0" rIns="0" bIns="0" rtlCol="0" anchor="ctr"/>
          <a:lstStyle/>
          <a:p>
            <a:pPr algn="ctr" indent="0" marL="0">
              <a:buNone/>
            </a:pPr>
            <a:r>
              <a:rPr lang="en-US" sz="1800" b="1" dirty="0">
                <a:solidFill>
                  <a:srgbClr val="2C2825"/>
                </a:solidFill>
                <a:latin typeface="Cambria" pitchFamily="34" charset="0"/>
                <a:ea typeface="Cambria" pitchFamily="34" charset="-122"/>
                <a:cs typeface="Cambria" pitchFamily="34" charset="-120"/>
              </a:rPr>
              <a:t>AS</a:t>
            </a:r>
            <a:endParaRPr lang="en-US" sz="1800" dirty="0"/>
          </a:p>
        </p:txBody>
      </p:sp>
      <p:sp>
        <p:nvSpPr>
          <p:cNvPr id="21" name="Text 19"/>
          <p:cNvSpPr txBox="1"/>
          <p:nvPr/>
        </p:nvSpPr>
        <p:spPr>
          <a:xfrm>
            <a:off x="8238744" y="2560320"/>
            <a:ext cx="2962656" cy="292608"/>
          </a:xfrm>
          <a:prstGeom prst="rect">
            <a:avLst/>
          </a:prstGeom>
          <a:noFill/>
          <a:ln/>
        </p:spPr>
        <p:txBody>
          <a:bodyPr wrap="square" lIns="0" tIns="0" rIns="0" bIns="0" rtlCol="0" anchor="ctr"/>
          <a:lstStyle/>
          <a:p>
            <a:pPr indent="0" marL="0">
              <a:buNone/>
            </a:pPr>
            <a:r>
              <a:rPr lang="en-US" sz="1450" dirty="0">
                <a:solidFill>
                  <a:srgbClr val="FAF9F7"/>
                </a:solidFill>
                <a:latin typeface="Cambria" pitchFamily="34" charset="0"/>
                <a:ea typeface="Cambria" pitchFamily="34" charset="-122"/>
                <a:cs typeface="Cambria" pitchFamily="34" charset="-120"/>
              </a:rPr>
              <a:t>Alison Shmerling, MD, MPH</a:t>
            </a:r>
            <a:endParaRPr lang="en-US" sz="1450" dirty="0"/>
          </a:p>
        </p:txBody>
      </p:sp>
      <p:sp>
        <p:nvSpPr>
          <p:cNvPr id="22" name="Text 20"/>
          <p:cNvSpPr txBox="1"/>
          <p:nvPr/>
        </p:nvSpPr>
        <p:spPr>
          <a:xfrm>
            <a:off x="8238744" y="2880360"/>
            <a:ext cx="2962656" cy="201168"/>
          </a:xfrm>
          <a:prstGeom prst="rect">
            <a:avLst/>
          </a:prstGeom>
          <a:noFill/>
          <a:ln/>
        </p:spPr>
        <p:txBody>
          <a:bodyPr wrap="square" lIns="0" tIns="0" rIns="0" bIns="0" rtlCol="0" anchor="ctr"/>
          <a:lstStyle/>
          <a:p>
            <a:pPr indent="0" marL="0">
              <a:buNone/>
            </a:pPr>
            <a:r>
              <a:rPr lang="en-US" sz="1000" b="1" spc="200" kern="0" dirty="0">
                <a:solidFill>
                  <a:srgbClr val="D4876F"/>
                </a:solidFill>
                <a:latin typeface="Calibri" pitchFamily="34" charset="0"/>
                <a:ea typeface="Calibri" pitchFamily="34" charset="-122"/>
                <a:cs typeface="Calibri" pitchFamily="34" charset="-120"/>
              </a:rPr>
              <a:t>ADVISOR</a:t>
            </a:r>
            <a:endParaRPr lang="en-US" sz="1000" dirty="0"/>
          </a:p>
        </p:txBody>
      </p:sp>
      <p:sp>
        <p:nvSpPr>
          <p:cNvPr id="23" name="Text 21"/>
          <p:cNvSpPr txBox="1"/>
          <p:nvPr/>
        </p:nvSpPr>
        <p:spPr>
          <a:xfrm>
            <a:off x="8238744" y="3145536"/>
            <a:ext cx="2962656" cy="1097280"/>
          </a:xfrm>
          <a:prstGeom prst="rect">
            <a:avLst/>
          </a:prstGeom>
          <a:noFill/>
          <a:ln/>
        </p:spPr>
        <p:txBody>
          <a:bodyPr wrap="square" lIns="0" tIns="0" rIns="0" bIns="0" rtlCol="0" anchor="ctr"/>
          <a:lstStyle/>
          <a:p>
            <a:pPr indent="0" marL="0">
              <a:lnSpc>
                <a:spcPts val="1400"/>
              </a:lnSpc>
              <a:buNone/>
            </a:pPr>
            <a:r>
              <a:rPr lang="en-US" sz="1050" dirty="0">
                <a:solidFill>
                  <a:srgbClr val="EFEBE5"/>
                </a:solidFill>
                <a:latin typeface="Calibri" pitchFamily="34" charset="0"/>
                <a:ea typeface="Calibri" pitchFamily="34" charset="-122"/>
                <a:cs typeface="Calibri" pitchFamily="34" charset="-120"/>
              </a:rPr>
              <a:t>Physician in underserved care settings, building programs at the intersection of underserved care and healthcare technology. Northwestern University; Tufts University School of Medicine.</a:t>
            </a:r>
            <a:endParaRPr lang="en-US" sz="1050" dirty="0"/>
          </a:p>
        </p:txBody>
      </p:sp>
      <p:sp>
        <p:nvSpPr>
          <p:cNvPr id="24" name="Shape 22"/>
          <p:cNvSpPr/>
          <p:nvPr/>
        </p:nvSpPr>
        <p:spPr>
          <a:xfrm>
            <a:off x="685800" y="4700016"/>
            <a:ext cx="10789920" cy="1280160"/>
          </a:xfrm>
          <a:prstGeom prst="roundRect">
            <a:avLst>
              <a:gd name="adj" fmla="val 7857"/>
            </a:avLst>
          </a:prstGeom>
          <a:solidFill>
            <a:srgbClr val="8B3E2D">
              <a:alpha val="38000"/>
            </a:srgbClr>
          </a:solidFill>
          <a:ln w="12700">
            <a:solidFill>
              <a:srgbClr val="D4876F"/>
            </a:solidFill>
            <a:prstDash val="solid"/>
          </a:ln>
        </p:spPr>
      </p:sp>
      <p:sp>
        <p:nvSpPr>
          <p:cNvPr id="25" name="Text 23"/>
          <p:cNvSpPr txBox="1"/>
          <p:nvPr/>
        </p:nvSpPr>
        <p:spPr>
          <a:xfrm>
            <a:off x="960120" y="4864608"/>
            <a:ext cx="2743200" cy="274320"/>
          </a:xfrm>
          <a:prstGeom prst="rect">
            <a:avLst/>
          </a:prstGeom>
          <a:noFill/>
          <a:ln/>
        </p:spPr>
        <p:txBody>
          <a:bodyPr wrap="square" lIns="0" tIns="0" rIns="0" bIns="0" rtlCol="0" anchor="ctr"/>
          <a:lstStyle/>
          <a:p>
            <a:pPr indent="0" marL="0">
              <a:buNone/>
            </a:pPr>
            <a:r>
              <a:rPr lang="en-US" sz="1100" b="1" spc="200" kern="0" dirty="0">
                <a:solidFill>
                  <a:srgbClr val="D4876F"/>
                </a:solidFill>
                <a:latin typeface="Calibri" pitchFamily="34" charset="0"/>
                <a:ea typeface="Calibri" pitchFamily="34" charset="-122"/>
                <a:cs typeface="Calibri" pitchFamily="34" charset="-120"/>
              </a:rPr>
              <a:t>The ask</a:t>
            </a:r>
            <a:endParaRPr lang="en-US" sz="1100" dirty="0"/>
          </a:p>
        </p:txBody>
      </p:sp>
      <p:sp>
        <p:nvSpPr>
          <p:cNvPr id="26" name="Text 24"/>
          <p:cNvSpPr txBox="1"/>
          <p:nvPr/>
        </p:nvSpPr>
        <p:spPr>
          <a:xfrm>
            <a:off x="960120" y="5157216"/>
            <a:ext cx="7680960" cy="658368"/>
          </a:xfrm>
          <a:prstGeom prst="rect">
            <a:avLst/>
          </a:prstGeom>
          <a:noFill/>
          <a:ln/>
        </p:spPr>
        <p:txBody>
          <a:bodyPr wrap="square" lIns="0" tIns="0" rIns="0" bIns="0" rtlCol="0" anchor="ctr"/>
          <a:lstStyle/>
          <a:p>
            <a:pPr indent="0" marL="0">
              <a:lnSpc>
                <a:spcPts val="2300"/>
              </a:lnSpc>
              <a:buNone/>
            </a:pPr>
            <a:r>
              <a:rPr lang="en-US" sz="1600" dirty="0">
                <a:solidFill>
                  <a:srgbClr val="FAF9F7"/>
                </a:solidFill>
                <a:latin typeface="Cambria" pitchFamily="34" charset="0"/>
                <a:ea typeface="Cambria" pitchFamily="34" charset="-122"/>
                <a:cs typeface="Cambria" pitchFamily="34" charset="-120"/>
              </a:rPr>
              <a:t>We are raising [amount] to fund vendor recruitment in Portland and Denver through launch and the first twelve months.</a:t>
            </a:r>
            <a:endParaRPr lang="en-US" sz="1600" dirty="0"/>
          </a:p>
        </p:txBody>
      </p:sp>
      <p:sp>
        <p:nvSpPr>
          <p:cNvPr id="27" name="Text 25"/>
          <p:cNvSpPr txBox="1"/>
          <p:nvPr/>
        </p:nvSpPr>
        <p:spPr>
          <a:xfrm>
            <a:off x="8869680" y="5138928"/>
            <a:ext cx="2377440" cy="640080"/>
          </a:xfrm>
          <a:prstGeom prst="rect">
            <a:avLst/>
          </a:prstGeom>
          <a:noFill/>
          <a:ln/>
        </p:spPr>
        <p:txBody>
          <a:bodyPr wrap="square" lIns="0" tIns="0" rIns="0" bIns="0" rtlCol="0" anchor="ctr"/>
          <a:lstStyle/>
          <a:p>
            <a:pPr algn="r" indent="0" marL="0">
              <a:lnSpc>
                <a:spcPts val="1700"/>
              </a:lnSpc>
              <a:buNone/>
            </a:pPr>
            <a:r>
              <a:rPr lang="en-US" sz="1200" dirty="0">
                <a:solidFill>
                  <a:srgbClr val="EFEBE5"/>
                </a:solidFill>
                <a:latin typeface="Calibri" pitchFamily="34" charset="0"/>
                <a:ea typeface="Calibri" pitchFamily="34" charset="-122"/>
                <a:cs typeface="Calibri" pitchFamily="34" charset="-120"/>
              </a:rPr>
              <a:t>hello@codaco.market</a:t>
            </a:r>
            <a:endParaRPr lang="en-US" sz="1200" dirty="0"/>
          </a:p>
          <a:p>
            <a:pPr algn="r" indent="0" marL="0">
              <a:lnSpc>
                <a:spcPts val="1700"/>
              </a:lnSpc>
              <a:buNone/>
            </a:pPr>
            <a:r>
              <a:rPr lang="en-US" sz="1200" dirty="0">
                <a:solidFill>
                  <a:srgbClr val="EFEBE5"/>
                </a:solidFill>
                <a:latin typeface="Calibri" pitchFamily="34" charset="0"/>
                <a:ea typeface="Calibri" pitchFamily="34" charset="-122"/>
                <a:cs typeface="Calibri" pitchFamily="34" charset="-120"/>
              </a:rPr>
              <a:t>coda-co-nine.vercel.app</a:t>
            </a:r>
            <a:endParaRPr lang="en-US" sz="12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8</Slides>
  <Notes>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8</vt:i4>
      </vt:variant>
    </vt:vector>
  </HeadingPairs>
  <TitlesOfParts>
    <vt:vector size="11" baseType="lpstr">
      <vt:lpstr>Arial</vt:lpstr>
      <vt:lpstr>Calibri</vt:lpstr>
      <vt:lpstr>Office Theme</vt:lpstr>
      <vt:lpstr>Slide 1</vt:lpstr>
      <vt:lpstr>Slide 2</vt:lpstr>
      <vt:lpstr>Slide 3</vt:lpstr>
      <vt:lpstr>Slide 4</vt:lpstr>
      <vt:lpstr>Slide 5</vt:lpstr>
      <vt:lpstr>Slide 6</vt:lpstr>
      <vt:lpstr>Slide 7</vt:lpstr>
      <vt:lpstr>Slide 8</vt:lpstr>
    </vt:vector>
  </TitlesOfParts>
  <Company>CodaCo Market</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CodaCo — Investor Overview</dc:title>
  <dc:subject>PptxGenJS Presentation</dc:subject>
  <dc:creator>CodaCo Market</dc:creator>
  <cp:lastModifiedBy>CodaCo Market</cp:lastModifiedBy>
  <cp:revision>1</cp:revision>
  <dcterms:created xsi:type="dcterms:W3CDTF">2026-08-31T11:15:26Z</dcterms:created>
  <dcterms:modified xsi:type="dcterms:W3CDTF">2026-08-31T11:15:26Z</dcterms:modified>
</cp:coreProperties>
</file>