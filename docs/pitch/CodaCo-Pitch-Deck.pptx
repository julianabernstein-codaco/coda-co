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Monthly subscription revenue by market</a:t>
            </a:r>
          </a:p>
        </c:rich>
      </c:tx>
      <c:layout/>
      <c:overlay val="0"/>
    </c:title>
    <c:autoTitleDeleted val="0"/>
    <c:plotArea>
      <c:layout/>
      <c:barChart>
        <c:barDir val="col"/>
        <c:grouping val="stacked"/>
        <c:varyColors val="0"/>
        <c:ser>
          <c:idx val="0"/>
          <c:order val="0"/>
          <c:tx>
            <c:strRef>
              <c:f>Sheet1!$B$1</c:f>
              <c:strCache>
                <c:ptCount val="1"/>
                <c:pt idx="0">
                  <c:v>Portland, OR</c:v>
                </c:pt>
              </c:strCache>
            </c:strRef>
          </c:tx>
          <c:spPr>
            <a:solidFill>
              <a:srgbClr val="C163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Sheet1!$B$2:$B$13</c:f>
              <c:numCache>
                <c:formatCode>General</c:formatCode>
                <c:ptCount val="12"/>
                <c:pt idx="0">
                  <c:v>0</c:v>
                </c:pt>
                <c:pt idx="1">
                  <c:v>725</c:v>
                </c:pt>
                <c:pt idx="2">
                  <c:v>1015</c:v>
                </c:pt>
                <c:pt idx="3">
                  <c:v>1392</c:v>
                </c:pt>
                <c:pt idx="4">
                  <c:v>1711</c:v>
                </c:pt>
                <c:pt idx="5">
                  <c:v>2059</c:v>
                </c:pt>
                <c:pt idx="6">
                  <c:v>2436</c:v>
                </c:pt>
                <c:pt idx="7">
                  <c:v>2755</c:v>
                </c:pt>
                <c:pt idx="8">
                  <c:v>3074</c:v>
                </c:pt>
                <c:pt idx="9">
                  <c:v>3335</c:v>
                </c:pt>
                <c:pt idx="10">
                  <c:v>3538</c:v>
                </c:pt>
                <c:pt idx="11">
                  <c:v>3741</c:v>
                </c:pt>
              </c:numCache>
            </c:numRef>
          </c:val>
        </c:ser>
        <c:ser>
          <c:idx val="1"/>
          <c:order val="1"/>
          <c:tx>
            <c:strRef>
              <c:f>Sheet1!$C$1</c:f>
              <c:strCache>
                <c:ptCount val="1"/>
                <c:pt idx="0">
                  <c:v>Denver</c:v>
                </c:pt>
              </c:strCache>
            </c:strRef>
          </c:tx>
          <c:spPr>
            <a:solidFill>
              <a:srgbClr val="7A9E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Sheet1!$C$2:$C$13</c:f>
              <c:numCache>
                <c:formatCode>General</c:formatCode>
                <c:ptCount val="12"/>
                <c:pt idx="0">
                  <c:v>0</c:v>
                </c:pt>
                <c:pt idx="1">
                  <c:v>754</c:v>
                </c:pt>
                <c:pt idx="2">
                  <c:v>1102</c:v>
                </c:pt>
                <c:pt idx="3">
                  <c:v>1508</c:v>
                </c:pt>
                <c:pt idx="4">
                  <c:v>1740</c:v>
                </c:pt>
                <c:pt idx="5">
                  <c:v>2117</c:v>
                </c:pt>
                <c:pt idx="6">
                  <c:v>2436</c:v>
                </c:pt>
                <c:pt idx="7">
                  <c:v>2755</c:v>
                </c:pt>
                <c:pt idx="8">
                  <c:v>3016</c:v>
                </c:pt>
                <c:pt idx="9">
                  <c:v>3277</c:v>
                </c:pt>
                <c:pt idx="10">
                  <c:v>3538</c:v>
                </c:pt>
                <c:pt idx="11">
                  <c:v>3799</c:v>
                </c:pt>
              </c:numCache>
            </c:numRef>
          </c:val>
        </c:ser>
        <c:ser>
          <c:idx val="2"/>
          <c:order val="2"/>
          <c:tx>
            <c:strRef>
              <c:f>Sheet1!$D$1</c:f>
              <c:strCache>
                <c:ptCount val="1"/>
                <c:pt idx="0">
                  <c:v>Seattle</c:v>
                </c:pt>
              </c:strCache>
            </c:strRef>
          </c:tx>
          <c:spPr>
            <a:solidFill>
              <a:srgbClr val="D4876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Sheet1!$D$2:$D$13</c:f>
              <c:numCache>
                <c:formatCode>General</c:formatCode>
                <c:ptCount val="12"/>
                <c:pt idx="0">
                  <c:v>0</c:v>
                </c:pt>
                <c:pt idx="1">
                  <c:v>0</c:v>
                </c:pt>
                <c:pt idx="2">
                  <c:v>0</c:v>
                </c:pt>
                <c:pt idx="3">
                  <c:v>0</c:v>
                </c:pt>
                <c:pt idx="4">
                  <c:v>0</c:v>
                </c:pt>
                <c:pt idx="5">
                  <c:v>0</c:v>
                </c:pt>
                <c:pt idx="6">
                  <c:v>406</c:v>
                </c:pt>
                <c:pt idx="7">
                  <c:v>957</c:v>
                </c:pt>
                <c:pt idx="8">
                  <c:v>1160</c:v>
                </c:pt>
                <c:pt idx="9">
                  <c:v>1537</c:v>
                </c:pt>
                <c:pt idx="10">
                  <c:v>1914</c:v>
                </c:pt>
                <c:pt idx="11">
                  <c:v>2146</c:v>
                </c:pt>
              </c:numCache>
            </c:numRef>
          </c:val>
        </c:ser>
        <c:ser>
          <c:idx val="3"/>
          <c:order val="3"/>
          <c:tx>
            <c:strRef>
              <c:f>Sheet1!$E$1</c:f>
              <c:strCache>
                <c:ptCount val="1"/>
                <c:pt idx="0">
                  <c:v>Minneapolis</c:v>
                </c:pt>
              </c:strCache>
            </c:strRef>
          </c:tx>
          <c:spPr>
            <a:solidFill>
              <a:srgbClr val="4D72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0</c:v>
                </c:pt>
                <c:pt idx="9">
                  <c:v>406</c:v>
                </c:pt>
                <c:pt idx="10">
                  <c:v>696</c:v>
                </c:pt>
                <c:pt idx="11">
                  <c:v>986</c:v>
                </c:pt>
              </c:numCache>
            </c:numRef>
          </c:val>
        </c:ser>
        <c:ser>
          <c:idx val="4"/>
          <c:order val="4"/>
          <c:tx>
            <c:strRef>
              <c:f>Sheet1!$F$1</c:f>
              <c:strCache>
                <c:ptCount val="1"/>
                <c:pt idx="0">
                  <c:v>San Francisco</c:v>
                </c:pt>
              </c:strCache>
            </c:strRef>
          </c:tx>
          <c:spPr>
            <a:solidFill>
              <a:srgbClr val="8B3E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Sheet1!$F$2:$F$13</c:f>
              <c:numCache>
                <c:formatCode>General</c:formatCode>
                <c:ptCount val="12"/>
                <c:pt idx="0">
                  <c:v>0</c:v>
                </c:pt>
                <c:pt idx="1">
                  <c:v>0</c:v>
                </c:pt>
                <c:pt idx="2">
                  <c:v>0</c:v>
                </c:pt>
                <c:pt idx="3">
                  <c:v>0</c:v>
                </c:pt>
                <c:pt idx="4">
                  <c:v>0</c:v>
                </c:pt>
                <c:pt idx="5">
                  <c:v>0</c:v>
                </c:pt>
                <c:pt idx="6">
                  <c:v>0</c:v>
                </c:pt>
                <c:pt idx="7">
                  <c:v>0</c:v>
                </c:pt>
                <c:pt idx="8">
                  <c:v>0</c:v>
                </c:pt>
                <c:pt idx="9">
                  <c:v>0</c:v>
                </c:pt>
                <c:pt idx="10">
                  <c:v>522</c:v>
                </c:pt>
                <c:pt idx="11">
                  <c:v>986</c:v>
                </c:pt>
              </c:numCache>
            </c:numRef>
          </c:val>
        </c:ser>
        <c:ser>
          <c:idx val="5"/>
          <c:order val="5"/>
          <c:tx>
            <c:strRef>
              <c:f>Sheet1!$G$1</c:f>
              <c:strCache>
                <c:ptCount val="1"/>
                <c:pt idx="0">
                  <c:v>Asheville, NC</c:v>
                </c:pt>
              </c:strCache>
            </c:strRef>
          </c:tx>
          <c:spPr>
            <a:solidFill>
              <a:srgbClr val="A8C4A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Sheet1!$G$2:$G$13</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580</c:v>
                </c:pt>
              </c:numCache>
            </c:numRef>
          </c:val>
        </c:ser>
        <c:ser>
          <c:idx val="6"/>
          <c:order val="6"/>
          <c:tx>
            <c:strRef>
              <c:f>Sheet1!$H$1</c:f>
              <c:strCache>
                <c:ptCount val="1"/>
                <c:pt idx="0">
                  <c:v>Shipped goods</c:v>
                </c:pt>
              </c:strCache>
            </c:strRef>
          </c:tx>
          <c:spPr>
            <a:solidFill>
              <a:srgbClr val="5A534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Sheet1!$H$2:$H$13</c:f>
              <c:numCache>
                <c:formatCode>General</c:formatCode>
                <c:ptCount val="12"/>
                <c:pt idx="0">
                  <c:v>0</c:v>
                </c:pt>
                <c:pt idx="1">
                  <c:v>696</c:v>
                </c:pt>
                <c:pt idx="2">
                  <c:v>928</c:v>
                </c:pt>
                <c:pt idx="3">
                  <c:v>1218</c:v>
                </c:pt>
                <c:pt idx="4">
                  <c:v>1392</c:v>
                </c:pt>
                <c:pt idx="5">
                  <c:v>1566</c:v>
                </c:pt>
                <c:pt idx="6">
                  <c:v>1769</c:v>
                </c:pt>
                <c:pt idx="7">
                  <c:v>1972</c:v>
                </c:pt>
                <c:pt idx="8">
                  <c:v>2233</c:v>
                </c:pt>
                <c:pt idx="9">
                  <c:v>2494</c:v>
                </c:pt>
                <c:pt idx="10">
                  <c:v>2697</c:v>
                </c:pt>
                <c:pt idx="11">
                  <c:v>2900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534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Annual subscription revenue</a:t>
            </a:r>
          </a:p>
        </c:rich>
      </c:tx>
      <c:layout/>
      <c:overlay val="0"/>
    </c:title>
    <c:autoTitleDeleted val="0"/>
    <c:plotArea>
      <c:layout/>
      <c:barChart>
        <c:barDir val="col"/>
        <c:grouping val="clustered"/>
        <c:varyColors val="0"/>
        <c:ser>
          <c:idx val="0"/>
          <c:order val="0"/>
          <c:tx>
            <c:strRef>
              <c:f>Sheet1!$B$1</c:f>
              <c:strCache>
                <c:ptCount val="1"/>
                <c:pt idx="0">
                  <c:v>Annual revenue</c:v>
                </c:pt>
              </c:strCache>
            </c:strRef>
          </c:tx>
          <c:spPr>
            <a:solidFill>
              <a:srgbClr val="C1634F"/>
            </a:solidFill>
            <a:effectLst/>
          </c:spPr>
          <c:invertIfNegative val="0"/>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83984</c:v>
                </c:pt>
                <c:pt idx="1">
                  <c:v>307632</c:v>
                </c:pt>
                <c:pt idx="2">
                  <c:v>700034</c:v>
                </c:pt>
              </c:numCache>
            </c:numRef>
          </c:val>
        </c:ser>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max val="800000"/>
          <c:min val="0"/>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CodaCo Market is a curated two-sided marketplace for everything families need around death and dying — goods, services and guidance. The product is built and live; we launch 1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founders' own frustration: when facing the death of someone you love, the resources you need are scattered, poorly described and hard to compare — and you are doing the research at the worst possible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sides of one marketplace: shipped goods from makers nationwide, and services matched to the searcher's zip code against each vendor's own service radius. Curation is the product — every listing is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engineering risk is largely behind us. Vendors can already sign up, be approved, publish listings and be billed. What remains before revenue-bearing transactions is the buyer checkout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 subscription, not a take rate. It removes the incentive to fight vendors over attribution, and it makes revenue legible long before transaction volume is meaningful. The upside lines — gift cards, client billing, sponsorship — are excluded from the projections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dollar here is a $29 subscription — no goods transaction revenue, no gift cards, no client billing, no sponsorship. This model spreads across seven metros rather than betting on the largest: Asheville is a 400,000-person market opening in month twelve. It is also the harshest on churn of any scenario in the workbook — 30% of arrivals lost in a metro’s first three months, 50% for goods sellers over six — which is why Year 1 lands below the five-metro versions despite opening more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metros rather than five, and deliberately not the biggest ones — Minneapolis, San Francisco and a 400,000-person Asheville alongside Los Angeles. It carries the workbook's harshest churn: 30% of each arriving cohort lost for a metro's first three months, and 50% for shipped-goods sellers over six. Every check passes on this version of the tab — the total row equals the sum of the market columns in all 38 months, all three annual totals tie to both, every month is an exact vendor count times price, no market falls more than 1% and only after its signups stop, and every metro's population and vendor total checks out against the sheet's own rows and the real world. The penetration spread is the conservatism to point at: Los Angeles is modelled at one vendor per 38,623 residents against Asheville's one per 2,778.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[amount] with the raise before sending. Founders are operators in this space, not outsiders to it — the marketplace exists because they kept being asked for the referrals it now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9052560" y="-2194560"/>
            <a:ext cx="5943600" cy="5943600"/>
          </a:xfrm>
          <a:prstGeom prst="ellipse">
            <a:avLst/>
          </a:prstGeom>
          <a:solidFill>
            <a:srgbClr val="8B3E2D">
              <a:alpha val="22000"/>
            </a:srgbClr>
          </a:solidFill>
          <a:ln/>
        </p:spPr>
      </p:sp>
      <p:sp>
        <p:nvSpPr>
          <p:cNvPr id="3" name="Shape 1"/>
          <p:cNvSpPr/>
          <p:nvPr/>
        </p:nvSpPr>
        <p:spPr>
          <a:xfrm>
            <a:off x="10424160" y="2377440"/>
            <a:ext cx="5486400" cy="5486400"/>
          </a:xfrm>
          <a:prstGeom prst="ellipse">
            <a:avLst/>
          </a:prstGeom>
          <a:solidFill>
            <a:srgbClr val="4D7255">
              <a:alpha val="18000"/>
            </a:srgbClr>
          </a:solidFill>
          <a:ln/>
        </p:spPr>
      </p:sp>
      <p:sp>
        <p:nvSpPr>
          <p:cNvPr id="4" name="Text 2"/>
          <p:cNvSpPr txBox="1"/>
          <p:nvPr/>
        </p:nvSpPr>
        <p:spPr>
          <a:xfrm>
            <a:off x="777240" y="1417320"/>
            <a:ext cx="77724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A CURATED MARKETPLACE FOR DEATH AND DYING</a:t>
            </a:r>
            <a:endParaRPr lang="en-US" sz="1100" dirty="0"/>
          </a:p>
        </p:txBody>
      </p:sp>
      <p:sp>
        <p:nvSpPr>
          <p:cNvPr id="5" name="Text 3"/>
          <p:cNvSpPr txBox="1"/>
          <p:nvPr/>
        </p:nvSpPr>
        <p:spPr>
          <a:xfrm>
            <a:off x="731520" y="1783080"/>
            <a:ext cx="7315200" cy="1097280"/>
          </a:xfrm>
          <a:prstGeom prst="rect">
            <a:avLst/>
          </a:prstGeom>
          <a:noFill/>
          <a:ln/>
        </p:spPr>
        <p:txBody>
          <a:bodyPr wrap="square" lIns="0" tIns="0" rIns="0" bIns="0" rtlCol="0" anchor="ctr"/>
          <a:lstStyle/>
          <a:p>
            <a:pPr indent="0" marL="0">
              <a:buNone/>
            </a:pPr>
            <a:r>
              <a:rPr lang="en-US" sz="6800" dirty="0">
                <a:solidFill>
                  <a:srgbClr val="FAF9F7"/>
                </a:solidFill>
                <a:latin typeface="Cambria" pitchFamily="34" charset="0"/>
                <a:ea typeface="Cambria" pitchFamily="34" charset="-122"/>
                <a:cs typeface="Cambria" pitchFamily="34" charset="-120"/>
              </a:rPr>
              <a:t>CodaCo</a:t>
            </a:r>
            <a:endParaRPr lang="en-US" sz="6800" dirty="0"/>
          </a:p>
        </p:txBody>
      </p:sp>
      <p:sp>
        <p:nvSpPr>
          <p:cNvPr id="6" name="Text 4"/>
          <p:cNvSpPr txBox="1"/>
          <p:nvPr/>
        </p:nvSpPr>
        <p:spPr>
          <a:xfrm>
            <a:off x="731520" y="3063240"/>
            <a:ext cx="7680960" cy="1188720"/>
          </a:xfrm>
          <a:prstGeom prst="rect">
            <a:avLst/>
          </a:prstGeom>
          <a:noFill/>
          <a:ln/>
        </p:spPr>
        <p:txBody>
          <a:bodyPr wrap="square" lIns="0" tIns="0" rIns="0" bIns="0" rtlCol="0" anchor="ctr"/>
          <a:lstStyle/>
          <a:p>
            <a:pPr indent="0" marL="0">
              <a:lnSpc>
                <a:spcPts val="4000"/>
              </a:lnSpc>
              <a:buNone/>
            </a:pPr>
            <a:r>
              <a:rPr lang="en-US" sz="2900" i="1" dirty="0">
                <a:solidFill>
                  <a:srgbClr val="FAF9F7"/>
                </a:solidFill>
                <a:latin typeface="Cambria" pitchFamily="34" charset="0"/>
                <a:ea typeface="Cambria" pitchFamily="34" charset="-122"/>
                <a:cs typeface="Cambria" pitchFamily="34" charset="-120"/>
              </a:rPr>
              <a:t>Death is a part of life.</a:t>
            </a:r>
            <a:endParaRPr lang="en-US" sz="2900" dirty="0"/>
          </a:p>
          <a:p>
            <a:pPr indent="0" marL="0">
              <a:lnSpc>
                <a:spcPts val="4000"/>
              </a:lnSpc>
              <a:buNone/>
            </a:pPr>
            <a:r>
              <a:rPr lang="en-US" sz="2900" i="1" dirty="0">
                <a:solidFill>
                  <a:srgbClr val="D4876F"/>
                </a:solidFill>
                <a:latin typeface="Cambria" pitchFamily="34" charset="0"/>
                <a:ea typeface="Cambria" pitchFamily="34" charset="-122"/>
                <a:cs typeface="Cambria" pitchFamily="34" charset="-120"/>
              </a:rPr>
              <a:t>Support should be easy to find.</a:t>
            </a:r>
            <a:endParaRPr lang="en-US" sz="2900" dirty="0"/>
          </a:p>
        </p:txBody>
      </p:sp>
      <p:sp>
        <p:nvSpPr>
          <p:cNvPr id="7" name="Text 5"/>
          <p:cNvSpPr txBox="1"/>
          <p:nvPr/>
        </p:nvSpPr>
        <p:spPr>
          <a:xfrm>
            <a:off x="731520" y="4370832"/>
            <a:ext cx="6766560" cy="822960"/>
          </a:xfrm>
          <a:prstGeom prst="rect">
            <a:avLst/>
          </a:prstGeom>
          <a:noFill/>
          <a:ln/>
        </p:spPr>
        <p:txBody>
          <a:bodyPr wrap="square" lIns="0" tIns="0" rIns="0" bIns="0" rtlCol="0" anchor="ctr"/>
          <a:lstStyle/>
          <a:p>
            <a:pPr indent="0" marL="0">
              <a:lnSpc>
                <a:spcPts val="2200"/>
              </a:lnSpc>
              <a:buNone/>
            </a:pPr>
            <a:r>
              <a:rPr lang="en-US" sz="1450" dirty="0">
                <a:solidFill>
                  <a:srgbClr val="EFEBE5"/>
                </a:solidFill>
                <a:latin typeface="Calibri" pitchFamily="34" charset="0"/>
                <a:ea typeface="Calibri" pitchFamily="34" charset="-122"/>
                <a:cs typeface="Calibri" pitchFamily="34" charset="-120"/>
              </a:rPr>
              <a:t>Goods, services, and plain-language guidance — brought into one welcoming place for families planning ahead or grieving a loss.</a:t>
            </a:r>
            <a:endParaRPr lang="en-US" sz="1450" dirty="0"/>
          </a:p>
        </p:txBody>
      </p:sp>
      <p:sp>
        <p:nvSpPr>
          <p:cNvPr id="8" name="Text 6"/>
          <p:cNvSpPr txBox="1"/>
          <p:nvPr/>
        </p:nvSpPr>
        <p:spPr>
          <a:xfrm>
            <a:off x="731520" y="5943600"/>
            <a:ext cx="5486400" cy="274320"/>
          </a:xfrm>
          <a:prstGeom prst="rect">
            <a:avLst/>
          </a:prstGeom>
          <a:noFill/>
          <a:ln/>
        </p:spPr>
        <p:txBody>
          <a:bodyPr wrap="square" lIns="0" tIns="0" rIns="0" bIns="0" rtlCol="0" anchor="ctr"/>
          <a:lstStyle/>
          <a:p>
            <a:pPr indent="0" marL="0">
              <a:buNone/>
            </a:pPr>
            <a:r>
              <a:rPr lang="en-US" sz="1150" dirty="0">
                <a:solidFill>
                  <a:srgbClr val="B4ACA3"/>
                </a:solidFill>
                <a:latin typeface="Calibri" pitchFamily="34" charset="0"/>
                <a:ea typeface="Calibri" pitchFamily="34" charset="-122"/>
                <a:cs typeface="Calibri" pitchFamily="34" charset="-120"/>
              </a:rPr>
              <a:t>Investor overview  ·  Three-year projections</a:t>
            </a:r>
            <a:endParaRPr lang="en-US" sz="1150" dirty="0"/>
          </a:p>
        </p:txBody>
      </p:sp>
      <p:sp>
        <p:nvSpPr>
          <p:cNvPr id="9" name="Text 7"/>
          <p:cNvSpPr txBox="1"/>
          <p:nvPr/>
        </p:nvSpPr>
        <p:spPr>
          <a:xfrm>
            <a:off x="5760720" y="5943600"/>
            <a:ext cx="5669280" cy="274320"/>
          </a:xfrm>
          <a:prstGeom prst="rect">
            <a:avLst/>
          </a:prstGeom>
          <a:noFill/>
          <a:ln/>
        </p:spPr>
        <p:txBody>
          <a:bodyPr wrap="square" lIns="0" tIns="0" rIns="0" bIns="0" rtlCol="0" anchor="ctr"/>
          <a:lstStyle/>
          <a:p>
            <a:pPr algn="r" indent="0" marL="0">
              <a:buNone/>
            </a:pPr>
            <a:r>
              <a:rPr lang="en-US" sz="1150" dirty="0">
                <a:solidFill>
                  <a:srgbClr val="B4ACA3"/>
                </a:solidFill>
                <a:latin typeface="Calibri" pitchFamily="34" charset="0"/>
                <a:ea typeface="Calibri" pitchFamily="34" charset="-122"/>
                <a:cs typeface="Calibri" pitchFamily="34" charset="-120"/>
              </a:rPr>
              <a:t>Launching 1 November 2026  ·  coda-co-nine.vercel.app</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The resources exist. Families can’t find them.</a:t>
            </a:r>
            <a:endParaRPr lang="en-US" sz="3600" dirty="0"/>
          </a:p>
        </p:txBody>
      </p:sp>
      <p:sp>
        <p:nvSpPr>
          <p:cNvPr id="4" name="Text 2"/>
          <p:cNvSpPr txBox="1"/>
          <p:nvPr/>
        </p:nvSpPr>
        <p:spPr>
          <a:xfrm>
            <a:off x="685800" y="1481328"/>
            <a:ext cx="7315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When someone dies, the help that would make it bearable is scattered across a dozen places — and nobody goes looking until they need it.</a:t>
            </a:r>
            <a:endParaRPr lang="en-US" sz="1450" dirty="0"/>
          </a:p>
        </p:txBody>
      </p:sp>
      <p:sp>
        <p:nvSpPr>
          <p:cNvPr id="5" name="Shape 3"/>
          <p:cNvSpPr/>
          <p:nvPr/>
        </p:nvSpPr>
        <p:spPr>
          <a:xfrm>
            <a:off x="713232" y="2304288"/>
            <a:ext cx="475488" cy="475488"/>
          </a:xfrm>
          <a:prstGeom prst="ellipse">
            <a:avLst/>
          </a:prstGeom>
          <a:solidFill>
            <a:srgbClr val="F5EAE6"/>
          </a:solidFill>
          <a:ln w="12700">
            <a:solidFill>
              <a:srgbClr val="D4876F"/>
            </a:solidFill>
            <a:prstDash val="solid"/>
          </a:ln>
        </p:spPr>
      </p:sp>
      <p:sp>
        <p:nvSpPr>
          <p:cNvPr id="6" name="Text 4"/>
          <p:cNvSpPr txBox="1"/>
          <p:nvPr/>
        </p:nvSpPr>
        <p:spPr>
          <a:xfrm>
            <a:off x="713232" y="2304288"/>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389888" y="2286000"/>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Scattered</a:t>
            </a:r>
            <a:endParaRPr lang="en-US" sz="1600" dirty="0"/>
          </a:p>
        </p:txBody>
      </p:sp>
      <p:sp>
        <p:nvSpPr>
          <p:cNvPr id="8" name="Text 6"/>
          <p:cNvSpPr txBox="1"/>
          <p:nvPr/>
        </p:nvSpPr>
        <p:spPr>
          <a:xfrm>
            <a:off x="1389888" y="2633472"/>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An urn from one shop. A doula from a Facebook group. An estate attorney from a search result. Nothing connects, and nothing is comparable.</a:t>
            </a:r>
            <a:endParaRPr lang="en-US" sz="1350" dirty="0"/>
          </a:p>
        </p:txBody>
      </p:sp>
      <p:sp>
        <p:nvSpPr>
          <p:cNvPr id="9" name="Shape 7"/>
          <p:cNvSpPr/>
          <p:nvPr/>
        </p:nvSpPr>
        <p:spPr>
          <a:xfrm>
            <a:off x="713232" y="3602736"/>
            <a:ext cx="475488" cy="475488"/>
          </a:xfrm>
          <a:prstGeom prst="ellipse">
            <a:avLst/>
          </a:prstGeom>
          <a:solidFill>
            <a:srgbClr val="EAF0EB"/>
          </a:solidFill>
          <a:ln w="12700">
            <a:solidFill>
              <a:srgbClr val="A8C4AC"/>
            </a:solidFill>
            <a:prstDash val="solid"/>
          </a:ln>
        </p:spPr>
      </p:sp>
      <p:sp>
        <p:nvSpPr>
          <p:cNvPr id="10" name="Text 8"/>
          <p:cNvSpPr txBox="1"/>
          <p:nvPr/>
        </p:nvSpPr>
        <p:spPr>
          <a:xfrm>
            <a:off x="713232" y="3602736"/>
            <a:ext cx="475488" cy="475488"/>
          </a:xfrm>
          <a:prstGeom prst="rect">
            <a:avLst/>
          </a:prstGeom>
          <a:noFill/>
          <a:ln/>
        </p:spPr>
        <p:txBody>
          <a:bodyPr wrap="square" lIns="0" tIns="0" rIns="0" bIns="0" rtlCol="0" anchor="ctr"/>
          <a:lstStyle/>
          <a:p>
            <a:pPr algn="ctr" indent="0" marL="0">
              <a:buNone/>
            </a:pPr>
            <a:r>
              <a:rPr lang="en-US" sz="1500" b="1" dirty="0">
                <a:solidFill>
                  <a:srgbClr val="4D725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389888" y="3584448"/>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Poorly described</a:t>
            </a:r>
            <a:endParaRPr lang="en-US" sz="1600" dirty="0"/>
          </a:p>
        </p:txBody>
      </p:sp>
      <p:sp>
        <p:nvSpPr>
          <p:cNvPr id="12" name="Text 10"/>
          <p:cNvSpPr txBox="1"/>
          <p:nvPr/>
        </p:nvSpPr>
        <p:spPr>
          <a:xfrm>
            <a:off x="1389888" y="3931920"/>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Most end-of-life practitioners are close to invisible online, or described in language nobody uses when they are grieving.</a:t>
            </a:r>
            <a:endParaRPr lang="en-US" sz="1350" dirty="0"/>
          </a:p>
        </p:txBody>
      </p:sp>
      <p:sp>
        <p:nvSpPr>
          <p:cNvPr id="13" name="Shape 11"/>
          <p:cNvSpPr/>
          <p:nvPr/>
        </p:nvSpPr>
        <p:spPr>
          <a:xfrm>
            <a:off x="713232" y="4901184"/>
            <a:ext cx="475488" cy="475488"/>
          </a:xfrm>
          <a:prstGeom prst="ellipse">
            <a:avLst/>
          </a:prstGeom>
          <a:solidFill>
            <a:srgbClr val="F5EAE6"/>
          </a:solidFill>
          <a:ln w="12700">
            <a:solidFill>
              <a:srgbClr val="D4876F"/>
            </a:solidFill>
            <a:prstDash val="solid"/>
          </a:ln>
        </p:spPr>
      </p:sp>
      <p:sp>
        <p:nvSpPr>
          <p:cNvPr id="14" name="Text 12"/>
          <p:cNvSpPr txBox="1"/>
          <p:nvPr/>
        </p:nvSpPr>
        <p:spPr>
          <a:xfrm>
            <a:off x="713232" y="4901184"/>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389888" y="4882896"/>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Searched at the worst possible moment</a:t>
            </a:r>
            <a:endParaRPr lang="en-US" sz="1600" dirty="0"/>
          </a:p>
        </p:txBody>
      </p:sp>
      <p:sp>
        <p:nvSpPr>
          <p:cNvPr id="16" name="Text 14"/>
          <p:cNvSpPr txBox="1"/>
          <p:nvPr/>
        </p:nvSpPr>
        <p:spPr>
          <a:xfrm>
            <a:off x="1389888" y="5230368"/>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Families do this research once, under time pressure, in the days after a death — with no way to tell who is qualified.</a:t>
            </a:r>
            <a:endParaRPr lang="en-US" sz="1350" dirty="0"/>
          </a:p>
        </p:txBody>
      </p:sp>
      <p:sp>
        <p:nvSpPr>
          <p:cNvPr id="17" name="Shape 15"/>
          <p:cNvSpPr/>
          <p:nvPr/>
        </p:nvSpPr>
        <p:spPr>
          <a:xfrm>
            <a:off x="8092440" y="2084832"/>
            <a:ext cx="3401568" cy="2286000"/>
          </a:xfrm>
          <a:prstGeom prst="roundRect">
            <a:avLst>
              <a:gd name="adj" fmla="val 44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8" name="Text 16"/>
          <p:cNvSpPr txBox="1"/>
          <p:nvPr/>
        </p:nvSpPr>
        <p:spPr>
          <a:xfrm>
            <a:off x="8183880" y="2286000"/>
            <a:ext cx="3200400" cy="868680"/>
          </a:xfrm>
          <a:prstGeom prst="rect">
            <a:avLst/>
          </a:prstGeom>
          <a:noFill/>
          <a:ln/>
        </p:spPr>
        <p:txBody>
          <a:bodyPr wrap="square" lIns="0" tIns="0" rIns="0" bIns="0" rtlCol="0" anchor="ctr"/>
          <a:lstStyle/>
          <a:p>
            <a:pPr algn="ctr" indent="0" marL="0">
              <a:buNone/>
            </a:pPr>
            <a:r>
              <a:rPr lang="en-US" sz="5600" b="1" dirty="0">
                <a:solidFill>
                  <a:srgbClr val="8B3E2D"/>
                </a:solidFill>
                <a:latin typeface="Cambria" pitchFamily="34" charset="0"/>
                <a:ea typeface="Cambria" pitchFamily="34" charset="-122"/>
                <a:cs typeface="Cambria" pitchFamily="34" charset="-120"/>
              </a:rPr>
              <a:t>~3M</a:t>
            </a:r>
            <a:endParaRPr lang="en-US" sz="5600" dirty="0"/>
          </a:p>
        </p:txBody>
      </p:sp>
      <p:sp>
        <p:nvSpPr>
          <p:cNvPr id="19" name="Text 17"/>
          <p:cNvSpPr txBox="1"/>
          <p:nvPr/>
        </p:nvSpPr>
        <p:spPr>
          <a:xfrm>
            <a:off x="8366760" y="3200400"/>
            <a:ext cx="2834640" cy="502920"/>
          </a:xfrm>
          <a:prstGeom prst="rect">
            <a:avLst/>
          </a:prstGeom>
          <a:noFill/>
          <a:ln/>
        </p:spPr>
        <p:txBody>
          <a:bodyPr wrap="square" lIns="0" tIns="0" rIns="0" bIns="0" rtlCol="0" anchor="ctr"/>
          <a:lstStyle/>
          <a:p>
            <a:pPr algn="ctr" indent="0" marL="0">
              <a:lnSpc>
                <a:spcPts val="1800"/>
              </a:lnSpc>
              <a:buNone/>
            </a:pPr>
            <a:r>
              <a:rPr lang="en-US" sz="1400" b="1" dirty="0">
                <a:solidFill>
                  <a:srgbClr val="2C2825"/>
                </a:solidFill>
                <a:latin typeface="Calibri" pitchFamily="34" charset="0"/>
                <a:ea typeface="Calibri" pitchFamily="34" charset="-122"/>
                <a:cs typeface="Calibri" pitchFamily="34" charset="-120"/>
              </a:rPr>
              <a:t>deaths in the United States every year</a:t>
            </a:r>
            <a:endParaRPr lang="en-US" sz="1400" dirty="0"/>
          </a:p>
        </p:txBody>
      </p:sp>
      <p:sp>
        <p:nvSpPr>
          <p:cNvPr id="20" name="Text 18"/>
          <p:cNvSpPr txBox="1"/>
          <p:nvPr/>
        </p:nvSpPr>
        <p:spPr>
          <a:xfrm>
            <a:off x="8366760" y="3675888"/>
            <a:ext cx="2834640" cy="548640"/>
          </a:xfrm>
          <a:prstGeom prst="rect">
            <a:avLst/>
          </a:prstGeom>
          <a:noFill/>
          <a:ln/>
        </p:spPr>
        <p:txBody>
          <a:bodyPr wrap="square" lIns="0" tIns="0" rIns="0" bIns="0" rtlCol="0" anchor="ctr"/>
          <a:lstStyle/>
          <a:p>
            <a:pPr algn="ctr" indent="0" marL="0">
              <a:lnSpc>
                <a:spcPts val="1500"/>
              </a:lnSpc>
              <a:buNone/>
            </a:pPr>
            <a:r>
              <a:rPr lang="en-US" sz="1150" dirty="0">
                <a:solidFill>
                  <a:srgbClr val="5A534C"/>
                </a:solidFill>
                <a:latin typeface="Calibri" pitchFamily="34" charset="0"/>
                <a:ea typeface="Calibri" pitchFamily="34" charset="-122"/>
                <a:cs typeface="Calibri" pitchFamily="34" charset="-120"/>
              </a:rPr>
              <a:t>Each one sends a household searching, usually for the first time.</a:t>
            </a:r>
            <a:endParaRPr lang="en-US" sz="1150" dirty="0"/>
          </a:p>
        </p:txBody>
      </p:sp>
      <p:sp>
        <p:nvSpPr>
          <p:cNvPr id="21" name="Text 19"/>
          <p:cNvSpPr txBox="1"/>
          <p:nvPr/>
        </p:nvSpPr>
        <p:spPr>
          <a:xfrm>
            <a:off x="8001000" y="4590288"/>
            <a:ext cx="3584448" cy="566928"/>
          </a:xfrm>
          <a:prstGeom prst="rect">
            <a:avLst/>
          </a:prstGeom>
          <a:noFill/>
          <a:ln/>
        </p:spPr>
        <p:txBody>
          <a:bodyPr wrap="square" lIns="0" tIns="0" rIns="0" bIns="0" rtlCol="0" anchor="ctr"/>
          <a:lstStyle/>
          <a:p>
            <a:pPr algn="ctr" indent="0" marL="0">
              <a:lnSpc>
                <a:spcPts val="2200"/>
              </a:lnSpc>
              <a:buNone/>
            </a:pPr>
            <a:r>
              <a:rPr lang="en-US" sz="1550" i="1" dirty="0">
                <a:solidFill>
                  <a:srgbClr val="2C2825"/>
                </a:solidFill>
                <a:latin typeface="Cambria" pitchFamily="34" charset="0"/>
                <a:ea typeface="Cambria" pitchFamily="34" charset="-122"/>
                <a:cs typeface="Cambria" pitchFamily="34" charset="-120"/>
              </a:rPr>
              <a:t>“Loss deserves to be met with care.”</a:t>
            </a:r>
            <a:endParaRPr lang="en-US" sz="1550" dirty="0"/>
          </a:p>
        </p:txBody>
      </p:sp>
      <p:sp>
        <p:nvSpPr>
          <p:cNvPr id="22" name="Text 20"/>
          <p:cNvSpPr txBox="1"/>
          <p:nvPr/>
        </p:nvSpPr>
        <p:spPr>
          <a:xfrm>
            <a:off x="8092440" y="5212080"/>
            <a:ext cx="3401568" cy="256032"/>
          </a:xfrm>
          <a:prstGeom prst="rect">
            <a:avLst/>
          </a:prstGeom>
          <a:noFill/>
          <a:ln/>
        </p:spPr>
        <p:txBody>
          <a:bodyPr wrap="square" lIns="0" tIns="0" rIns="0" bIns="0" rtlCol="0" anchor="ctr"/>
          <a:lstStyle/>
          <a:p>
            <a:pPr algn="ctr" indent="0" marL="0">
              <a:buNone/>
            </a:pPr>
            <a:r>
              <a:rPr lang="en-US" sz="1100" dirty="0">
                <a:solidFill>
                  <a:srgbClr val="9A9189"/>
                </a:solidFill>
                <a:latin typeface="Calibri" pitchFamily="34" charset="0"/>
                <a:ea typeface="Calibri" pitchFamily="34" charset="-122"/>
                <a:cs typeface="Calibri" pitchFamily="34" charset="-120"/>
              </a:rPr>
              <a:t>— The CodaCo Market ethos</a:t>
            </a:r>
            <a:endParaRPr lang="en-US" sz="1100" dirty="0"/>
          </a:p>
        </p:txBody>
      </p:sp>
      <p:sp>
        <p:nvSpPr>
          <p:cNvPr id="23" name="Text 21"/>
          <p:cNvSpPr txBox="1"/>
          <p:nvPr/>
        </p:nvSpPr>
        <p:spPr>
          <a:xfrm>
            <a:off x="713232" y="6144768"/>
            <a:ext cx="5486400" cy="237744"/>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Source: CDC / NCHS annual U.S. mortality.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One place for everything a family needs</a:t>
            </a:r>
            <a:endParaRPr lang="en-US" sz="3600" dirty="0"/>
          </a:p>
        </p:txBody>
      </p:sp>
      <p:sp>
        <p:nvSpPr>
          <p:cNvPr id="4" name="Text 2"/>
          <p:cNvSpPr txBox="1"/>
          <p:nvPr/>
        </p:nvSpPr>
        <p:spPr>
          <a:xfrm>
            <a:off x="685800" y="1481328"/>
            <a:ext cx="9601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Curated goods, vetted local practitioners, and gentle guidance — searchable together, by category and by where you live.</a:t>
            </a:r>
            <a:endParaRPr lang="en-US" sz="1450" dirty="0"/>
          </a:p>
        </p:txBody>
      </p:sp>
      <p:sp>
        <p:nvSpPr>
          <p:cNvPr id="5" name="Shape 3"/>
          <p:cNvSpPr/>
          <p:nvPr/>
        </p:nvSpPr>
        <p:spPr>
          <a:xfrm>
            <a:off x="685800" y="2121408"/>
            <a:ext cx="5257800" cy="2880360"/>
          </a:xfrm>
          <a:prstGeom prst="roundRect">
            <a:avLst>
              <a:gd name="adj" fmla="val 3492"/>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60120" y="2359152"/>
            <a:ext cx="420624" cy="420624"/>
          </a:xfrm>
          <a:prstGeom prst="ellipse">
            <a:avLst/>
          </a:prstGeom>
          <a:solidFill>
            <a:srgbClr val="F5EAE6"/>
          </a:solidFill>
          <a:ln w="12700">
            <a:solidFill>
              <a:srgbClr val="D4876F"/>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G</a:t>
            </a:r>
            <a:endParaRPr lang="en-US" sz="1400" dirty="0"/>
          </a:p>
        </p:txBody>
      </p:sp>
      <p:sp>
        <p:nvSpPr>
          <p:cNvPr id="8" name="Text 6"/>
          <p:cNvSpPr txBox="1"/>
          <p:nvPr/>
        </p:nvSpPr>
        <p:spPr>
          <a:xfrm>
            <a:off x="149047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Goods</a:t>
            </a:r>
            <a:endParaRPr lang="en-US" sz="2400" dirty="0"/>
          </a:p>
        </p:txBody>
      </p:sp>
      <p:sp>
        <p:nvSpPr>
          <p:cNvPr id="9" name="Text 7"/>
          <p:cNvSpPr txBox="1"/>
          <p:nvPr/>
        </p:nvSpPr>
        <p:spPr>
          <a:xfrm>
            <a:off x="4023360" y="2432304"/>
            <a:ext cx="1783080" cy="274320"/>
          </a:xfrm>
          <a:prstGeom prst="rect">
            <a:avLst/>
          </a:prstGeom>
          <a:noFill/>
          <a:ln/>
        </p:spPr>
        <p:txBody>
          <a:bodyPr wrap="square" lIns="0" tIns="0" rIns="0" bIns="0" rtlCol="0" anchor="ctr"/>
          <a:lstStyle/>
          <a:p>
            <a:pPr algn="r" indent="0" marL="0">
              <a:buNone/>
            </a:pPr>
            <a:r>
              <a:rPr lang="en-US" sz="1200" b="1" dirty="0">
                <a:solidFill>
                  <a:srgbClr val="8B3E2D"/>
                </a:solidFill>
                <a:latin typeface="Calibri" pitchFamily="34" charset="0"/>
                <a:ea typeface="Calibri" pitchFamily="34" charset="-122"/>
                <a:cs typeface="Calibri" pitchFamily="34" charset="-120"/>
              </a:rPr>
              <a:t>6 categories</a:t>
            </a:r>
            <a:endParaRPr lang="en-US" sz="1200" dirty="0"/>
          </a:p>
        </p:txBody>
      </p:sp>
      <p:sp>
        <p:nvSpPr>
          <p:cNvPr id="10" name="Text 8"/>
          <p:cNvSpPr txBox="1"/>
          <p:nvPr/>
        </p:nvSpPr>
        <p:spPr>
          <a:xfrm>
            <a:off x="102412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Urns &amp; vessels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Ash jewelry</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Burial shrouds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Planning documents &amp; workbooks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Memorial items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Gifts &amp; humor</a:t>
            </a:r>
            <a:endParaRPr lang="en-US" sz="1300" dirty="0"/>
          </a:p>
        </p:txBody>
      </p:sp>
      <p:sp>
        <p:nvSpPr>
          <p:cNvPr id="11" name="Text 9"/>
          <p:cNvSpPr txBox="1"/>
          <p:nvPr/>
        </p:nvSpPr>
        <p:spPr>
          <a:xfrm>
            <a:off x="1024128" y="4553712"/>
            <a:ext cx="457200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Shipped nationwide, or collected locally.</a:t>
            </a:r>
            <a:endParaRPr lang="en-US" sz="1150" dirty="0"/>
          </a:p>
        </p:txBody>
      </p:sp>
      <p:sp>
        <p:nvSpPr>
          <p:cNvPr id="12" name="Shape 10"/>
          <p:cNvSpPr/>
          <p:nvPr/>
        </p:nvSpPr>
        <p:spPr>
          <a:xfrm>
            <a:off x="6217920" y="2121408"/>
            <a:ext cx="5257800" cy="2880360"/>
          </a:xfrm>
          <a:prstGeom prst="roundRect">
            <a:avLst>
              <a:gd name="adj" fmla="val 3492"/>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Shape 11"/>
          <p:cNvSpPr/>
          <p:nvPr/>
        </p:nvSpPr>
        <p:spPr>
          <a:xfrm>
            <a:off x="6492240" y="2359152"/>
            <a:ext cx="420624" cy="420624"/>
          </a:xfrm>
          <a:prstGeom prst="ellipse">
            <a:avLst/>
          </a:prstGeom>
          <a:solidFill>
            <a:srgbClr val="EAF0EB"/>
          </a:solidFill>
          <a:ln w="12700">
            <a:solidFill>
              <a:srgbClr val="A8C4AC"/>
            </a:solidFill>
            <a:prstDash val="solid"/>
          </a:ln>
        </p:spPr>
      </p:sp>
      <p:sp>
        <p:nvSpPr>
          <p:cNvPr id="14" name="Text 12"/>
          <p:cNvSpPr txBox="1"/>
          <p:nvPr/>
        </p:nvSpPr>
        <p:spPr>
          <a:xfrm>
            <a:off x="6492240" y="2359152"/>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S</a:t>
            </a:r>
            <a:endParaRPr lang="en-US" sz="1400" dirty="0"/>
          </a:p>
        </p:txBody>
      </p:sp>
      <p:sp>
        <p:nvSpPr>
          <p:cNvPr id="15" name="Text 13"/>
          <p:cNvSpPr txBox="1"/>
          <p:nvPr/>
        </p:nvSpPr>
        <p:spPr>
          <a:xfrm>
            <a:off x="702259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Services</a:t>
            </a:r>
            <a:endParaRPr lang="en-US" sz="2400" dirty="0"/>
          </a:p>
        </p:txBody>
      </p:sp>
      <p:sp>
        <p:nvSpPr>
          <p:cNvPr id="16" name="Text 14"/>
          <p:cNvSpPr txBox="1"/>
          <p:nvPr/>
        </p:nvSpPr>
        <p:spPr>
          <a:xfrm>
            <a:off x="9555480" y="2432304"/>
            <a:ext cx="1783080" cy="274320"/>
          </a:xfrm>
          <a:prstGeom prst="rect">
            <a:avLst/>
          </a:prstGeom>
          <a:noFill/>
          <a:ln/>
        </p:spPr>
        <p:txBody>
          <a:bodyPr wrap="square" lIns="0" tIns="0" rIns="0" bIns="0" rtlCol="0" anchor="ctr"/>
          <a:lstStyle/>
          <a:p>
            <a:pPr algn="r" indent="0" marL="0">
              <a:buNone/>
            </a:pPr>
            <a:r>
              <a:rPr lang="en-US" sz="1200" b="1" dirty="0">
                <a:solidFill>
                  <a:srgbClr val="4D7255"/>
                </a:solidFill>
                <a:latin typeface="Calibri" pitchFamily="34" charset="0"/>
                <a:ea typeface="Calibri" pitchFamily="34" charset="-122"/>
                <a:cs typeface="Calibri" pitchFamily="34" charset="-120"/>
              </a:rPr>
              <a:t>14 types</a:t>
            </a:r>
            <a:endParaRPr lang="en-US" sz="1200" dirty="0"/>
          </a:p>
        </p:txBody>
      </p:sp>
      <p:sp>
        <p:nvSpPr>
          <p:cNvPr id="17" name="Text 15"/>
          <p:cNvSpPr txBox="1"/>
          <p:nvPr/>
        </p:nvSpPr>
        <p:spPr>
          <a:xfrm>
            <a:off x="655624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End-of-life doulas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Estate attorneys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Grief counselors &amp; spiritual support</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Funeral celebrants &amp; home funeral guides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cleaning &amp; end-of-life organizers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cafés, mediators, funeral homes</a:t>
            </a:r>
            <a:endParaRPr lang="en-US" sz="1300" dirty="0"/>
          </a:p>
        </p:txBody>
      </p:sp>
      <p:sp>
        <p:nvSpPr>
          <p:cNvPr id="18" name="Text 16"/>
          <p:cNvSpPr txBox="1"/>
          <p:nvPr/>
        </p:nvSpPr>
        <p:spPr>
          <a:xfrm>
            <a:off x="6556248" y="4553712"/>
            <a:ext cx="466344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Found by zip code, matched to each provider’s service radius.</a:t>
            </a:r>
            <a:endParaRPr lang="en-US" sz="1150" dirty="0"/>
          </a:p>
        </p:txBody>
      </p:sp>
      <p:sp>
        <p:nvSpPr>
          <p:cNvPr id="19" name="Shape 17"/>
          <p:cNvSpPr/>
          <p:nvPr/>
        </p:nvSpPr>
        <p:spPr>
          <a:xfrm>
            <a:off x="6858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0" name="Text 18"/>
          <p:cNvSpPr txBox="1"/>
          <p:nvPr/>
        </p:nvSpPr>
        <p:spPr>
          <a:xfrm>
            <a:off x="9052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Curated, not open</a:t>
            </a:r>
            <a:endParaRPr lang="en-US" sz="1350" dirty="0"/>
          </a:p>
        </p:txBody>
      </p:sp>
      <p:sp>
        <p:nvSpPr>
          <p:cNvPr id="21" name="Text 19"/>
          <p:cNvSpPr txBox="1"/>
          <p:nvPr/>
        </p:nvSpPr>
        <p:spPr>
          <a:xfrm>
            <a:off x="9052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vendor is reviewed and approved before they appear.</a:t>
            </a:r>
            <a:endParaRPr lang="en-US" sz="1150" dirty="0"/>
          </a:p>
        </p:txBody>
      </p:sp>
      <p:sp>
        <p:nvSpPr>
          <p:cNvPr id="22" name="Shape 20"/>
          <p:cNvSpPr/>
          <p:nvPr/>
        </p:nvSpPr>
        <p:spPr>
          <a:xfrm>
            <a:off x="43434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3" name="Text 21"/>
          <p:cNvSpPr txBox="1"/>
          <p:nvPr/>
        </p:nvSpPr>
        <p:spPr>
          <a:xfrm>
            <a:off x="45628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Local by radius</a:t>
            </a:r>
            <a:endParaRPr lang="en-US" sz="1350" dirty="0"/>
          </a:p>
        </p:txBody>
      </p:sp>
      <p:sp>
        <p:nvSpPr>
          <p:cNvPr id="24" name="Text 22"/>
          <p:cNvSpPr txBox="1"/>
          <p:nvPr/>
        </p:nvSpPr>
        <p:spPr>
          <a:xfrm>
            <a:off x="45628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Providers surface for the zip codes they actually serve.</a:t>
            </a:r>
            <a:endParaRPr lang="en-US" sz="1150" dirty="0"/>
          </a:p>
        </p:txBody>
      </p:sp>
      <p:sp>
        <p:nvSpPr>
          <p:cNvPr id="25" name="Shape 23"/>
          <p:cNvSpPr/>
          <p:nvPr/>
        </p:nvSpPr>
        <p:spPr>
          <a:xfrm>
            <a:off x="80010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Text 24"/>
          <p:cNvSpPr txBox="1"/>
          <p:nvPr/>
        </p:nvSpPr>
        <p:spPr>
          <a:xfrm>
            <a:off x="82204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Guidance, not just listings</a:t>
            </a:r>
            <a:endParaRPr lang="en-US" sz="1350" dirty="0"/>
          </a:p>
        </p:txBody>
      </p:sp>
      <p:sp>
        <p:nvSpPr>
          <p:cNvPr id="27" name="Text 25"/>
          <p:cNvSpPr txBox="1"/>
          <p:nvPr/>
        </p:nvSpPr>
        <p:spPr>
          <a:xfrm>
            <a:off x="82204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people who have never done this.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Not a concept — a working marketplace</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Live today at coda-co-nine.vercel.app. Four build phases shipped: the catalog, the database, accounts, and full vendor self-service.</a:t>
            </a:r>
            <a:endParaRPr lang="en-US" sz="1450" dirty="0"/>
          </a:p>
        </p:txBody>
      </p:sp>
      <p:sp>
        <p:nvSpPr>
          <p:cNvPr id="5" name="Shape 3"/>
          <p:cNvSpPr/>
          <p:nvPr/>
        </p:nvSpPr>
        <p:spPr>
          <a:xfrm>
            <a:off x="6858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05256" y="2340864"/>
            <a:ext cx="420624" cy="420624"/>
          </a:xfrm>
          <a:prstGeom prst="ellipse">
            <a:avLst/>
          </a:prstGeom>
          <a:solidFill>
            <a:srgbClr val="F5EAE6"/>
          </a:solidFill>
          <a:ln w="12700">
            <a:solidFill>
              <a:srgbClr val="D4876F"/>
            </a:solidFill>
            <a:prstDash val="solid"/>
          </a:ln>
        </p:spPr>
      </p:sp>
      <p:sp>
        <p:nvSpPr>
          <p:cNvPr id="7" name="Text 5"/>
          <p:cNvSpPr txBox="1"/>
          <p:nvPr/>
        </p:nvSpPr>
        <p:spPr>
          <a:xfrm>
            <a:off x="9052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V</a:t>
            </a:r>
            <a:endParaRPr lang="en-US" sz="1400" dirty="0"/>
          </a:p>
        </p:txBody>
      </p:sp>
      <p:sp>
        <p:nvSpPr>
          <p:cNvPr id="8" name="Text 6"/>
          <p:cNvSpPr txBox="1"/>
          <p:nvPr/>
        </p:nvSpPr>
        <p:spPr>
          <a:xfrm>
            <a:off x="14356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Vendor self-service</a:t>
            </a:r>
            <a:endParaRPr lang="en-US" sz="1400" dirty="0"/>
          </a:p>
        </p:txBody>
      </p:sp>
      <p:sp>
        <p:nvSpPr>
          <p:cNvPr id="9" name="Text 7"/>
          <p:cNvSpPr txBox="1"/>
          <p:nvPr/>
        </p:nvSpPr>
        <p:spPr>
          <a:xfrm>
            <a:off x="9052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Apply, build a shop or service profile, list and price. Admin approves in 1–2 business days.</a:t>
            </a:r>
            <a:endParaRPr lang="en-US" sz="1150" dirty="0"/>
          </a:p>
        </p:txBody>
      </p:sp>
      <p:sp>
        <p:nvSpPr>
          <p:cNvPr id="10" name="Shape 8"/>
          <p:cNvSpPr/>
          <p:nvPr/>
        </p:nvSpPr>
        <p:spPr>
          <a:xfrm>
            <a:off x="43434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1" name="Shape 9"/>
          <p:cNvSpPr/>
          <p:nvPr/>
        </p:nvSpPr>
        <p:spPr>
          <a:xfrm>
            <a:off x="4562856" y="2340864"/>
            <a:ext cx="420624" cy="420624"/>
          </a:xfrm>
          <a:prstGeom prst="ellipse">
            <a:avLst/>
          </a:prstGeom>
          <a:solidFill>
            <a:srgbClr val="EAF0EB"/>
          </a:solidFill>
          <a:ln w="12700">
            <a:solidFill>
              <a:srgbClr val="A8C4AC"/>
            </a:solidFill>
            <a:prstDash val="solid"/>
          </a:ln>
        </p:spPr>
      </p:sp>
      <p:sp>
        <p:nvSpPr>
          <p:cNvPr id="12" name="Text 10"/>
          <p:cNvSpPr txBox="1"/>
          <p:nvPr/>
        </p:nvSpPr>
        <p:spPr>
          <a:xfrm>
            <a:off x="4562856" y="2340864"/>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13" name="Text 11"/>
          <p:cNvSpPr txBox="1"/>
          <p:nvPr/>
        </p:nvSpPr>
        <p:spPr>
          <a:xfrm>
            <a:off x="50932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Subscription billing</a:t>
            </a:r>
            <a:endParaRPr lang="en-US" sz="1400" dirty="0"/>
          </a:p>
        </p:txBody>
      </p:sp>
      <p:sp>
        <p:nvSpPr>
          <p:cNvPr id="14" name="Text 12"/>
          <p:cNvSpPr txBox="1"/>
          <p:nvPr/>
        </p:nvSpPr>
        <p:spPr>
          <a:xfrm>
            <a:off x="45628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Stripe Checkout and customer portal — trials, renewals, plan changes, cancellation.</a:t>
            </a:r>
            <a:endParaRPr lang="en-US" sz="1150" dirty="0"/>
          </a:p>
        </p:txBody>
      </p:sp>
      <p:sp>
        <p:nvSpPr>
          <p:cNvPr id="15" name="Shape 13"/>
          <p:cNvSpPr/>
          <p:nvPr/>
        </p:nvSpPr>
        <p:spPr>
          <a:xfrm>
            <a:off x="80010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Shape 14"/>
          <p:cNvSpPr/>
          <p:nvPr/>
        </p:nvSpPr>
        <p:spPr>
          <a:xfrm>
            <a:off x="8220456" y="2340864"/>
            <a:ext cx="420624" cy="420624"/>
          </a:xfrm>
          <a:prstGeom prst="ellipse">
            <a:avLst/>
          </a:prstGeom>
          <a:solidFill>
            <a:srgbClr val="F5EAE6"/>
          </a:solidFill>
          <a:ln w="12700">
            <a:solidFill>
              <a:srgbClr val="D4876F"/>
            </a:solidFill>
            <a:prstDash val="solid"/>
          </a:ln>
        </p:spPr>
      </p:sp>
      <p:sp>
        <p:nvSpPr>
          <p:cNvPr id="17" name="Text 15"/>
          <p:cNvSpPr txBox="1"/>
          <p:nvPr/>
        </p:nvSpPr>
        <p:spPr>
          <a:xfrm>
            <a:off x="82204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18" name="Text 16"/>
          <p:cNvSpPr txBox="1"/>
          <p:nvPr/>
        </p:nvSpPr>
        <p:spPr>
          <a:xfrm>
            <a:off x="87508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Local discovery</a:t>
            </a:r>
            <a:endParaRPr lang="en-US" sz="1400" dirty="0"/>
          </a:p>
        </p:txBody>
      </p:sp>
      <p:sp>
        <p:nvSpPr>
          <p:cNvPr id="19" name="Text 17"/>
          <p:cNvSpPr txBox="1"/>
          <p:nvPr/>
        </p:nvSpPr>
        <p:spPr>
          <a:xfrm>
            <a:off x="82204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Zip-centroid search against each vendor’s service radius; virtual providers surface everywhere.</a:t>
            </a:r>
            <a:endParaRPr lang="en-US" sz="1150" dirty="0"/>
          </a:p>
        </p:txBody>
      </p:sp>
      <p:sp>
        <p:nvSpPr>
          <p:cNvPr id="20" name="Shape 18"/>
          <p:cNvSpPr/>
          <p:nvPr/>
        </p:nvSpPr>
        <p:spPr>
          <a:xfrm>
            <a:off x="6858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1" name="Shape 19"/>
          <p:cNvSpPr/>
          <p:nvPr/>
        </p:nvSpPr>
        <p:spPr>
          <a:xfrm>
            <a:off x="905256" y="4041648"/>
            <a:ext cx="420624" cy="420624"/>
          </a:xfrm>
          <a:prstGeom prst="ellipse">
            <a:avLst/>
          </a:prstGeom>
          <a:solidFill>
            <a:srgbClr val="EAF0EB"/>
          </a:solidFill>
          <a:ln w="12700">
            <a:solidFill>
              <a:srgbClr val="A8C4AC"/>
            </a:solidFill>
            <a:prstDash val="solid"/>
          </a:ln>
        </p:spPr>
      </p:sp>
      <p:sp>
        <p:nvSpPr>
          <p:cNvPr id="22" name="Text 20"/>
          <p:cNvSpPr txBox="1"/>
          <p:nvPr/>
        </p:nvSpPr>
        <p:spPr>
          <a:xfrm>
            <a:off x="9052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23" name="Text 21"/>
          <p:cNvSpPr txBox="1"/>
          <p:nvPr/>
        </p:nvSpPr>
        <p:spPr>
          <a:xfrm>
            <a:off x="14356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Trust layer</a:t>
            </a:r>
            <a:endParaRPr lang="en-US" sz="1400" dirty="0"/>
          </a:p>
        </p:txBody>
      </p:sp>
      <p:sp>
        <p:nvSpPr>
          <p:cNvPr id="24" name="Text 22"/>
          <p:cNvSpPr txBox="1"/>
          <p:nvPr/>
        </p:nvSpPr>
        <p:spPr>
          <a:xfrm>
            <a:off x="9052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Verified reviews, saved items, and a curated approval queue behind every listing.</a:t>
            </a:r>
            <a:endParaRPr lang="en-US" sz="1150" dirty="0"/>
          </a:p>
        </p:txBody>
      </p:sp>
      <p:sp>
        <p:nvSpPr>
          <p:cNvPr id="25" name="Shape 23"/>
          <p:cNvSpPr/>
          <p:nvPr/>
        </p:nvSpPr>
        <p:spPr>
          <a:xfrm>
            <a:off x="43434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Shape 24"/>
          <p:cNvSpPr/>
          <p:nvPr/>
        </p:nvSpPr>
        <p:spPr>
          <a:xfrm>
            <a:off x="4562856" y="4041648"/>
            <a:ext cx="420624" cy="420624"/>
          </a:xfrm>
          <a:prstGeom prst="ellipse">
            <a:avLst/>
          </a:prstGeom>
          <a:solidFill>
            <a:srgbClr val="F5EAE6"/>
          </a:solidFill>
          <a:ln w="12700">
            <a:solidFill>
              <a:srgbClr val="D4876F"/>
            </a:solidFill>
            <a:prstDash val="solid"/>
          </a:ln>
        </p:spPr>
      </p:sp>
      <p:sp>
        <p:nvSpPr>
          <p:cNvPr id="27" name="Text 25"/>
          <p:cNvSpPr txBox="1"/>
          <p:nvPr/>
        </p:nvSpPr>
        <p:spPr>
          <a:xfrm>
            <a:off x="4562856" y="4041648"/>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28" name="Text 26"/>
          <p:cNvSpPr txBox="1"/>
          <p:nvPr/>
        </p:nvSpPr>
        <p:spPr>
          <a:xfrm>
            <a:off x="50932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Gift cards</a:t>
            </a:r>
            <a:endParaRPr lang="en-US" sz="1400" dirty="0"/>
          </a:p>
        </p:txBody>
      </p:sp>
      <p:sp>
        <p:nvSpPr>
          <p:cNvPr id="29" name="Text 27"/>
          <p:cNvSpPr txBox="1"/>
          <p:nvPr/>
        </p:nvSpPr>
        <p:spPr>
          <a:xfrm>
            <a:off x="45628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Balances and shareable group-gift pools — contribute without creating an account.</a:t>
            </a:r>
            <a:endParaRPr lang="en-US" sz="1150" dirty="0"/>
          </a:p>
        </p:txBody>
      </p:sp>
      <p:sp>
        <p:nvSpPr>
          <p:cNvPr id="30" name="Shape 28"/>
          <p:cNvSpPr/>
          <p:nvPr/>
        </p:nvSpPr>
        <p:spPr>
          <a:xfrm>
            <a:off x="80010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1" name="Shape 29"/>
          <p:cNvSpPr/>
          <p:nvPr/>
        </p:nvSpPr>
        <p:spPr>
          <a:xfrm>
            <a:off x="8220456" y="4041648"/>
            <a:ext cx="420624" cy="420624"/>
          </a:xfrm>
          <a:prstGeom prst="ellipse">
            <a:avLst/>
          </a:prstGeom>
          <a:solidFill>
            <a:srgbClr val="EAF0EB"/>
          </a:solidFill>
          <a:ln w="12700">
            <a:solidFill>
              <a:srgbClr val="A8C4AC"/>
            </a:solidFill>
            <a:prstDash val="solid"/>
          </a:ln>
        </p:spPr>
      </p:sp>
      <p:sp>
        <p:nvSpPr>
          <p:cNvPr id="32" name="Text 30"/>
          <p:cNvSpPr txBox="1"/>
          <p:nvPr/>
        </p:nvSpPr>
        <p:spPr>
          <a:xfrm>
            <a:off x="82204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33" name="Text 31"/>
          <p:cNvSpPr txBox="1"/>
          <p:nvPr/>
        </p:nvSpPr>
        <p:spPr>
          <a:xfrm>
            <a:off x="87508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Guidance &amp; editorial</a:t>
            </a:r>
            <a:endParaRPr lang="en-US" sz="1400" dirty="0"/>
          </a:p>
        </p:txBody>
      </p:sp>
      <p:sp>
        <p:nvSpPr>
          <p:cNvPr id="34" name="Text 32"/>
          <p:cNvSpPr txBox="1"/>
          <p:nvPr/>
        </p:nvSpPr>
        <p:spPr>
          <a:xfrm>
            <a:off x="82204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the newly bereaved, plus a curated reading list.</a:t>
            </a:r>
            <a:endParaRPr lang="en-US" sz="1150" dirty="0"/>
          </a:p>
        </p:txBody>
      </p:sp>
      <p:sp>
        <p:nvSpPr>
          <p:cNvPr id="35" name="Shape 33"/>
          <p:cNvSpPr/>
          <p:nvPr/>
        </p:nvSpPr>
        <p:spPr>
          <a:xfrm>
            <a:off x="685800" y="5614416"/>
            <a:ext cx="10789920" cy="658368"/>
          </a:xfrm>
          <a:prstGeom prst="roundRect">
            <a:avLst>
              <a:gd name="adj" fmla="val 15278"/>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36" name="Text 34"/>
          <p:cNvSpPr txBox="1"/>
          <p:nvPr/>
        </p:nvSpPr>
        <p:spPr>
          <a:xfrm>
            <a:off x="914400" y="5614416"/>
            <a:ext cx="10332720" cy="658368"/>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Shipping next:  </a:t>
            </a:r>
            <a:pPr indent="0" marL="0">
              <a:buNone/>
            </a:pPr>
            <a:r>
              <a:rPr lang="en-US" sz="1250" dirty="0">
                <a:solidFill>
                  <a:srgbClr val="2C2825"/>
                </a:solidFill>
                <a:latin typeface="Calibri" pitchFamily="34" charset="0"/>
                <a:ea typeface="Calibri" pitchFamily="34" charset="-122"/>
                <a:cs typeface="Calibri" pitchFamily="34" charset="-120"/>
              </a:rPr>
              <a:t>cart and checkout with orders and vendor notifications, then verified-purchase reviews. Gift-card sales open once a balance can be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Vendors subscribe. Buyers pay nothing extra.</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One flat rate for goods makers and service providers alike — no per-sale transaction fee, so vendors keep 100% of what they earn.</a:t>
            </a:r>
            <a:endParaRPr lang="en-US" sz="1450" dirty="0"/>
          </a:p>
        </p:txBody>
      </p:sp>
      <p:sp>
        <p:nvSpPr>
          <p:cNvPr id="5" name="Shape 3"/>
          <p:cNvSpPr/>
          <p:nvPr/>
        </p:nvSpPr>
        <p:spPr>
          <a:xfrm>
            <a:off x="685800"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Text 4"/>
          <p:cNvSpPr txBox="1"/>
          <p:nvPr/>
        </p:nvSpPr>
        <p:spPr>
          <a:xfrm>
            <a:off x="886968" y="2331720"/>
            <a:ext cx="2432304" cy="256032"/>
          </a:xfrm>
          <a:prstGeom prst="rect">
            <a:avLst/>
          </a:prstGeom>
          <a:noFill/>
          <a:ln/>
        </p:spPr>
        <p:txBody>
          <a:bodyPr wrap="square" lIns="0" tIns="0" rIns="0" bIns="0" rtlCol="0" anchor="ctr"/>
          <a:lstStyle/>
          <a:p>
            <a:pPr indent="0" marL="0">
              <a:buNone/>
            </a:pPr>
            <a:r>
              <a:rPr lang="en-US" sz="1100" b="1" spc="200" kern="0" dirty="0">
                <a:solidFill>
                  <a:srgbClr val="4D7255"/>
                </a:solidFill>
                <a:latin typeface="Calibri" pitchFamily="34" charset="0"/>
                <a:ea typeface="Calibri" pitchFamily="34" charset="-122"/>
                <a:cs typeface="Calibri" pitchFamily="34" charset="-120"/>
              </a:rPr>
              <a:t>STARTER</a:t>
            </a:r>
            <a:endParaRPr lang="en-US" sz="1100" dirty="0"/>
          </a:p>
        </p:txBody>
      </p:sp>
      <p:sp>
        <p:nvSpPr>
          <p:cNvPr id="7" name="Text 5"/>
          <p:cNvSpPr txBox="1"/>
          <p:nvPr/>
        </p:nvSpPr>
        <p:spPr>
          <a:xfrm>
            <a:off x="886968"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Free</a:t>
            </a:r>
            <a:endParaRPr lang="en-US" sz="4000" dirty="0"/>
          </a:p>
        </p:txBody>
      </p:sp>
      <p:sp>
        <p:nvSpPr>
          <p:cNvPr id="8" name="Text 6"/>
          <p:cNvSpPr txBox="1"/>
          <p:nvPr/>
        </p:nvSpPr>
        <p:spPr>
          <a:xfrm>
            <a:off x="886968"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for 3 months</a:t>
            </a:r>
            <a:endParaRPr lang="en-US" sz="1250" dirty="0"/>
          </a:p>
        </p:txBody>
      </p:sp>
      <p:sp>
        <p:nvSpPr>
          <p:cNvPr id="9" name="Text 7"/>
          <p:cNvSpPr txBox="1"/>
          <p:nvPr/>
        </p:nvSpPr>
        <p:spPr>
          <a:xfrm>
            <a:off x="886968"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feature, no card required.</a:t>
            </a:r>
            <a:endParaRPr lang="en-US" sz="1150" dirty="0"/>
          </a:p>
        </p:txBody>
      </p:sp>
      <p:sp>
        <p:nvSpPr>
          <p:cNvPr id="10" name="Shape 8"/>
          <p:cNvSpPr/>
          <p:nvPr/>
        </p:nvSpPr>
        <p:spPr>
          <a:xfrm>
            <a:off x="3739896" y="2139696"/>
            <a:ext cx="2834640" cy="2084832"/>
          </a:xfrm>
          <a:prstGeom prst="roundRect">
            <a:avLst>
              <a:gd name="adj" fmla="val 4825"/>
            </a:avLst>
          </a:prstGeom>
          <a:solidFill>
            <a:srgbClr val="F5EAE6"/>
          </a:solidFill>
          <a:ln w="9525">
            <a:solidFill>
              <a:srgbClr val="D4876F"/>
            </a:solidFill>
            <a:prstDash val="solid"/>
          </a:ln>
          <a:effectLst>
            <a:outerShdw sx="100000" sy="100000" kx="0" ky="0" algn="bl" rotWithShape="0" blurRad="101600" dist="25400" dir="5400000">
              <a:srgbClr val="2C2825">
                <a:alpha val="6000"/>
              </a:srgbClr>
            </a:outerShdw>
          </a:effectLst>
        </p:spPr>
      </p:sp>
      <p:sp>
        <p:nvSpPr>
          <p:cNvPr id="11" name="Text 9"/>
          <p:cNvSpPr txBox="1"/>
          <p:nvPr/>
        </p:nvSpPr>
        <p:spPr>
          <a:xfrm>
            <a:off x="3941064"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MONTHLY</a:t>
            </a:r>
            <a:endParaRPr lang="en-US" sz="1100" dirty="0"/>
          </a:p>
        </p:txBody>
      </p:sp>
      <p:sp>
        <p:nvSpPr>
          <p:cNvPr id="12" name="Text 10"/>
          <p:cNvSpPr txBox="1"/>
          <p:nvPr/>
        </p:nvSpPr>
        <p:spPr>
          <a:xfrm>
            <a:off x="3941064"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$29</a:t>
            </a:r>
            <a:endParaRPr lang="en-US" sz="4000" dirty="0"/>
          </a:p>
        </p:txBody>
      </p:sp>
      <p:sp>
        <p:nvSpPr>
          <p:cNvPr id="13" name="Text 11"/>
          <p:cNvSpPr txBox="1"/>
          <p:nvPr/>
        </p:nvSpPr>
        <p:spPr>
          <a:xfrm>
            <a:off x="3941064"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month</a:t>
            </a:r>
            <a:endParaRPr lang="en-US" sz="1250" dirty="0"/>
          </a:p>
        </p:txBody>
      </p:sp>
      <p:sp>
        <p:nvSpPr>
          <p:cNvPr id="14" name="Text 12"/>
          <p:cNvSpPr txBox="1"/>
          <p:nvPr/>
        </p:nvSpPr>
        <p:spPr>
          <a:xfrm>
            <a:off x="3941064"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Cancel any time.</a:t>
            </a:r>
            <a:endParaRPr lang="en-US" sz="1150" dirty="0"/>
          </a:p>
        </p:txBody>
      </p:sp>
      <p:sp>
        <p:nvSpPr>
          <p:cNvPr id="15" name="Shape 13"/>
          <p:cNvSpPr/>
          <p:nvPr/>
        </p:nvSpPr>
        <p:spPr>
          <a:xfrm>
            <a:off x="6793992"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Text 14"/>
          <p:cNvSpPr txBox="1"/>
          <p:nvPr/>
        </p:nvSpPr>
        <p:spPr>
          <a:xfrm>
            <a:off x="6995160"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ANNUAL</a:t>
            </a:r>
            <a:endParaRPr lang="en-US" sz="1100" dirty="0"/>
          </a:p>
        </p:txBody>
      </p:sp>
      <p:sp>
        <p:nvSpPr>
          <p:cNvPr id="17" name="Text 15"/>
          <p:cNvSpPr txBox="1"/>
          <p:nvPr/>
        </p:nvSpPr>
        <p:spPr>
          <a:xfrm>
            <a:off x="6995160"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$320</a:t>
            </a:r>
            <a:endParaRPr lang="en-US" sz="4000" dirty="0"/>
          </a:p>
        </p:txBody>
      </p:sp>
      <p:sp>
        <p:nvSpPr>
          <p:cNvPr id="18" name="Text 16"/>
          <p:cNvSpPr txBox="1"/>
          <p:nvPr/>
        </p:nvSpPr>
        <p:spPr>
          <a:xfrm>
            <a:off x="6995160"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year</a:t>
            </a:r>
            <a:endParaRPr lang="en-US" sz="1250" dirty="0"/>
          </a:p>
        </p:txBody>
      </p:sp>
      <p:sp>
        <p:nvSpPr>
          <p:cNvPr id="19" name="Text 17"/>
          <p:cNvSpPr txBox="1"/>
          <p:nvPr/>
        </p:nvSpPr>
        <p:spPr>
          <a:xfrm>
            <a:off x="6995160"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Save 8%.</a:t>
            </a:r>
            <a:endParaRPr lang="en-US" sz="1150" dirty="0"/>
          </a:p>
        </p:txBody>
      </p:sp>
      <p:sp>
        <p:nvSpPr>
          <p:cNvPr id="20" name="Shape 18"/>
          <p:cNvSpPr/>
          <p:nvPr/>
        </p:nvSpPr>
        <p:spPr>
          <a:xfrm>
            <a:off x="9848088" y="2139696"/>
            <a:ext cx="1627632" cy="2084832"/>
          </a:xfrm>
          <a:prstGeom prst="roundRect">
            <a:avLst>
              <a:gd name="adj" fmla="val 6180"/>
            </a:avLst>
          </a:prstGeom>
          <a:solidFill>
            <a:srgbClr val="2C2825"/>
          </a:solidFill>
          <a:ln w="9525">
            <a:solidFill>
              <a:srgbClr val="2C2825"/>
            </a:solidFill>
            <a:prstDash val="solid"/>
          </a:ln>
          <a:effectLst>
            <a:outerShdw sx="100000" sy="100000" kx="0" ky="0" algn="bl" rotWithShape="0" blurRad="101600" dist="25400" dir="5400000">
              <a:srgbClr val="2C2825">
                <a:alpha val="6000"/>
              </a:srgbClr>
            </a:outerShdw>
          </a:effectLst>
        </p:spPr>
      </p:sp>
      <p:sp>
        <p:nvSpPr>
          <p:cNvPr id="21" name="Text 19"/>
          <p:cNvSpPr txBox="1"/>
          <p:nvPr/>
        </p:nvSpPr>
        <p:spPr>
          <a:xfrm>
            <a:off x="9893808" y="2606040"/>
            <a:ext cx="1536192" cy="640080"/>
          </a:xfrm>
          <a:prstGeom prst="rect">
            <a:avLst/>
          </a:prstGeom>
          <a:noFill/>
          <a:ln/>
        </p:spPr>
        <p:txBody>
          <a:bodyPr wrap="square" lIns="0" tIns="0" rIns="0" bIns="0" rtlCol="0" anchor="ctr"/>
          <a:lstStyle/>
          <a:p>
            <a:pPr algn="ctr" indent="0" marL="0">
              <a:buNone/>
            </a:pPr>
            <a:r>
              <a:rPr lang="en-US" sz="4000" b="1" dirty="0">
                <a:solidFill>
                  <a:srgbClr val="D4876F"/>
                </a:solidFill>
                <a:latin typeface="Cambria" pitchFamily="34" charset="0"/>
                <a:ea typeface="Cambria" pitchFamily="34" charset="-122"/>
                <a:cs typeface="Cambria" pitchFamily="34" charset="-120"/>
              </a:rPr>
              <a:t>0%</a:t>
            </a:r>
            <a:endParaRPr lang="en-US" sz="4000" dirty="0"/>
          </a:p>
        </p:txBody>
      </p:sp>
      <p:sp>
        <p:nvSpPr>
          <p:cNvPr id="22" name="Text 20"/>
          <p:cNvSpPr txBox="1"/>
          <p:nvPr/>
        </p:nvSpPr>
        <p:spPr>
          <a:xfrm>
            <a:off x="9893808" y="3291840"/>
            <a:ext cx="1536192" cy="640080"/>
          </a:xfrm>
          <a:prstGeom prst="rect">
            <a:avLst/>
          </a:prstGeom>
          <a:noFill/>
          <a:ln/>
        </p:spPr>
        <p:txBody>
          <a:bodyPr wrap="square" lIns="0" tIns="0" rIns="0" bIns="0" rtlCol="0" anchor="ctr"/>
          <a:lstStyle/>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take rate on</a:t>
            </a:r>
            <a:endParaRPr lang="en-US" sz="1200" dirty="0"/>
          </a:p>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every sale</a:t>
            </a:r>
            <a:endParaRPr lang="en-US" sz="1200" dirty="0"/>
          </a:p>
        </p:txBody>
      </p:sp>
      <p:sp>
        <p:nvSpPr>
          <p:cNvPr id="23" name="Shape 21"/>
          <p:cNvSpPr/>
          <p:nvPr/>
        </p:nvSpPr>
        <p:spPr>
          <a:xfrm>
            <a:off x="6858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4" name="Shape 22"/>
          <p:cNvSpPr/>
          <p:nvPr/>
        </p:nvSpPr>
        <p:spPr>
          <a:xfrm>
            <a:off x="905256" y="4645152"/>
            <a:ext cx="365760" cy="365760"/>
          </a:xfrm>
          <a:prstGeom prst="ellipse">
            <a:avLst/>
          </a:prstGeom>
          <a:solidFill>
            <a:srgbClr val="F5EAE6"/>
          </a:solidFill>
          <a:ln w="12700">
            <a:solidFill>
              <a:srgbClr val="D4876F"/>
            </a:solidFill>
            <a:prstDash val="solid"/>
          </a:ln>
        </p:spPr>
      </p:sp>
      <p:sp>
        <p:nvSpPr>
          <p:cNvPr id="25" name="Text 23"/>
          <p:cNvSpPr txBox="1"/>
          <p:nvPr/>
        </p:nvSpPr>
        <p:spPr>
          <a:xfrm>
            <a:off x="9052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1</a:t>
            </a:r>
            <a:endParaRPr lang="en-US" sz="1200" dirty="0"/>
          </a:p>
        </p:txBody>
      </p:sp>
      <p:sp>
        <p:nvSpPr>
          <p:cNvPr id="26" name="Text 24"/>
          <p:cNvSpPr txBox="1"/>
          <p:nvPr/>
        </p:nvSpPr>
        <p:spPr>
          <a:xfrm>
            <a:off x="13624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Recurring from day one</a:t>
            </a:r>
            <a:endParaRPr lang="en-US" sz="1350" dirty="0"/>
          </a:p>
        </p:txBody>
      </p:sp>
      <p:sp>
        <p:nvSpPr>
          <p:cNvPr id="27" name="Text 25"/>
          <p:cNvSpPr txBox="1"/>
          <p:nvPr/>
        </p:nvSpPr>
        <p:spPr>
          <a:xfrm>
            <a:off x="9052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Revenue is subscription, not transaction — predictable and forecastable before GMV exists.</a:t>
            </a:r>
            <a:endParaRPr lang="en-US" sz="1150" dirty="0"/>
          </a:p>
        </p:txBody>
      </p:sp>
      <p:sp>
        <p:nvSpPr>
          <p:cNvPr id="28" name="Shape 26"/>
          <p:cNvSpPr/>
          <p:nvPr/>
        </p:nvSpPr>
        <p:spPr>
          <a:xfrm>
            <a:off x="43434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9" name="Shape 27"/>
          <p:cNvSpPr/>
          <p:nvPr/>
        </p:nvSpPr>
        <p:spPr>
          <a:xfrm>
            <a:off x="4562856" y="4645152"/>
            <a:ext cx="365760" cy="365760"/>
          </a:xfrm>
          <a:prstGeom prst="ellipse">
            <a:avLst/>
          </a:prstGeom>
          <a:solidFill>
            <a:srgbClr val="EAF0EB"/>
          </a:solidFill>
          <a:ln w="12700">
            <a:solidFill>
              <a:srgbClr val="A8C4AC"/>
            </a:solidFill>
            <a:prstDash val="solid"/>
          </a:ln>
        </p:spPr>
      </p:sp>
      <p:sp>
        <p:nvSpPr>
          <p:cNvPr id="30" name="Text 28"/>
          <p:cNvSpPr txBox="1"/>
          <p:nvPr/>
        </p:nvSpPr>
        <p:spPr>
          <a:xfrm>
            <a:off x="4562856" y="4645152"/>
            <a:ext cx="365760" cy="365760"/>
          </a:xfrm>
          <a:prstGeom prst="rect">
            <a:avLst/>
          </a:prstGeom>
          <a:noFill/>
          <a:ln/>
        </p:spPr>
        <p:txBody>
          <a:bodyPr wrap="square" lIns="0" tIns="0" rIns="0" bIns="0" rtlCol="0" anchor="ctr"/>
          <a:lstStyle/>
          <a:p>
            <a:pPr algn="ctr" indent="0" marL="0">
              <a:buNone/>
            </a:pPr>
            <a:r>
              <a:rPr lang="en-US" sz="1200" b="1" dirty="0">
                <a:solidFill>
                  <a:srgbClr val="4D7255"/>
                </a:solidFill>
                <a:latin typeface="Cambria" pitchFamily="34" charset="0"/>
                <a:ea typeface="Cambria" pitchFamily="34" charset="-122"/>
                <a:cs typeface="Cambria" pitchFamily="34" charset="-120"/>
              </a:rPr>
              <a:t>2</a:t>
            </a:r>
            <a:endParaRPr lang="en-US" sz="1200" dirty="0"/>
          </a:p>
        </p:txBody>
      </p:sp>
      <p:sp>
        <p:nvSpPr>
          <p:cNvPr id="31" name="Text 29"/>
          <p:cNvSpPr txBox="1"/>
          <p:nvPr/>
        </p:nvSpPr>
        <p:spPr>
          <a:xfrm>
            <a:off x="50200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Low friction to say yes</a:t>
            </a:r>
            <a:endParaRPr lang="en-US" sz="1350" dirty="0"/>
          </a:p>
        </p:txBody>
      </p:sp>
      <p:sp>
        <p:nvSpPr>
          <p:cNvPr id="32" name="Text 30"/>
          <p:cNvSpPr txBox="1"/>
          <p:nvPr/>
        </p:nvSpPr>
        <p:spPr>
          <a:xfrm>
            <a:off x="45628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 free quarter and $29/month is an easy decision for a solo doula or a one-person studio.</a:t>
            </a:r>
            <a:endParaRPr lang="en-US" sz="1150" dirty="0"/>
          </a:p>
        </p:txBody>
      </p:sp>
      <p:sp>
        <p:nvSpPr>
          <p:cNvPr id="33" name="Shape 31"/>
          <p:cNvSpPr/>
          <p:nvPr/>
        </p:nvSpPr>
        <p:spPr>
          <a:xfrm>
            <a:off x="80010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4" name="Shape 32"/>
          <p:cNvSpPr/>
          <p:nvPr/>
        </p:nvSpPr>
        <p:spPr>
          <a:xfrm>
            <a:off x="8220456" y="4645152"/>
            <a:ext cx="365760" cy="365760"/>
          </a:xfrm>
          <a:prstGeom prst="ellipse">
            <a:avLst/>
          </a:prstGeom>
          <a:solidFill>
            <a:srgbClr val="F5EAE6"/>
          </a:solidFill>
          <a:ln w="12700">
            <a:solidFill>
              <a:srgbClr val="D4876F"/>
            </a:solidFill>
            <a:prstDash val="solid"/>
          </a:ln>
        </p:spPr>
      </p:sp>
      <p:sp>
        <p:nvSpPr>
          <p:cNvPr id="35" name="Text 33"/>
          <p:cNvSpPr txBox="1"/>
          <p:nvPr/>
        </p:nvSpPr>
        <p:spPr>
          <a:xfrm>
            <a:off x="82204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3</a:t>
            </a:r>
            <a:endParaRPr lang="en-US" sz="1200" dirty="0"/>
          </a:p>
        </p:txBody>
      </p:sp>
      <p:sp>
        <p:nvSpPr>
          <p:cNvPr id="36" name="Text 34"/>
          <p:cNvSpPr txBox="1"/>
          <p:nvPr/>
        </p:nvSpPr>
        <p:spPr>
          <a:xfrm>
            <a:off x="86776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Same price on both sides</a:t>
            </a:r>
            <a:endParaRPr lang="en-US" sz="1350" dirty="0"/>
          </a:p>
        </p:txBody>
      </p:sp>
      <p:sp>
        <p:nvSpPr>
          <p:cNvPr id="37" name="Text 35"/>
          <p:cNvSpPr txBox="1"/>
          <p:nvPr/>
        </p:nvSpPr>
        <p:spPr>
          <a:xfrm>
            <a:off x="82204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Goods and services share one plan, one dashboard, one billing path — no second business to run.</a:t>
            </a:r>
            <a:endParaRPr lang="en-US" sz="1150" dirty="0"/>
          </a:p>
        </p:txBody>
      </p:sp>
      <p:sp>
        <p:nvSpPr>
          <p:cNvPr id="38" name="Text 36"/>
          <p:cNvSpPr txBox="1"/>
          <p:nvPr/>
        </p:nvSpPr>
        <p:spPr>
          <a:xfrm>
            <a:off x="713232" y="5870448"/>
            <a:ext cx="10698480" cy="292608"/>
          </a:xfrm>
          <a:prstGeom prst="rect">
            <a:avLst/>
          </a:prstGeom>
          <a:noFill/>
          <a:ln/>
        </p:spPr>
        <p:txBody>
          <a:bodyPr wrap="square" lIns="0" tIns="0" rIns="0" bIns="0" rtlCol="0" anchor="ctr"/>
          <a:lstStyle/>
          <a:p>
            <a:pPr indent="0" marL="0">
              <a:buNone/>
            </a:pPr>
            <a:r>
              <a:rPr lang="en-US" sz="1150" i="1" dirty="0">
                <a:solidFill>
                  <a:srgbClr val="9A9189"/>
                </a:solidFill>
                <a:latin typeface="Calibri" pitchFamily="34" charset="0"/>
                <a:ea typeface="Calibri" pitchFamily="34" charset="-122"/>
                <a:cs typeface="Calibri" pitchFamily="34" charset="-120"/>
              </a:rPr>
              <a:t>Not yet in the model: gift cards and group-gift pools, vendor-bills-client-through-CodaCo, and sponsored placement.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YEAR 1  ·  SEVEN-METRO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Six cities in the first year</a:t>
            </a:r>
            <a:endParaRPr lang="en-US" sz="3600" dirty="0"/>
          </a:p>
        </p:txBody>
      </p:sp>
      <p:sp>
        <p:nvSpPr>
          <p:cNvPr id="4" name="Text 2"/>
          <p:cNvSpPr txBox="1"/>
          <p:nvPr/>
        </p:nvSpPr>
        <p:spPr>
          <a:xfrm>
            <a:off x="685800" y="1517904"/>
            <a:ext cx="786384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Portland and Denver open 1 November 2026 with makers shipping nationwide. Seattle, Minneapolis, San Francisco and Asheville all follow inside year one.</a:t>
            </a:r>
            <a:endParaRPr lang="en-US" sz="1350" dirty="0"/>
          </a:p>
        </p:txBody>
      </p:sp>
      <p:graphicFrame>
        <p:nvGraphicFramePr>
          <p:cNvPr id="5" name="Chart 0" descr=""/>
          <p:cNvGraphicFramePr/>
          <p:nvPr/>
        </p:nvGraphicFramePr>
        <p:xfrm>
          <a:off x="640080" y="2212848"/>
          <a:ext cx="7772400" cy="37947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686800" y="2212848"/>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7" name="Text 4"/>
          <p:cNvSpPr txBox="1"/>
          <p:nvPr/>
        </p:nvSpPr>
        <p:spPr>
          <a:xfrm>
            <a:off x="8851392" y="2286000"/>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$83,984</a:t>
            </a:r>
            <a:endParaRPr lang="en-US" sz="2600" dirty="0"/>
          </a:p>
        </p:txBody>
      </p:sp>
      <p:sp>
        <p:nvSpPr>
          <p:cNvPr id="8" name="Text 5"/>
          <p:cNvSpPr txBox="1"/>
          <p:nvPr/>
        </p:nvSpPr>
        <p:spPr>
          <a:xfrm>
            <a:off x="8851392" y="2670048"/>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Year 1 revenue</a:t>
            </a:r>
            <a:endParaRPr lang="en-US" sz="1200" dirty="0"/>
          </a:p>
        </p:txBody>
      </p:sp>
      <p:sp>
        <p:nvSpPr>
          <p:cNvPr id="9" name="Text 6"/>
          <p:cNvSpPr txBox="1"/>
          <p:nvPr/>
        </p:nvSpPr>
        <p:spPr>
          <a:xfrm>
            <a:off x="8851392" y="2862072"/>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Nov '26 – Oct '27</a:t>
            </a:r>
            <a:endParaRPr lang="en-US" sz="1050" dirty="0"/>
          </a:p>
        </p:txBody>
      </p:sp>
      <p:sp>
        <p:nvSpPr>
          <p:cNvPr id="10" name="Shape 7"/>
          <p:cNvSpPr/>
          <p:nvPr/>
        </p:nvSpPr>
        <p:spPr>
          <a:xfrm>
            <a:off x="8686800" y="3182112"/>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1" name="Text 8"/>
          <p:cNvSpPr txBox="1"/>
          <p:nvPr/>
        </p:nvSpPr>
        <p:spPr>
          <a:xfrm>
            <a:off x="8851392" y="3255264"/>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522</a:t>
            </a:r>
            <a:endParaRPr lang="en-US" sz="2600" dirty="0"/>
          </a:p>
        </p:txBody>
      </p:sp>
      <p:sp>
        <p:nvSpPr>
          <p:cNvPr id="12" name="Text 9"/>
          <p:cNvSpPr txBox="1"/>
          <p:nvPr/>
        </p:nvSpPr>
        <p:spPr>
          <a:xfrm>
            <a:off x="8851392" y="3639312"/>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paying vendors</a:t>
            </a:r>
            <a:endParaRPr lang="en-US" sz="1200" dirty="0"/>
          </a:p>
        </p:txBody>
      </p:sp>
      <p:sp>
        <p:nvSpPr>
          <p:cNvPr id="13" name="Text 10"/>
          <p:cNvSpPr txBox="1"/>
          <p:nvPr/>
        </p:nvSpPr>
        <p:spPr>
          <a:xfrm>
            <a:off x="8851392" y="3831336"/>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subscribing in Oct '27</a:t>
            </a:r>
            <a:endParaRPr lang="en-US" sz="1050" dirty="0"/>
          </a:p>
        </p:txBody>
      </p:sp>
      <p:sp>
        <p:nvSpPr>
          <p:cNvPr id="14" name="Shape 11"/>
          <p:cNvSpPr/>
          <p:nvPr/>
        </p:nvSpPr>
        <p:spPr>
          <a:xfrm>
            <a:off x="8686800" y="4151376"/>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5" name="Text 12"/>
          <p:cNvSpPr txBox="1"/>
          <p:nvPr/>
        </p:nvSpPr>
        <p:spPr>
          <a:xfrm>
            <a:off x="8851392" y="4224528"/>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$15,138</a:t>
            </a:r>
            <a:endParaRPr lang="en-US" sz="2600" dirty="0"/>
          </a:p>
        </p:txBody>
      </p:sp>
      <p:sp>
        <p:nvSpPr>
          <p:cNvPr id="16" name="Text 13"/>
          <p:cNvSpPr txBox="1"/>
          <p:nvPr/>
        </p:nvSpPr>
        <p:spPr>
          <a:xfrm>
            <a:off x="8851392" y="4608576"/>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exit monthly revenue</a:t>
            </a:r>
            <a:endParaRPr lang="en-US" sz="1200" dirty="0"/>
          </a:p>
        </p:txBody>
      </p:sp>
      <p:sp>
        <p:nvSpPr>
          <p:cNvPr id="17" name="Text 14"/>
          <p:cNvSpPr txBox="1"/>
          <p:nvPr/>
        </p:nvSpPr>
        <p:spPr>
          <a:xfrm>
            <a:off x="8851392" y="4800600"/>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Oct '27 — ≈ $182K ARR</a:t>
            </a:r>
            <a:endParaRPr lang="en-US" sz="1050" dirty="0"/>
          </a:p>
        </p:txBody>
      </p:sp>
      <p:sp>
        <p:nvSpPr>
          <p:cNvPr id="18" name="Shape 15"/>
          <p:cNvSpPr/>
          <p:nvPr/>
        </p:nvSpPr>
        <p:spPr>
          <a:xfrm>
            <a:off x="8686800" y="5120640"/>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9" name="Text 16"/>
          <p:cNvSpPr txBox="1"/>
          <p:nvPr/>
        </p:nvSpPr>
        <p:spPr>
          <a:xfrm>
            <a:off x="8851392" y="5193792"/>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6</a:t>
            </a:r>
            <a:endParaRPr lang="en-US" sz="2600" dirty="0"/>
          </a:p>
        </p:txBody>
      </p:sp>
      <p:sp>
        <p:nvSpPr>
          <p:cNvPr id="20" name="Text 17"/>
          <p:cNvSpPr txBox="1"/>
          <p:nvPr/>
        </p:nvSpPr>
        <p:spPr>
          <a:xfrm>
            <a:off x="8851392" y="5577840"/>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metros live</a:t>
            </a:r>
            <a:endParaRPr lang="en-US" sz="1200" dirty="0"/>
          </a:p>
        </p:txBody>
      </p:sp>
      <p:sp>
        <p:nvSpPr>
          <p:cNvPr id="21" name="Text 18"/>
          <p:cNvSpPr txBox="1"/>
          <p:nvPr/>
        </p:nvSpPr>
        <p:spPr>
          <a:xfrm>
            <a:off x="8851392" y="5769864"/>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plus nationwide shipping</a:t>
            </a:r>
            <a:endParaRPr lang="en-US" sz="1050" dirty="0"/>
          </a:p>
        </p:txBody>
      </p:sp>
      <p:sp>
        <p:nvSpPr>
          <p:cNvPr id="22" name="Text 19"/>
          <p:cNvSpPr txBox="1"/>
          <p:nvPr/>
        </p:nvSpPr>
        <p:spPr>
          <a:xfrm>
            <a:off x="713232" y="6144768"/>
            <a:ext cx="10698480" cy="256032"/>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$29 per vendor per month. A vendor’s first payment falls three months after signup, at the end of the free trial — so the first revenue month is December 2026. Churn is front-loaded: a metro loses 30% of each arriving cohort for its first three months before settling to 10%, and shipped-goods sellers churn at 50% for six months.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YEARS 1 – 3  ·  SEVEN-METRO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Seven metros by the third year</a:t>
            </a:r>
            <a:endParaRPr lang="en-US" sz="3600" dirty="0"/>
          </a:p>
        </p:txBody>
      </p:sp>
      <p:sp>
        <p:nvSpPr>
          <p:cNvPr id="4" name="Text 2"/>
          <p:cNvSpPr txBox="1"/>
          <p:nvPr/>
        </p:nvSpPr>
        <p:spPr>
          <a:xfrm>
            <a:off x="685800" y="1481328"/>
            <a:ext cx="1042416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The same playbook run city by city, each new metro inheriting a marketplace that already works — and spread across smaller, cheaper markets rather than concentrated in the largest ones.</a:t>
            </a:r>
            <a:endParaRPr lang="en-US" sz="1350" dirty="0"/>
          </a:p>
        </p:txBody>
      </p:sp>
      <p:graphicFrame>
        <p:nvGraphicFramePr>
          <p:cNvPr id="5" name="Chart 0" descr=""/>
          <p:cNvGraphicFramePr/>
          <p:nvPr/>
        </p:nvGraphicFramePr>
        <p:xfrm>
          <a:off x="640080" y="2286000"/>
          <a:ext cx="484632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285232"/>
            <a:ext cx="4937760" cy="274320"/>
          </a:xfrm>
          <a:prstGeom prst="rect">
            <a:avLst/>
          </a:prstGeom>
          <a:noFill/>
          <a:ln/>
        </p:spPr>
        <p:txBody>
          <a:bodyPr wrap="square" lIns="0" tIns="0" rIns="0" bIns="0" rtlCol="0" anchor="ctr"/>
          <a:lstStyle/>
          <a:p>
            <a:pPr algn="ctr" indent="0" marL="0">
              <a:buNone/>
            </a:pPr>
            <a:r>
              <a:rPr lang="en-US" sz="1200" b="1" dirty="0">
                <a:solidFill>
                  <a:srgbClr val="8B3E2D"/>
                </a:solidFill>
                <a:latin typeface="Calibri" pitchFamily="34" charset="0"/>
                <a:ea typeface="Calibri" pitchFamily="34" charset="-122"/>
                <a:cs typeface="Calibri" pitchFamily="34" charset="-120"/>
              </a:rPr>
              <a:t>$1,091,650</a:t>
            </a:r>
            <a:pPr algn="ctr" indent="0" marL="0">
              <a:buNone/>
            </a:pPr>
            <a:r>
              <a:rPr lang="en-US" sz="1200" dirty="0">
                <a:solidFill>
                  <a:srgbClr val="5A534C"/>
                </a:solidFill>
                <a:latin typeface="Calibri" pitchFamily="34" charset="0"/>
                <a:ea typeface="Calibri" pitchFamily="34" charset="-122"/>
                <a:cs typeface="Calibri" pitchFamily="34" charset="-120"/>
              </a:rPr>
              <a:t> over three years — exiting at ≈ </a:t>
            </a:r>
            <a:pPr algn="ctr" indent="0" marL="0">
              <a:buNone/>
            </a:pPr>
            <a:r>
              <a:rPr lang="en-US" sz="1200" b="1" dirty="0">
                <a:solidFill>
                  <a:srgbClr val="8B3E2D"/>
                </a:solidFill>
                <a:latin typeface="Calibri" pitchFamily="34" charset="0"/>
                <a:ea typeface="Calibri" pitchFamily="34" charset="-122"/>
                <a:cs typeface="Calibri" pitchFamily="34" charset="-120"/>
              </a:rPr>
              <a:t>$767K ARR</a:t>
            </a:r>
            <a:pPr algn="ctr" indent="0" marL="0">
              <a:buNone/>
            </a:pPr>
            <a:r>
              <a:rPr lang="en-US" sz="1200" dirty="0">
                <a:solidFill>
                  <a:srgbClr val="5A534C"/>
                </a:solidFill>
                <a:latin typeface="Calibri" pitchFamily="34" charset="0"/>
                <a:ea typeface="Calibri" pitchFamily="34" charset="-122"/>
                <a:cs typeface="Calibri" pitchFamily="34" charset="-120"/>
              </a:rPr>
              <a:t>.</a:t>
            </a:r>
            <a:endParaRPr lang="en-US" sz="1200" dirty="0"/>
          </a:p>
        </p:txBody>
      </p:sp>
      <p:sp>
        <p:nvSpPr>
          <p:cNvPr id="7" name="Text 4"/>
          <p:cNvSpPr txBox="1"/>
          <p:nvPr/>
        </p:nvSpPr>
        <p:spPr>
          <a:xfrm>
            <a:off x="5806440" y="2286000"/>
            <a:ext cx="5669280" cy="274320"/>
          </a:xfrm>
          <a:prstGeom prst="rect">
            <a:avLst/>
          </a:prstGeom>
          <a:noFill/>
          <a:ln/>
        </p:spPr>
        <p:txBody>
          <a:bodyPr wrap="square" lIns="0" tIns="0" rIns="0" bIns="0" rtlCol="0" anchor="ctr"/>
          <a:lstStyle/>
          <a:p>
            <a:pPr indent="0" marL="0">
              <a:buNone/>
            </a:pPr>
            <a:r>
              <a:rPr lang="en-US" sz="1300" b="1" dirty="0">
                <a:solidFill>
                  <a:srgbClr val="2C2825"/>
                </a:solidFill>
                <a:latin typeface="Calibri" pitchFamily="34" charset="0"/>
                <a:ea typeface="Calibri" pitchFamily="34" charset="-122"/>
                <a:cs typeface="Calibri" pitchFamily="34" charset="-120"/>
              </a:rPr>
              <a:t>Market rollout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15184"/>
          <a:ext cx="5669280" cy="914400"/>
        </p:xfrm>
        <a:graphic>
          <a:graphicData uri="http://schemas.openxmlformats.org/drawingml/2006/table">
            <a:tbl>
              <a:tblPr/>
              <a:tblGrid>
                <a:gridCol w="1325880"/>
                <a:gridCol w="914400"/>
                <a:gridCol w="1005840"/>
                <a:gridCol w="868680"/>
                <a:gridCol w="1554480"/>
              </a:tblGrid>
              <a:tr h="256032">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Market</a:t>
                      </a:r>
                      <a:endParaRPr lang="en-US" sz="100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First rev.</a:t>
                      </a:r>
                      <a:endParaRPr lang="en-US" sz="100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Metro pop.</a:t>
                      </a:r>
                      <a:endParaRPr lang="en-US" sz="100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Vendors</a:t>
                      </a:r>
                      <a:endParaRPr lang="en-US" sz="100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Pop. per vendor</a:t>
                      </a:r>
                      <a:endParaRPr lang="en-US" sz="100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Portland, OR</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Dec '26</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2.5M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199</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12,563</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Denver</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Dec '26</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3.0M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214</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14,019</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Seattle</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May '27</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4.1M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194</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21,134</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Minneapolis</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Aug '27</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3.8M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223</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16,996</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San Francisco</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Sep '27</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4.6M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27,059</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Asheville, NC</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Oct '27</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0.4M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144</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2,778</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Los Angeles</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Nov '27</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12.9M</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334</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38,623</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Shipped goods</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50" dirty="0">
                          <a:solidFill>
                            <a:srgbClr val="5A534C"/>
                          </a:solidFill>
                          <a:latin typeface="Calibri" pitchFamily="34" charset="0"/>
                          <a:ea typeface="Calibri" pitchFamily="34" charset="-122"/>
                          <a:cs typeface="Calibri" pitchFamily="34" charset="-120"/>
                        </a:rPr>
                        <a:t>Dec '26</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Nationwide</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C2825"/>
                          </a:solidFill>
                          <a:latin typeface="Calibri" pitchFamily="34" charset="0"/>
                          <a:ea typeface="Calibri" pitchFamily="34" charset="-122"/>
                          <a:cs typeface="Calibri" pitchFamily="34" charset="-120"/>
                        </a:rPr>
                        <a:t>472</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5A534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2C2825"/>
                          </a:solidFill>
                          <a:latin typeface="Calibri" pitchFamily="34" charset="0"/>
                          <a:ea typeface="Calibri" pitchFamily="34" charset="-122"/>
                          <a:cs typeface="Calibri" pitchFamily="34" charset="-120"/>
                        </a:rPr>
                        <a:t>Seven metros</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2C2825"/>
                          </a:solidFill>
                          <a:latin typeface="Calibri" pitchFamily="34" charset="0"/>
                          <a:ea typeface="Calibri" pitchFamily="34" charset="-122"/>
                          <a:cs typeface="Calibri" pitchFamily="34" charset="-120"/>
                        </a:rPr>
                        <a:t>1,478</a:t>
                      </a: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76200" marR="76200" marT="25400" marB="254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bl>
          </a:graphicData>
        </a:graphic>
      </p:graphicFrame>
      <p:sp>
        <p:nvSpPr>
          <p:cNvPr id="9" name="Shape 5"/>
          <p:cNvSpPr/>
          <p:nvPr/>
        </p:nvSpPr>
        <p:spPr>
          <a:xfrm>
            <a:off x="685800" y="5577840"/>
            <a:ext cx="3429000" cy="804672"/>
          </a:xfrm>
          <a:prstGeom prst="roundRect">
            <a:avLst>
              <a:gd name="adj" fmla="val 125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0" name="Text 6"/>
          <p:cNvSpPr txBox="1"/>
          <p:nvPr/>
        </p:nvSpPr>
        <p:spPr>
          <a:xfrm>
            <a:off x="886968" y="5660136"/>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30% early churn, then 10%</a:t>
            </a:r>
            <a:endParaRPr lang="en-US" sz="1250" dirty="0"/>
          </a:p>
        </p:txBody>
      </p:sp>
      <p:sp>
        <p:nvSpPr>
          <p:cNvPr id="11" name="Text 7"/>
          <p:cNvSpPr txBox="1"/>
          <p:nvPr/>
        </p:nvSpPr>
        <p:spPr>
          <a:xfrm>
            <a:off x="886968" y="5916168"/>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A new metro loses 30% of each arriving cohort for its first three months, then settles.</a:t>
            </a:r>
            <a:endParaRPr lang="en-US" sz="1050" dirty="0"/>
          </a:p>
        </p:txBody>
      </p:sp>
      <p:sp>
        <p:nvSpPr>
          <p:cNvPr id="12" name="Shape 8"/>
          <p:cNvSpPr/>
          <p:nvPr/>
        </p:nvSpPr>
        <p:spPr>
          <a:xfrm>
            <a:off x="4343400" y="5577840"/>
            <a:ext cx="3429000" cy="804672"/>
          </a:xfrm>
          <a:prstGeom prst="roundRect">
            <a:avLst>
              <a:gd name="adj" fmla="val 12500"/>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Text 9"/>
          <p:cNvSpPr txBox="1"/>
          <p:nvPr/>
        </p:nvSpPr>
        <p:spPr>
          <a:xfrm>
            <a:off x="4544568" y="5660136"/>
            <a:ext cx="3035808" cy="237744"/>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50% churn on goods sellers</a:t>
            </a:r>
            <a:endParaRPr lang="en-US" sz="1250" dirty="0"/>
          </a:p>
        </p:txBody>
      </p:sp>
      <p:sp>
        <p:nvSpPr>
          <p:cNvPr id="14" name="Text 10"/>
          <p:cNvSpPr txBox="1"/>
          <p:nvPr/>
        </p:nvSpPr>
        <p:spPr>
          <a:xfrm>
            <a:off x="4544568" y="5916168"/>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Shipped-goods vendors churn at half for six months of growing pains before settling to 10%.</a:t>
            </a:r>
            <a:endParaRPr lang="en-US" sz="1050" dirty="0"/>
          </a:p>
        </p:txBody>
      </p:sp>
      <p:sp>
        <p:nvSpPr>
          <p:cNvPr id="15" name="Shape 11"/>
          <p:cNvSpPr/>
          <p:nvPr/>
        </p:nvSpPr>
        <p:spPr>
          <a:xfrm>
            <a:off x="8001000" y="5577840"/>
            <a:ext cx="3429000" cy="804672"/>
          </a:xfrm>
          <a:prstGeom prst="roundRect">
            <a:avLst>
              <a:gd name="adj" fmla="val 125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6" name="Text 12"/>
          <p:cNvSpPr txBox="1"/>
          <p:nvPr/>
        </p:nvSpPr>
        <p:spPr>
          <a:xfrm>
            <a:off x="8202168" y="5660136"/>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$29 → $39 from Dec '28</a:t>
            </a:r>
            <a:endParaRPr lang="en-US" sz="1250" dirty="0"/>
          </a:p>
        </p:txBody>
      </p:sp>
      <p:sp>
        <p:nvSpPr>
          <p:cNvPr id="17" name="Text 13"/>
          <p:cNvSpPr txBox="1"/>
          <p:nvPr/>
        </p:nvSpPr>
        <p:spPr>
          <a:xfrm>
            <a:off x="8202168" y="5916168"/>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One price step in year three, once the marketplace has depth across seven metros.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4206240" y="-2194560"/>
            <a:ext cx="5943600" cy="5943600"/>
          </a:xfrm>
          <a:prstGeom prst="ellipse">
            <a:avLst/>
          </a:prstGeom>
          <a:solidFill>
            <a:srgbClr val="8B3E2D">
              <a:alpha val="14000"/>
            </a:srgbClr>
          </a:solidFill>
          <a:ln/>
        </p:spPr>
      </p:sp>
      <p:sp>
        <p:nvSpPr>
          <p:cNvPr id="3" name="Shape 1"/>
          <p:cNvSpPr/>
          <p:nvPr/>
        </p:nvSpPr>
        <p:spPr>
          <a:xfrm>
            <a:off x="-5120640" y="2377440"/>
            <a:ext cx="5486400" cy="5486400"/>
          </a:xfrm>
          <a:prstGeom prst="ellipse">
            <a:avLst/>
          </a:prstGeom>
          <a:solidFill>
            <a:srgbClr val="4D7255">
              <a:alpha val="12000"/>
            </a:srgbClr>
          </a:solidFill>
          <a:ln/>
        </p:spPr>
      </p:sp>
      <p:sp>
        <p:nvSpPr>
          <p:cNvPr id="4" name="Text 2"/>
          <p:cNvSpPr txBox="1"/>
          <p:nvPr/>
        </p:nvSpPr>
        <p:spPr>
          <a:xfrm>
            <a:off x="685800" y="548640"/>
            <a:ext cx="73152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THE TEAM</a:t>
            </a:r>
            <a:endParaRPr lang="en-US" sz="1100" dirty="0"/>
          </a:p>
        </p:txBody>
      </p:sp>
      <p:sp>
        <p:nvSpPr>
          <p:cNvPr id="5" name="Text 3"/>
          <p:cNvSpPr txBox="1"/>
          <p:nvPr/>
        </p:nvSpPr>
        <p:spPr>
          <a:xfrm>
            <a:off x="685800" y="859536"/>
            <a:ext cx="10789920" cy="658368"/>
          </a:xfrm>
          <a:prstGeom prst="rect">
            <a:avLst/>
          </a:prstGeom>
          <a:noFill/>
          <a:ln/>
        </p:spPr>
        <p:txBody>
          <a:bodyPr wrap="square" lIns="0" tIns="0" rIns="0" bIns="0" rtlCol="0" anchor="t"/>
          <a:lstStyle/>
          <a:p>
            <a:pPr indent="0" marL="0">
              <a:buNone/>
            </a:pPr>
            <a:r>
              <a:rPr lang="en-US" sz="3200" dirty="0">
                <a:solidFill>
                  <a:srgbClr val="FAF9F7"/>
                </a:solidFill>
                <a:latin typeface="Cambria" pitchFamily="34" charset="0"/>
                <a:ea typeface="Cambria" pitchFamily="34" charset="-122"/>
                <a:cs typeface="Cambria" pitchFamily="34" charset="-120"/>
              </a:rPr>
              <a:t>Built by people who have done this work</a:t>
            </a:r>
            <a:endParaRPr lang="en-US" sz="3200" dirty="0"/>
          </a:p>
        </p:txBody>
      </p:sp>
      <p:sp>
        <p:nvSpPr>
          <p:cNvPr id="6" name="Shape 4"/>
          <p:cNvSpPr/>
          <p:nvPr/>
        </p:nvSpPr>
        <p:spPr>
          <a:xfrm>
            <a:off x="6858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7" name="Shape 5"/>
          <p:cNvSpPr/>
          <p:nvPr/>
        </p:nvSpPr>
        <p:spPr>
          <a:xfrm>
            <a:off x="923544" y="1865376"/>
            <a:ext cx="585216" cy="585216"/>
          </a:xfrm>
          <a:prstGeom prst="ellipse">
            <a:avLst/>
          </a:prstGeom>
          <a:solidFill>
            <a:srgbClr val="C1634F"/>
          </a:solidFill>
          <a:ln/>
        </p:spPr>
      </p:sp>
      <p:sp>
        <p:nvSpPr>
          <p:cNvPr id="8" name="Text 6"/>
          <p:cNvSpPr txBox="1"/>
          <p:nvPr/>
        </p:nvSpPr>
        <p:spPr>
          <a:xfrm>
            <a:off x="9235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JB</a:t>
            </a:r>
            <a:endParaRPr lang="en-US" sz="1800" dirty="0"/>
          </a:p>
        </p:txBody>
      </p:sp>
      <p:sp>
        <p:nvSpPr>
          <p:cNvPr id="9" name="Text 7"/>
          <p:cNvSpPr txBox="1"/>
          <p:nvPr/>
        </p:nvSpPr>
        <p:spPr>
          <a:xfrm>
            <a:off x="9235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Juliana Bernstein</a:t>
            </a:r>
            <a:endParaRPr lang="en-US" sz="1650" dirty="0"/>
          </a:p>
        </p:txBody>
      </p:sp>
      <p:sp>
        <p:nvSpPr>
          <p:cNvPr id="10" name="Text 8"/>
          <p:cNvSpPr txBox="1"/>
          <p:nvPr/>
        </p:nvSpPr>
        <p:spPr>
          <a:xfrm>
            <a:off x="9235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CO-FOUNDER</a:t>
            </a:r>
            <a:endParaRPr lang="en-US" sz="1000" dirty="0"/>
          </a:p>
        </p:txBody>
      </p:sp>
      <p:sp>
        <p:nvSpPr>
          <p:cNvPr id="11" name="Text 9"/>
          <p:cNvSpPr txBox="1"/>
          <p:nvPr/>
        </p:nvSpPr>
        <p:spPr>
          <a:xfrm>
            <a:off x="9235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Geriatric physician associate turned entrepreneur. Sixteen years in geriatric and palliative medicine, then founded Oregon’s first event company dedicated to living funerals and celebrations of life. Brown University; OHSU.</a:t>
            </a:r>
            <a:endParaRPr lang="en-US" sz="1050" dirty="0"/>
          </a:p>
        </p:txBody>
      </p:sp>
      <p:sp>
        <p:nvSpPr>
          <p:cNvPr id="12" name="Shape 10"/>
          <p:cNvSpPr/>
          <p:nvPr/>
        </p:nvSpPr>
        <p:spPr>
          <a:xfrm>
            <a:off x="4343400" y="1664208"/>
            <a:ext cx="3429000" cy="2761488"/>
          </a:xfrm>
          <a:prstGeom prst="roundRect">
            <a:avLst>
              <a:gd name="adj" fmla="val 3642"/>
            </a:avLst>
          </a:prstGeom>
          <a:solidFill>
            <a:srgbClr val="FAF9F7">
              <a:alpha val="8000"/>
            </a:srgbClr>
          </a:solidFill>
          <a:ln w="12700">
            <a:solidFill>
              <a:srgbClr val="4D7255"/>
            </a:solidFill>
            <a:prstDash val="solid"/>
          </a:ln>
        </p:spPr>
      </p:sp>
      <p:sp>
        <p:nvSpPr>
          <p:cNvPr id="13" name="Shape 11"/>
          <p:cNvSpPr/>
          <p:nvPr/>
        </p:nvSpPr>
        <p:spPr>
          <a:xfrm>
            <a:off x="4581144" y="1865376"/>
            <a:ext cx="585216" cy="585216"/>
          </a:xfrm>
          <a:prstGeom prst="ellipse">
            <a:avLst/>
          </a:prstGeom>
          <a:solidFill>
            <a:srgbClr val="7A9E82"/>
          </a:solidFill>
          <a:ln/>
        </p:spPr>
      </p:sp>
      <p:sp>
        <p:nvSpPr>
          <p:cNvPr id="14" name="Text 12"/>
          <p:cNvSpPr txBox="1"/>
          <p:nvPr/>
        </p:nvSpPr>
        <p:spPr>
          <a:xfrm>
            <a:off x="45811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NL</a:t>
            </a:r>
            <a:endParaRPr lang="en-US" sz="1800" dirty="0"/>
          </a:p>
        </p:txBody>
      </p:sp>
      <p:sp>
        <p:nvSpPr>
          <p:cNvPr id="15" name="Text 13"/>
          <p:cNvSpPr txBox="1"/>
          <p:nvPr/>
        </p:nvSpPr>
        <p:spPr>
          <a:xfrm>
            <a:off x="45811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Naomi Levy</a:t>
            </a:r>
            <a:endParaRPr lang="en-US" sz="1650" dirty="0"/>
          </a:p>
        </p:txBody>
      </p:sp>
      <p:sp>
        <p:nvSpPr>
          <p:cNvPr id="16" name="Text 14"/>
          <p:cNvSpPr txBox="1"/>
          <p:nvPr/>
        </p:nvSpPr>
        <p:spPr>
          <a:xfrm>
            <a:off x="45811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A8C4AC"/>
                </a:solidFill>
                <a:latin typeface="Calibri" pitchFamily="34" charset="0"/>
                <a:ea typeface="Calibri" pitchFamily="34" charset="-122"/>
                <a:cs typeface="Calibri" pitchFamily="34" charset="-120"/>
              </a:rPr>
              <a:t>CO-FOUNDER</a:t>
            </a:r>
            <a:endParaRPr lang="en-US" sz="1000" dirty="0"/>
          </a:p>
        </p:txBody>
      </p:sp>
      <p:sp>
        <p:nvSpPr>
          <p:cNvPr id="17" name="Text 15"/>
          <p:cNvSpPr txBox="1"/>
          <p:nvPr/>
        </p:nvSpPr>
        <p:spPr>
          <a:xfrm>
            <a:off x="45811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Seventeen years in product and project management of economic forecasts, then founded a home-organizing practice helping people manage their lives and belongings. Economics, New York University.</a:t>
            </a:r>
            <a:endParaRPr lang="en-US" sz="1050" dirty="0"/>
          </a:p>
        </p:txBody>
      </p:sp>
      <p:sp>
        <p:nvSpPr>
          <p:cNvPr id="18" name="Shape 16"/>
          <p:cNvSpPr/>
          <p:nvPr/>
        </p:nvSpPr>
        <p:spPr>
          <a:xfrm>
            <a:off x="80010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19" name="Shape 17"/>
          <p:cNvSpPr/>
          <p:nvPr/>
        </p:nvSpPr>
        <p:spPr>
          <a:xfrm>
            <a:off x="8238744" y="1865376"/>
            <a:ext cx="585216" cy="585216"/>
          </a:xfrm>
          <a:prstGeom prst="ellipse">
            <a:avLst/>
          </a:prstGeom>
          <a:solidFill>
            <a:srgbClr val="C1634F"/>
          </a:solidFill>
          <a:ln/>
        </p:spPr>
      </p:sp>
      <p:sp>
        <p:nvSpPr>
          <p:cNvPr id="20" name="Text 18"/>
          <p:cNvSpPr txBox="1"/>
          <p:nvPr/>
        </p:nvSpPr>
        <p:spPr>
          <a:xfrm>
            <a:off x="82387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AS</a:t>
            </a:r>
            <a:endParaRPr lang="en-US" sz="1800" dirty="0"/>
          </a:p>
        </p:txBody>
      </p:sp>
      <p:sp>
        <p:nvSpPr>
          <p:cNvPr id="21" name="Text 19"/>
          <p:cNvSpPr txBox="1"/>
          <p:nvPr/>
        </p:nvSpPr>
        <p:spPr>
          <a:xfrm>
            <a:off x="8238744" y="2560320"/>
            <a:ext cx="2962656" cy="292608"/>
          </a:xfrm>
          <a:prstGeom prst="rect">
            <a:avLst/>
          </a:prstGeom>
          <a:noFill/>
          <a:ln/>
        </p:spPr>
        <p:txBody>
          <a:bodyPr wrap="square" lIns="0" tIns="0" rIns="0" bIns="0" rtlCol="0" anchor="ctr"/>
          <a:lstStyle/>
          <a:p>
            <a:pPr indent="0" marL="0">
              <a:buNone/>
            </a:pPr>
            <a:r>
              <a:rPr lang="en-US" sz="1450" dirty="0">
                <a:solidFill>
                  <a:srgbClr val="FAF9F7"/>
                </a:solidFill>
                <a:latin typeface="Cambria" pitchFamily="34" charset="0"/>
                <a:ea typeface="Cambria" pitchFamily="34" charset="-122"/>
                <a:cs typeface="Cambria" pitchFamily="34" charset="-120"/>
              </a:rPr>
              <a:t>Alison Shmerling, MD, MPH</a:t>
            </a:r>
            <a:endParaRPr lang="en-US" sz="1450" dirty="0"/>
          </a:p>
        </p:txBody>
      </p:sp>
      <p:sp>
        <p:nvSpPr>
          <p:cNvPr id="22" name="Text 20"/>
          <p:cNvSpPr txBox="1"/>
          <p:nvPr/>
        </p:nvSpPr>
        <p:spPr>
          <a:xfrm>
            <a:off x="82387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ADVISOR</a:t>
            </a:r>
            <a:endParaRPr lang="en-US" sz="1000" dirty="0"/>
          </a:p>
        </p:txBody>
      </p:sp>
      <p:sp>
        <p:nvSpPr>
          <p:cNvPr id="23" name="Text 21"/>
          <p:cNvSpPr txBox="1"/>
          <p:nvPr/>
        </p:nvSpPr>
        <p:spPr>
          <a:xfrm>
            <a:off x="82387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Physician in underserved care settings, building programs at the intersection of underserved care and healthcare technology. Northwestern University; Tufts University School of Medicine.</a:t>
            </a:r>
            <a:endParaRPr lang="en-US" sz="1050" dirty="0"/>
          </a:p>
        </p:txBody>
      </p:sp>
      <p:sp>
        <p:nvSpPr>
          <p:cNvPr id="24" name="Shape 22"/>
          <p:cNvSpPr/>
          <p:nvPr/>
        </p:nvSpPr>
        <p:spPr>
          <a:xfrm>
            <a:off x="685800" y="4700016"/>
            <a:ext cx="10789920" cy="1280160"/>
          </a:xfrm>
          <a:prstGeom prst="roundRect">
            <a:avLst>
              <a:gd name="adj" fmla="val 7857"/>
            </a:avLst>
          </a:prstGeom>
          <a:solidFill>
            <a:srgbClr val="8B3E2D">
              <a:alpha val="38000"/>
            </a:srgbClr>
          </a:solidFill>
          <a:ln w="12700">
            <a:solidFill>
              <a:srgbClr val="D4876F"/>
            </a:solidFill>
            <a:prstDash val="solid"/>
          </a:ln>
        </p:spPr>
      </p:sp>
      <p:sp>
        <p:nvSpPr>
          <p:cNvPr id="25" name="Text 23"/>
          <p:cNvSpPr txBox="1"/>
          <p:nvPr/>
        </p:nvSpPr>
        <p:spPr>
          <a:xfrm>
            <a:off x="960120" y="4864608"/>
            <a:ext cx="2743200" cy="274320"/>
          </a:xfrm>
          <a:prstGeom prst="rect">
            <a:avLst/>
          </a:prstGeom>
          <a:noFill/>
          <a:ln/>
        </p:spPr>
        <p:txBody>
          <a:bodyPr wrap="square" lIns="0" tIns="0" rIns="0" bIns="0" rtlCol="0" anchor="ctr"/>
          <a:lstStyle/>
          <a:p>
            <a:pPr indent="0" marL="0">
              <a:buNone/>
            </a:pPr>
            <a:r>
              <a:rPr lang="en-US" sz="1100" b="1" spc="200" kern="0" dirty="0">
                <a:solidFill>
                  <a:srgbClr val="D4876F"/>
                </a:solidFill>
                <a:latin typeface="Calibri" pitchFamily="34" charset="0"/>
                <a:ea typeface="Calibri" pitchFamily="34" charset="-122"/>
                <a:cs typeface="Calibri" pitchFamily="34" charset="-120"/>
              </a:rPr>
              <a:t>The ask</a:t>
            </a:r>
            <a:endParaRPr lang="en-US" sz="1100" dirty="0"/>
          </a:p>
        </p:txBody>
      </p:sp>
      <p:sp>
        <p:nvSpPr>
          <p:cNvPr id="26" name="Text 24"/>
          <p:cNvSpPr txBox="1"/>
          <p:nvPr/>
        </p:nvSpPr>
        <p:spPr>
          <a:xfrm>
            <a:off x="960120" y="5157216"/>
            <a:ext cx="7680960" cy="658368"/>
          </a:xfrm>
          <a:prstGeom prst="rect">
            <a:avLst/>
          </a:prstGeom>
          <a:noFill/>
          <a:ln/>
        </p:spPr>
        <p:txBody>
          <a:bodyPr wrap="square" lIns="0" tIns="0" rIns="0" bIns="0" rtlCol="0" anchor="ctr"/>
          <a:lstStyle/>
          <a:p>
            <a:pPr indent="0" marL="0">
              <a:lnSpc>
                <a:spcPts val="2300"/>
              </a:lnSpc>
              <a:buNone/>
            </a:pPr>
            <a:r>
              <a:rPr lang="en-US" sz="1600" dirty="0">
                <a:solidFill>
                  <a:srgbClr val="FAF9F7"/>
                </a:solidFill>
                <a:latin typeface="Cambria" pitchFamily="34" charset="0"/>
                <a:ea typeface="Cambria" pitchFamily="34" charset="-122"/>
                <a:cs typeface="Cambria" pitchFamily="34" charset="-120"/>
              </a:rPr>
              <a:t>We are raising [amount] to fund vendor recruitment in Portland and Denver through launch and the first twelve months.</a:t>
            </a:r>
            <a:endParaRPr lang="en-US" sz="1600" dirty="0"/>
          </a:p>
        </p:txBody>
      </p:sp>
      <p:sp>
        <p:nvSpPr>
          <p:cNvPr id="27" name="Text 25"/>
          <p:cNvSpPr txBox="1"/>
          <p:nvPr/>
        </p:nvSpPr>
        <p:spPr>
          <a:xfrm>
            <a:off x="8869680" y="5138928"/>
            <a:ext cx="2377440" cy="640080"/>
          </a:xfrm>
          <a:prstGeom prst="rect">
            <a:avLst/>
          </a:prstGeom>
          <a:noFill/>
          <a:ln/>
        </p:spPr>
        <p:txBody>
          <a:bodyPr wrap="square" lIns="0" tIns="0" rIns="0" bIns="0" rtlCol="0" anchor="ctr"/>
          <a:lstStyle/>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hello@codaco.market</a:t>
            </a:r>
            <a:endParaRPr lang="en-US" sz="1200" dirty="0"/>
          </a:p>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coda-co-nine.vercel.app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CodaCo Market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CodaCo — Investor Overview</dc:title>
  <dc:subject>PptxGenJS Presentation</dc:subject>
  <dc:creator>CodaCo Market</dc:creator>
  <cp:lastModifiedBy>CodaCo Market</cp:lastModifiedBy>
  <cp:revision>1</cp:revision>
  <dcterms:created xsi:type="dcterms:W3CDTF">2026-09-02T18:41:45Z</dcterms:created>
  <dcterms:modified xsi:type="dcterms:W3CDTF">2026-09-02T18:41:45Z</dcterms:modified>
</cp:coreProperties>
</file>