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2825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C2825"/>
                </a:solidFill>
                <a:latin typeface="Calibri"/>
              </a:rPr>
              <a:t>Monthly subscription revenue by market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Portland</c:v>
                </c:pt>
              </c:strCache>
            </c:strRef>
          </c:tx>
          <c:spPr>
            <a:solidFill>
              <a:srgbClr val="C163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870</c:v>
                </c:pt>
                <c:pt idx="2">
                  <c:v>1363</c:v>
                </c:pt>
                <c:pt idx="3">
                  <c:v>1885</c:v>
                </c:pt>
                <c:pt idx="4">
                  <c:v>2407</c:v>
                </c:pt>
                <c:pt idx="5">
                  <c:v>2813</c:v>
                </c:pt>
                <c:pt idx="6">
                  <c:v>3219</c:v>
                </c:pt>
                <c:pt idx="7">
                  <c:v>3625</c:v>
                </c:pt>
                <c:pt idx="8">
                  <c:v>4031</c:v>
                </c:pt>
                <c:pt idx="9">
                  <c:v>4321</c:v>
                </c:pt>
                <c:pt idx="10">
                  <c:v>4640</c:v>
                </c:pt>
                <c:pt idx="11">
                  <c:v>4959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Denver</c:v>
                </c:pt>
              </c:strCache>
            </c:strRef>
          </c:tx>
          <c:spPr>
            <a:solidFill>
              <a:srgbClr val="7A9E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754</c:v>
                </c:pt>
                <c:pt idx="2">
                  <c:v>1363</c:v>
                </c:pt>
                <c:pt idx="3">
                  <c:v>2001</c:v>
                </c:pt>
                <c:pt idx="4">
                  <c:v>2639</c:v>
                </c:pt>
                <c:pt idx="5">
                  <c:v>3161</c:v>
                </c:pt>
                <c:pt idx="6">
                  <c:v>3683</c:v>
                </c:pt>
                <c:pt idx="7">
                  <c:v>4205</c:v>
                </c:pt>
                <c:pt idx="8">
                  <c:v>4437</c:v>
                </c:pt>
                <c:pt idx="9">
                  <c:v>4698</c:v>
                </c:pt>
                <c:pt idx="10">
                  <c:v>4959</c:v>
                </c:pt>
                <c:pt idx="11">
                  <c:v>5220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Seattle</c:v>
                </c:pt>
              </c:strCache>
            </c:strRef>
          </c:tx>
          <c:spPr>
            <a:solidFill>
              <a:srgbClr val="D487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783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Shipped goods</c:v>
                </c:pt>
              </c:strCache>
            </c:strRef>
          </c:tx>
          <c:spPr>
            <a:solidFill>
              <a:srgbClr val="A8C4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Nov '26</c:v>
                  </c:pt>
                  <c:pt idx="1">
                    <c:v>Dec</c:v>
                  </c:pt>
                  <c:pt idx="2">
                    <c:v>Jan '27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  <c:pt idx="6">
                    <c:v>May</c:v>
                  </c:pt>
                  <c:pt idx="7">
                    <c:v>Jun</c:v>
                  </c:pt>
                  <c:pt idx="8">
                    <c:v>Jul</c:v>
                  </c:pt>
                  <c:pt idx="9">
                    <c:v>Aug</c:v>
                  </c:pt>
                  <c:pt idx="10">
                    <c:v>Sep</c:v>
                  </c:pt>
                  <c:pt idx="11">
                    <c:v>Oct '27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348</c:v>
                </c:pt>
                <c:pt idx="2">
                  <c:v>667</c:v>
                </c:pt>
                <c:pt idx="3">
                  <c:v>986</c:v>
                </c:pt>
                <c:pt idx="4">
                  <c:v>1247</c:v>
                </c:pt>
                <c:pt idx="5">
                  <c:v>1508</c:v>
                </c:pt>
                <c:pt idx="6">
                  <c:v>1769</c:v>
                </c:pt>
                <c:pt idx="7">
                  <c:v>2030</c:v>
                </c:pt>
                <c:pt idx="8">
                  <c:v>2291</c:v>
                </c:pt>
                <c:pt idx="9">
                  <c:v>2552</c:v>
                </c:pt>
                <c:pt idx="10">
                  <c:v>2755</c:v>
                </c:pt>
                <c:pt idx="11">
                  <c:v>2958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3DE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34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2825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C2825"/>
                </a:solidFill>
                <a:latin typeface="Calibri"/>
              </a:rPr>
              <a:t>Annual subscription revenue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</c:v>
                </c:pt>
              </c:strCache>
            </c:strRef>
          </c:tx>
          <c:spPr>
            <a:solidFill>
              <a:srgbClr val="C1634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C282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91147</c:v>
                </c:pt>
                <c:pt idx="1">
                  <c:v>324104</c:v>
                </c:pt>
                <c:pt idx="2">
                  <c:v>950244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C282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00"/>
          <c:min val="0"/>
        </c:scaling>
        <c:delete val="0"/>
        <c:axPos val="l"/>
        <c:majorGridlines>
          <c:spPr>
            <a:ln w="9525" cap="flat">
              <a:solidFill>
                <a:srgbClr val="E7E3DE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CodaCo Market is a curated two-sided marketplace for everything families need around death and dying — goods, services and guidance. The product is built and live; we launch 1 November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founders' own frustration: when facing the death of someone you love, the resources you need are scattered, poorly described and hard to compare — and you are doing the research at the worst possible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sides of one marketplace: shipped goods from makers nationwide, and services matched to the searcher's zip code against each vendor's own service radius. Curation is the product — every listing is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engineering risk is largely behind us. Vendors can already sign up, be approved, publish listings and be billed. What remains before revenue-bearing transactions is the buyer checkout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a subscription, not a take rate. It removes the incentive to fight vendors over attribution, and it makes revenue legible long before transaction volume is meaningful. The upside lines — gift cards, client billing, sponsorship — are excluded from the projections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1 is deliberately narrow: two metros plus makers who ship. Every dollar here is a $29 subscription — no goods transaction revenue, no gift cards, no client billing, no sponsorship. Seattle opening in month twelve is what carries the ramp into Year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Three-year revenue totals $1.37M. The penetration assumption is the conservative part: even New York is modelled at one vendor per 48,309 residents, against one per 6,281 in Portland — the large metros are barely touched. Annual figures are the founders' own; the monthly build behind years 2 and 3 is not reproduced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[amount] with the raise before sending. Founders are operators in this space, not outsiders to it — the marketplace exists because they kept being asked for the referrals it now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2194560"/>
            <a:ext cx="5943600" cy="5943600"/>
          </a:xfrm>
          <a:prstGeom prst="ellipse">
            <a:avLst/>
          </a:prstGeom>
          <a:solidFill>
            <a:srgbClr val="8B3E2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2377440"/>
            <a:ext cx="5486400" cy="5486400"/>
          </a:xfrm>
          <a:prstGeom prst="ellipse">
            <a:avLst/>
          </a:prstGeom>
          <a:solidFill>
            <a:srgbClr val="4D7255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MARKETPLACE FOR DEATH AND DYING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CodaCo</a:t>
            </a:r>
            <a:endParaRPr lang="en-US" sz="6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i="1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Death is a part of life.</a:t>
            </a:r>
            <a:endParaRPr lang="en-US" sz="2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900" i="1" dirty="0">
                <a:solidFill>
                  <a:srgbClr val="D4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should be easy to find.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37083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Goods, services, and plain-language guidance — brought into one welcoming place for families planning ahead or grieving a loss.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A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  ·  Three-year projections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59436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4A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Launching 1 November 2026  ·  coda-co-nine.vercel.app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resources exist. Families can’t find them.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dies, the help that would make it bearable is scattered across a dozen places — and nobody goes looking until they need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304288"/>
            <a:ext cx="475488" cy="475488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304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28600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263347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urn from one shop. A doula from a Facebook group. An estate attorney from a search result. Nothing connects, and nothing is comparable.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3602736"/>
            <a:ext cx="475488" cy="475488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358444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Poorly described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89888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end-of-life practitioners are close to invisible online, or described in language nobody uses when they are grieving.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13232" y="4901184"/>
            <a:ext cx="475488" cy="475488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4901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488289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 at the worst possible moment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523036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do this research once, under time pressure, in the days after a death — with no way to tell who is qualified.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92440" y="2084832"/>
            <a:ext cx="3401568" cy="2286000"/>
          </a:xfrm>
          <a:prstGeom prst="roundRect">
            <a:avLst>
              <a:gd name="adj" fmla="val 4400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183880" y="22860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~3M</a:t>
            </a:r>
            <a:endParaRPr lang="en-US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the United States every year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675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sends a household searching, usually for the first time.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459028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50" i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“Loss deserves to be met with care.”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521208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CodaCo Market ethos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1447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CDC / NCHS annual U.S. mortality.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for everything a family needs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goods, vetted local practitioners, and gentle guidance — searchable together, by category and by where you live.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21408"/>
            <a:ext cx="5257800" cy="2880360"/>
          </a:xfrm>
          <a:prstGeom prst="roundRect">
            <a:avLst>
              <a:gd name="adj" fmla="val 3492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59152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23408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4323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907792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Urns &amp; vessels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 jewelry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Burial shrouds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documents &amp; workbooks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Memorial items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Gifts &amp; humor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4553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nationwide, or collected locally.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2121408"/>
            <a:ext cx="5257800" cy="2880360"/>
          </a:xfrm>
          <a:prstGeom prst="roundRect">
            <a:avLst>
              <a:gd name="adj" fmla="val 3492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2359152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2359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22592" y="23408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555480" y="24323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types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56248" y="2907792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End-of-life doulas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attorneys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Grief counselors &amp; spiritual support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Funeral celebrants &amp; home funeral guides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cleaning &amp; end-of-life organizers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cafés, mediators, funeral homes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56248" y="4553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zip code, matched to each provider’s service radius.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Curated, not open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052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is reviewed and approved before they appear.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5628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by radius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628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surface for the zip codes they actually serve.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010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2204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Guidance, not just listings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2204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for people who have never done this.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concept — a working marketplace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at coda-co-nine.vercel.app. Four build phases shipped: the catalog, the database, accounts, and full vendor self-service.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5256" y="2340864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2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self-service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Apply, build a shop or service profile, list and price. Admin approves in 1–2 business days.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62856" y="2340864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billing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 and customer portal — trials, renewals, plan changes, cancellation.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0456" y="2340864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04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◎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7508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discovery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04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Zip-centroid search against each vendor’s service radius; virtual providers surface everywhere.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5256" y="4041648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52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356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layer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reviews, saved items, and a curated approval queue behind every listing.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62856" y="4041648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628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♥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0932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cards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628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and shareable group-gift pools — contribute without creating an account.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010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20456" y="4041648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04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7508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&amp; editorial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2204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for the newly bereaved, plus a curated reading list.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85800" y="5614416"/>
            <a:ext cx="10789920" cy="658368"/>
          </a:xfrm>
          <a:prstGeom prst="roundRect">
            <a:avLst>
              <a:gd name="adj" fmla="val 15278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14400" y="5614416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next:  </a:t>
            </a:r>
            <a:pPr indent="0" marL="0">
              <a:buNone/>
            </a:pPr>
            <a:r>
              <a:rPr lang="en-US" sz="125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and checkout with orders and vendor notifications, then verified-purchase reviews. Gift-card sales open once a balance can be spent.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Vendors subscribe. Buyers pay nothing extra.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rate for goods makers and service providers alike — no per-sale transaction fee, so vendors keep 100% of what they earn.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86968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months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feature, no card required.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39896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5EAE6"/>
          </a:solidFill>
          <a:ln w="9525">
            <a:solidFill>
              <a:srgbClr val="D4876F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941064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941064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941064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941064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any time.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93992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95160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8%.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848088" y="2139696"/>
            <a:ext cx="1627632" cy="2084832"/>
          </a:xfrm>
          <a:prstGeom prst="roundRect">
            <a:avLst>
              <a:gd name="adj" fmla="val 6180"/>
            </a:avLst>
          </a:prstGeom>
          <a:solidFill>
            <a:srgbClr val="2C2825"/>
          </a:solidFill>
          <a:ln w="9525">
            <a:solidFill>
              <a:srgbClr val="2C2825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93808" y="26060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9893808" y="32918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rate on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5256" y="4645152"/>
            <a:ext cx="365760" cy="365760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3624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from day one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052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subscription, not transaction — predictable and forecastable before GMV exists.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434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62856" y="4645152"/>
            <a:ext cx="365760" cy="365760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628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0200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friction to say yes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5628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quarter and $29/month is an easy decision for a solo doula or a one-person studio.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0010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20456" y="4645152"/>
            <a:ext cx="365760" cy="365760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04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6776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on both sides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82204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and services share one plan, one dashboard, one billing path — no second business to run.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87044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in the model: gift cards and group-gift pools, vendor-bills-client-through-CodaCo, and sponsored placement.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cities and the mail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and Denver open 1 November 2026, with shipped-goods makers nationwide. Seattle follows in the twelfth month.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12848"/>
          <a:ext cx="77724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2212848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851392" y="228600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$91,147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851392" y="267004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851392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'26 – Oct '27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686800" y="3182112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851392" y="32552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480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851392" y="363931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vendors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851392" y="38313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subscribing in Oct '27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686800" y="4151376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851392" y="422452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$13,920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851392" y="46085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monthly revenue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4800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'27 — ≈ $167K ARR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86800" y="5120640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851392" y="51937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55778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live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5769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Portland, Denver, nationwide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13232" y="614476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 per vendor per month, less 10% attrition on each converting cohort. A vendor’s first payment falls three months after signup, at the end of the free trial — so the first revenue month is December 2026.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–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metros by the third year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playbook run city by city. Revenue compounds because each new metro inherits a marketplace that already works — and because vendors signed in year one are still subscribing in year three.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8600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06440" y="2286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rollout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615184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1051560"/>
                <a:gridCol w="914400"/>
                <a:gridCol w="155448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 pop.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3E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Pop. per vendor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'26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'26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'27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Angeles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'28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28,667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'28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Shipped goods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'26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Nationwide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A53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C2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" y="5632704"/>
            <a:ext cx="342900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86968" y="5724144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free trial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886968" y="5980176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starts free, so the first payment lands three months after signup.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43400" y="5632704"/>
            <a:ext cx="3429000" cy="841248"/>
          </a:xfrm>
          <a:prstGeom prst="roundRect">
            <a:avLst>
              <a:gd name="adj" fmla="val 11957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544568" y="5724144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attrition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44568" y="5980176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tenth of each converting cohort is written off — churn is in the model, not assumed away.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01000" y="5632704"/>
            <a:ext cx="342900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202168" y="5724144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 → $39 from Dec '28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8202168" y="5980176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price step in year three, once the marketplace has depth in five metros.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2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206240" y="-2194560"/>
            <a:ext cx="5943600" cy="5943600"/>
          </a:xfrm>
          <a:prstGeom prst="ellipse">
            <a:avLst/>
          </a:prstGeom>
          <a:solidFill>
            <a:srgbClr val="8B3E2D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120640" y="2377440"/>
            <a:ext cx="5486400" cy="5486400"/>
          </a:xfrm>
          <a:prstGeom prst="ellipse">
            <a:avLst/>
          </a:prstGeom>
          <a:solidFill>
            <a:srgbClr val="4D7255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59536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people who have done this work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8B3E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865376"/>
            <a:ext cx="585216" cy="585216"/>
          </a:xfrm>
          <a:prstGeom prst="ellipse">
            <a:avLst/>
          </a:prstGeom>
          <a:solidFill>
            <a:srgbClr val="C16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235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Juliana Bernstein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9235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Geriatric physician associate turned entrepreneur. Sixteen years in geriatric and palliative medicine, then founded Oregon’s first event company dedicated to living funerals and celebrations of life. Brown University; OHSU.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4D72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65376"/>
            <a:ext cx="585216" cy="585216"/>
          </a:xfrm>
          <a:prstGeom prst="ellipse">
            <a:avLst/>
          </a:prstGeom>
          <a:solidFill>
            <a:srgbClr val="7A9E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811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811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Naomi Levy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5811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C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Seventeen years in product and project management of economic forecasts, then founded a home-organizing practice helping people manage their lives and belongings. Economics, New York University.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010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8B3E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38744" y="1865376"/>
            <a:ext cx="585216" cy="585216"/>
          </a:xfrm>
          <a:prstGeom prst="ellipse">
            <a:avLst/>
          </a:prstGeom>
          <a:solidFill>
            <a:srgbClr val="C163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387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Alison Shmerling, MD, MPH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82387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387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in underserved care settings, building programs at the intersection of underserved care and healthcare technology. Northwestern University; Tufts University School of Medicine.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4700016"/>
            <a:ext cx="10789920" cy="1280160"/>
          </a:xfrm>
          <a:prstGeom prst="roundRect">
            <a:avLst>
              <a:gd name="adj" fmla="val 7857"/>
            </a:avLst>
          </a:prstGeom>
          <a:solidFill>
            <a:srgbClr val="8B3E2D">
              <a:alpha val="38000"/>
            </a:srgbClr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4864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515721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raising [amount] to fund vendor recruitment in Portland and Denver through launch and the first twelve months.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69680" y="51389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hello@codaco.market</a:t>
            </a:r>
            <a:endParaRPr lang="en-US" sz="1200" dirty="0"/>
          </a:p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coda-co-nine.vercel.app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CodaCo Market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CodaCo — Investor Overview</dc:title>
  <dc:subject>PptxGenJS Presentation</dc:subject>
  <dc:creator>CodaCo Market</dc:creator>
  <cp:lastModifiedBy>CodaCo Market</cp:lastModifiedBy>
  <cp:revision>1</cp:revision>
  <dcterms:created xsi:type="dcterms:W3CDTF">2026-08-31T10:29:33Z</dcterms:created>
  <dcterms:modified xsi:type="dcterms:W3CDTF">2026-08-31T10:29:33Z</dcterms:modified>
</cp:coreProperties>
</file>