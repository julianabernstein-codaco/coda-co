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2825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C2825"/>
                </a:solidFill>
                <a:latin typeface="Calibri"/>
              </a:rPr>
              <a:t>Monthly subscription revenue by market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Portland</c:v>
                </c:pt>
              </c:strCache>
            </c:strRef>
          </c:tx>
          <c:spPr>
            <a:solidFill>
              <a:srgbClr val="C163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Sep</c:v>
                  </c:pt>
                  <c:pt idx="1">
                    <c:v>Oct</c:v>
                  </c:pt>
                  <c:pt idx="2">
                    <c:v>Nov</c:v>
                  </c:pt>
                  <c:pt idx="3">
                    <c:v>Dec</c:v>
                  </c:pt>
                  <c:pt idx="4">
                    <c:v>Jan '27</c:v>
                  </c:pt>
                  <c:pt idx="5">
                    <c:v>Feb</c:v>
                  </c:pt>
                  <c:pt idx="6">
                    <c:v>Mar</c:v>
                  </c:pt>
                  <c:pt idx="7">
                    <c:v>Apr</c:v>
                  </c:pt>
                  <c:pt idx="8">
                    <c:v>May</c:v>
                  </c:pt>
                  <c:pt idx="9">
                    <c:v>Jun</c:v>
                  </c:pt>
                  <c:pt idx="10">
                    <c:v>Jul</c:v>
                  </c:pt>
                  <c:pt idx="11">
                    <c:v>Aug</c:v>
                  </c:pt>
                  <c:pt idx="12">
                    <c:v>Sep</c:v>
                  </c:pt>
                  <c:pt idx="13">
                    <c:v>Oct</c:v>
                  </c:pt>
                  <c:pt idx="14">
                    <c:v>Nov</c:v>
                  </c:pt>
                  <c:pt idx="15">
                    <c:v>Dec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435</c:v>
                </c:pt>
                <c:pt idx="4">
                  <c:v>841</c:v>
                </c:pt>
                <c:pt idx="5">
                  <c:v>1305</c:v>
                </c:pt>
                <c:pt idx="6">
                  <c:v>1653</c:v>
                </c:pt>
                <c:pt idx="7">
                  <c:v>1914</c:v>
                </c:pt>
                <c:pt idx="8">
                  <c:v>2117</c:v>
                </c:pt>
                <c:pt idx="9">
                  <c:v>2465</c:v>
                </c:pt>
                <c:pt idx="10">
                  <c:v>2871</c:v>
                </c:pt>
                <c:pt idx="11">
                  <c:v>3219</c:v>
                </c:pt>
                <c:pt idx="12">
                  <c:v>3567</c:v>
                </c:pt>
                <c:pt idx="13">
                  <c:v>3973</c:v>
                </c:pt>
                <c:pt idx="14">
                  <c:v>4263</c:v>
                </c:pt>
                <c:pt idx="15">
                  <c:v>4611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Denver</c:v>
                </c:pt>
              </c:strCache>
            </c:strRef>
          </c:tx>
          <c:spPr>
            <a:solidFill>
              <a:srgbClr val="7A9E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Sep</c:v>
                  </c:pt>
                  <c:pt idx="1">
                    <c:v>Oct</c:v>
                  </c:pt>
                  <c:pt idx="2">
                    <c:v>Nov</c:v>
                  </c:pt>
                  <c:pt idx="3">
                    <c:v>Dec</c:v>
                  </c:pt>
                  <c:pt idx="4">
                    <c:v>Jan '27</c:v>
                  </c:pt>
                  <c:pt idx="5">
                    <c:v>Feb</c:v>
                  </c:pt>
                  <c:pt idx="6">
                    <c:v>Mar</c:v>
                  </c:pt>
                  <c:pt idx="7">
                    <c:v>Apr</c:v>
                  </c:pt>
                  <c:pt idx="8">
                    <c:v>May</c:v>
                  </c:pt>
                  <c:pt idx="9">
                    <c:v>Jun</c:v>
                  </c:pt>
                  <c:pt idx="10">
                    <c:v>Jul</c:v>
                  </c:pt>
                  <c:pt idx="11">
                    <c:v>Aug</c:v>
                  </c:pt>
                  <c:pt idx="12">
                    <c:v>Sep</c:v>
                  </c:pt>
                  <c:pt idx="13">
                    <c:v>Oct</c:v>
                  </c:pt>
                  <c:pt idx="14">
                    <c:v>Nov</c:v>
                  </c:pt>
                  <c:pt idx="15">
                    <c:v>Dec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348</c:v>
                </c:pt>
                <c:pt idx="4">
                  <c:v>754</c:v>
                </c:pt>
                <c:pt idx="5">
                  <c:v>1102</c:v>
                </c:pt>
                <c:pt idx="6">
                  <c:v>1537</c:v>
                </c:pt>
                <c:pt idx="7">
                  <c:v>1827</c:v>
                </c:pt>
                <c:pt idx="8">
                  <c:v>2088</c:v>
                </c:pt>
                <c:pt idx="9">
                  <c:v>2407</c:v>
                </c:pt>
                <c:pt idx="10">
                  <c:v>2697</c:v>
                </c:pt>
                <c:pt idx="11">
                  <c:v>3045</c:v>
                </c:pt>
                <c:pt idx="12">
                  <c:v>3335</c:v>
                </c:pt>
                <c:pt idx="13">
                  <c:v>3654</c:v>
                </c:pt>
                <c:pt idx="14">
                  <c:v>4002</c:v>
                </c:pt>
                <c:pt idx="15">
                  <c:v>4321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Elsewhere (shipped goods)</c:v>
                </c:pt>
              </c:strCache>
            </c:strRef>
          </c:tx>
          <c:spPr>
            <a:solidFill>
              <a:srgbClr val="A8C4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Sep</c:v>
                  </c:pt>
                  <c:pt idx="1">
                    <c:v>Oct</c:v>
                  </c:pt>
                  <c:pt idx="2">
                    <c:v>Nov</c:v>
                  </c:pt>
                  <c:pt idx="3">
                    <c:v>Dec</c:v>
                  </c:pt>
                  <c:pt idx="4">
                    <c:v>Jan '27</c:v>
                  </c:pt>
                  <c:pt idx="5">
                    <c:v>Feb</c:v>
                  </c:pt>
                  <c:pt idx="6">
                    <c:v>Mar</c:v>
                  </c:pt>
                  <c:pt idx="7">
                    <c:v>Apr</c:v>
                  </c:pt>
                  <c:pt idx="8">
                    <c:v>May</c:v>
                  </c:pt>
                  <c:pt idx="9">
                    <c:v>Jun</c:v>
                  </c:pt>
                  <c:pt idx="10">
                    <c:v>Jul</c:v>
                  </c:pt>
                  <c:pt idx="11">
                    <c:v>Aug</c:v>
                  </c:pt>
                  <c:pt idx="12">
                    <c:v>Sep</c:v>
                  </c:pt>
                  <c:pt idx="13">
                    <c:v>Oct</c:v>
                  </c:pt>
                  <c:pt idx="14">
                    <c:v>Nov</c:v>
                  </c:pt>
                  <c:pt idx="15">
                    <c:v>Dec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116</c:v>
                </c:pt>
                <c:pt idx="4">
                  <c:v>203</c:v>
                </c:pt>
                <c:pt idx="5">
                  <c:v>261</c:v>
                </c:pt>
                <c:pt idx="6">
                  <c:v>435</c:v>
                </c:pt>
                <c:pt idx="7">
                  <c:v>580</c:v>
                </c:pt>
                <c:pt idx="8">
                  <c:v>812</c:v>
                </c:pt>
                <c:pt idx="9">
                  <c:v>928</c:v>
                </c:pt>
                <c:pt idx="10">
                  <c:v>1015</c:v>
                </c:pt>
                <c:pt idx="11">
                  <c:v>1102</c:v>
                </c:pt>
                <c:pt idx="12">
                  <c:v>1131</c:v>
                </c:pt>
                <c:pt idx="13">
                  <c:v>1218</c:v>
                </c:pt>
                <c:pt idx="14">
                  <c:v>1276</c:v>
                </c:pt>
                <c:pt idx="15">
                  <c:v>1363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3DE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34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34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CodaCo Market is a curated two-sided marketplace for everything families need around death and dying — goods, services and guidance. The product is built and live; we launch 1 November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founders' own frustration: when facing the death of someone you love, the resources you need are scattered, poorly described and hard to compare — and you are doing the research at the worst possible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sides of one marketplace: shipped goods from makers nationwide, and services matched to the searcher's zip code against each vendor's own service radius. Curation is the product — every listing is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engineering risk is largely behind us. Vendors can already sign up, be approved, publish listings and be billed. What remains before revenue-bearing transactions is the buyer checkout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a subscription, not a take rate. It removes the incentive to fight vendors over attribution, and it makes revenue legible long before transaction volume is meaningful. The upside lines — gift cards, client billing, sponsorship — are excluded from the projections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founders' conservative Year 1 numbers. Every dollar is a $29 subscription — no gift cards, no client billing, no sponsorship, and no goods transaction revenue. Zero churn is assumed, which is the model's most optimistic input; the offsetting conservatism is that upside revenue lines are excluded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[amount] with the raise before sending. Founders are operators in this space, not outsiders to it — the marketplace exists because they kept being asked for the referrals it now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194560"/>
            <a:ext cx="5943600" cy="5943600"/>
          </a:xfrm>
          <a:prstGeom prst="ellipse">
            <a:avLst/>
          </a:prstGeom>
          <a:solidFill>
            <a:srgbClr val="8B3E2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2377440"/>
            <a:ext cx="5486400" cy="5486400"/>
          </a:xfrm>
          <a:prstGeom prst="ellipse">
            <a:avLst/>
          </a:prstGeom>
          <a:solidFill>
            <a:srgbClr val="4D7255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MARKETPLACE FOR DEATH AND DYING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CodaCo</a:t>
            </a:r>
            <a:endParaRPr lang="en-US" sz="6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Death is a part of life.</a:t>
            </a:r>
            <a:endParaRPr lang="en-US" sz="2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900" i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should be easy to find.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7083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Goods, services, and plain-language guidance — brought into one welcoming place for families planning ahead or grieving a loss.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Year 1 projections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5943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4A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Launching 1 November 2026  ·  coda-co-nine.vercel.app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resources exist. Families can’t find them.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dies, the help that would make it bearable is scattered across a dozen places — and nobody goes looking until they need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304288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28600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26334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urn from one shop. A doula from a Facebook group. An estate attorney from a search result. Nothing connects, and nothing is comparable.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3602736"/>
            <a:ext cx="475488" cy="475488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5844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Poorly described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end-of-life practitioners are close to invisible online, or described in language nobody uses when they are grieving.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13232" y="4901184"/>
            <a:ext cx="475488" cy="475488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4901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488289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 at the worst possible moment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523036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do this research once, under time pressure, in the days after a death — with no way to tell who is qualified.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92440" y="2084832"/>
            <a:ext cx="3401568" cy="2286000"/>
          </a:xfrm>
          <a:prstGeom prst="roundRect">
            <a:avLst>
              <a:gd name="adj" fmla="val 4400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2860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~3M</a:t>
            </a:r>
            <a:endParaRPr lang="en-US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the United States every year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675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sends a household searching, usually for the first time.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459028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50" i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“Loss deserves to be met with care.”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52120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CodaCo Market ethos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 / NCHS annual U.S. mortality.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for everything a family needs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goods, vetted local practitioners, and gentle guidance — searchable together, by category and by where you live.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59152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Urns &amp; vessels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 jewelry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Burial shrouds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documents &amp; workbooks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Memorial items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Gifts &amp; humor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nationwide, or collected locally.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2121408"/>
            <a:ext cx="5257800" cy="2880360"/>
          </a:xfrm>
          <a:prstGeom prst="roundRect">
            <a:avLst>
              <a:gd name="adj" fmla="val 3492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2359152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359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23408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555480" y="24323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types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2907792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doulas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attorneys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 counselors &amp; spiritual support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Funeral celebrants &amp; home funeral guides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cleaning &amp; end-of-life organizers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cafés, mediators, funeral homes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56248" y="4553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zip code, matched to each provider’s service radius.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Curated, not open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052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is reviewed and approved before they appear.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5628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by radius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surface for the zip codes they actually serve.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01000" y="5230368"/>
            <a:ext cx="3429000" cy="96012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220456" y="5367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Guidance, not just listings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220456" y="5650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people who have never done this.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concept — a working marketplace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coda-co-nine.vercel.app. Four build phases shipped: the catalog, the database, accounts, and full vendor self-service.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52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self-service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build a shop or service profile, list and price. Admin approves in 1–2 business days.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62856" y="2340864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billing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and customer portal — trials, renewals, plan changes, cancellation.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39696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0456" y="2340864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0456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◎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23774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discovery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0456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Zip-centroid search against each vendor’s service radius; virtual providers surface everywhere.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52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52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356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reviews, saved items, and a curated approval queue behind every listing.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62856" y="4041648"/>
            <a:ext cx="420624" cy="420624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628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♥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932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cards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628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and shareable group-gift pools — contribute without creating an account.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3429000" cy="1481328"/>
          </a:xfrm>
          <a:prstGeom prst="roundRect">
            <a:avLst>
              <a:gd name="adj" fmla="val 6790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0456" y="4041648"/>
            <a:ext cx="420624" cy="420624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0456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750808" y="40782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&amp; editorial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220456" y="45537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for the newly bereaved, plus a curated reading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5800" y="5614416"/>
            <a:ext cx="10789920" cy="658368"/>
          </a:xfrm>
          <a:prstGeom prst="roundRect">
            <a:avLst>
              <a:gd name="adj" fmla="val 15278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14400" y="5614416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next:  </a:t>
            </a:r>
            <a:pPr indent="0" marL="0">
              <a:buNone/>
            </a:pPr>
            <a:r>
              <a:rPr lang="en-US" sz="1250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and checkout with orders and vendor notifications, then verified-purchase reviews. Gift-card sales open once a balance can be spent.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Vendors subscribe. Buyers pay nothing extra.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rate for goods makers and service providers alike — no per-sale transaction fee, so vendors keep 100% of what they earn.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86968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D7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months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no card required.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5EAE6"/>
          </a:solidFill>
          <a:ln w="9525">
            <a:solidFill>
              <a:srgbClr val="D4876F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941064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941064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941064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any time.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93992" y="2139696"/>
            <a:ext cx="2834640" cy="2084832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95160" y="233172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3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2615184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918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639312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8%.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848088" y="2139696"/>
            <a:ext cx="1627632" cy="2084832"/>
          </a:xfrm>
          <a:prstGeom prst="roundRect">
            <a:avLst>
              <a:gd name="adj" fmla="val 6180"/>
            </a:avLst>
          </a:prstGeom>
          <a:solidFill>
            <a:srgbClr val="2C2825"/>
          </a:solidFill>
          <a:ln w="9525">
            <a:solidFill>
              <a:srgbClr val="2C2825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93808" y="26060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9893808" y="32918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 on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52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3624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from day one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052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subscription, not transaction — predictable and forecastable before GMV exists.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434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62856" y="4645152"/>
            <a:ext cx="365760" cy="365760"/>
          </a:xfrm>
          <a:prstGeom prst="ellipse">
            <a:avLst/>
          </a:prstGeom>
          <a:solidFill>
            <a:srgbClr val="EAF0EB"/>
          </a:solidFill>
          <a:ln w="12700">
            <a:solidFill>
              <a:srgbClr val="A8C4A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00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to say yes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5628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quarter and $29/month is an easy decision for a solo doula or a one-person studio.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01000" y="4480560"/>
            <a:ext cx="3429000" cy="1170432"/>
          </a:xfrm>
          <a:prstGeom prst="roundRect">
            <a:avLst>
              <a:gd name="adj" fmla="val 8594"/>
            </a:avLst>
          </a:prstGeom>
          <a:solidFill>
            <a:srgbClr val="FFFFFF"/>
          </a:solidFill>
          <a:ln w="9525">
            <a:solidFill>
              <a:srgbClr val="E7E3DE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20456" y="4645152"/>
            <a:ext cx="365760" cy="365760"/>
          </a:xfrm>
          <a:prstGeom prst="ellipse">
            <a:avLst/>
          </a:prstGeom>
          <a:solidFill>
            <a:srgbClr val="F5EAE6"/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0456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677656" y="4672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on both sides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8220456" y="5074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and services share one plan, one dashboard, one billing path — no second business to run.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87044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in the model: gift cards and group-gift pools, vendor-bills-client-through-CodaCo, and sponsored placement.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16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PROJECTIONS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conservative first year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per vendor per month after a 3-month free trial. Portland first, Denver second, shipped-goods makers nationwide. No churn assumed; no other revenue line included.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12848"/>
          <a:ext cx="77724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2212848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851392" y="228600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$38,077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851392" y="26700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851392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'26 – Aug '27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86800" y="3182112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851392" y="32552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254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851392" y="363931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vendors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851392" y="38313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Year 1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686800" y="4151376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F5EAE6"/>
          </a:solidFill>
          <a:ln w="9525">
            <a:solidFill>
              <a:srgbClr val="EBD8D1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851392" y="422452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$10,295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851392" y="46085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4800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Dec '27 — ≈ $124K ARR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86800" y="5120640"/>
            <a:ext cx="2788920" cy="841248"/>
          </a:xfrm>
          <a:prstGeom prst="roundRect">
            <a:avLst>
              <a:gd name="adj" fmla="val 11957"/>
            </a:avLst>
          </a:prstGeom>
          <a:solidFill>
            <a:srgbClr val="EAF0EB"/>
          </a:solidFill>
          <a:ln w="9525">
            <a:solidFill>
              <a:srgbClr val="D8E3D9"/>
            </a:solidFill>
            <a:prstDash val="solid"/>
          </a:ln>
          <a:effectLst>
            <a:outerShdw sx="100000" sy="100000" kx="0" ky="0" algn="bl" rotWithShape="0" blurRad="101600" dist="25400" dir="5400000">
              <a:srgbClr val="2C2825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851392" y="51937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7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$74,791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55778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5769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Dec '27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assumes launch 1 November 2026; a vendor’s first payment falls three months after signup, at the end of the free trial.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206240" y="-2194560"/>
            <a:ext cx="5943600" cy="5943600"/>
          </a:xfrm>
          <a:prstGeom prst="ellipse">
            <a:avLst/>
          </a:prstGeom>
          <a:solidFill>
            <a:srgbClr val="8B3E2D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120640" y="2377440"/>
            <a:ext cx="5486400" cy="5486400"/>
          </a:xfrm>
          <a:prstGeom prst="ellipse">
            <a:avLst/>
          </a:prstGeom>
          <a:solidFill>
            <a:srgbClr val="4D7255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5953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people who have done this work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Juliana Bernstein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Geriatric physician associate turned entrepreneur. Sixteen years in geriatric and palliative medicine, then founded Oregon’s first event company dedicated to living funerals and celebrations of life. Brown University; OHSU.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4D7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65376"/>
            <a:ext cx="585216" cy="585216"/>
          </a:xfrm>
          <a:prstGeom prst="ellipse">
            <a:avLst/>
          </a:prstGeom>
          <a:solidFill>
            <a:srgbClr val="7A9E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811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811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Naomi Levy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5811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C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Seventeen years in product and project management of economic forecasts, then founded a home-organizing practice helping people manage their lives and belongings. Economics, New York University.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1664208"/>
            <a:ext cx="3429000" cy="2761488"/>
          </a:xfrm>
          <a:prstGeom prst="roundRect">
            <a:avLst>
              <a:gd name="adj" fmla="val 3642"/>
            </a:avLst>
          </a:prstGeom>
          <a:solidFill>
            <a:srgbClr val="FAF9F7">
              <a:alpha val="8000"/>
            </a:srgbClr>
          </a:solidFill>
          <a:ln w="12700">
            <a:solidFill>
              <a:srgbClr val="8B3E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38744" y="1865376"/>
            <a:ext cx="585216" cy="585216"/>
          </a:xfrm>
          <a:prstGeom prst="ellipse">
            <a:avLst/>
          </a:prstGeom>
          <a:solidFill>
            <a:srgbClr val="C16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38744" y="18653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2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56032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Alison Shmerling, MD, MPH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28803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38744" y="3145536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in underserved care settings, building programs at the intersection of underserved care and healthcare technology. Northwestern University; Tufts University School of Medicine.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4700016"/>
            <a:ext cx="10789920" cy="1280160"/>
          </a:xfrm>
          <a:prstGeom prst="roundRect">
            <a:avLst>
              <a:gd name="adj" fmla="val 7857"/>
            </a:avLst>
          </a:prstGeom>
          <a:solidFill>
            <a:srgbClr val="8B3E2D">
              <a:alpha val="38000"/>
            </a:srgbClr>
          </a:solidFill>
          <a:ln w="12700">
            <a:solidFill>
              <a:srgbClr val="D487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4864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15721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FAF9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raising [amount] to fund vendor recruitment in Portland and Denver through launch and the first twelve months.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0" y="51389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hello@codaco.market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F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coda-co-nine.vercel.app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CodaCo Market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CodaCo — Investor Overview</dc:title>
  <dc:subject>PptxGenJS Presentation</dc:subject>
  <dc:creator>CodaCo Market</dc:creator>
  <cp:lastModifiedBy>CodaCo Market</cp:lastModifiedBy>
  <cp:revision>1</cp:revision>
  <dcterms:created xsi:type="dcterms:W3CDTF">2026-08-28T15:29:38Z</dcterms:created>
  <dcterms:modified xsi:type="dcterms:W3CDTF">2026-08-28T15:29:38Z</dcterms:modified>
</cp:coreProperties>
</file>