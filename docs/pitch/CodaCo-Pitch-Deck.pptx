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C2825"/>
                </a:solidFill>
                <a:latin typeface="Calibri"/>
              </a:defRPr>
            </a:pPr>
            <a:r>
              <a:rPr sz="1300" b="0" i="0" u="none" strike="noStrike">
                <a:solidFill>
                  <a:srgbClr val="2C2825"/>
                </a:solidFill>
                <a:latin typeface="Calibri"/>
              </a:rPr>
              <a:t>Monthly subscription revenue by market</a:t>
            </a:r>
          </a:p>
        </c:rich>
      </c:tx>
      <c:layout/>
      <c:overlay val="0"/>
    </c:title>
    <c:autoTitleDeleted val="0"/>
    <c:plotArea>
      <c:layout/>
      <c:barChart>
        <c:barDir val="col"/>
        <c:grouping val="stacked"/>
        <c:varyColors val="0"/>
        <c:ser>
          <c:idx val="0"/>
          <c:order val="0"/>
          <c:tx>
            <c:strRef>
              <c:f>Sheet1!$B$1</c:f>
              <c:strCache>
                <c:ptCount val="1"/>
                <c:pt idx="0">
                  <c:v>Portland</c:v>
                </c:pt>
              </c:strCache>
            </c:strRef>
          </c:tx>
          <c:spPr>
            <a:solidFill>
              <a:srgbClr val="C1634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Sheet1!$B$2:$B$13</c:f>
              <c:numCache>
                <c:formatCode>General</c:formatCode>
                <c:ptCount val="12"/>
                <c:pt idx="0">
                  <c:v>0</c:v>
                </c:pt>
                <c:pt idx="1">
                  <c:v>870</c:v>
                </c:pt>
                <c:pt idx="2">
                  <c:v>1363</c:v>
                </c:pt>
                <c:pt idx="3">
                  <c:v>1885</c:v>
                </c:pt>
                <c:pt idx="4">
                  <c:v>2407</c:v>
                </c:pt>
                <c:pt idx="5">
                  <c:v>2813</c:v>
                </c:pt>
                <c:pt idx="6">
                  <c:v>3219</c:v>
                </c:pt>
                <c:pt idx="7">
                  <c:v>3625</c:v>
                </c:pt>
                <c:pt idx="8">
                  <c:v>4031</c:v>
                </c:pt>
                <c:pt idx="9">
                  <c:v>4321</c:v>
                </c:pt>
                <c:pt idx="10">
                  <c:v>4640</c:v>
                </c:pt>
                <c:pt idx="11">
                  <c:v>4959</c:v>
                </c:pt>
              </c:numCache>
            </c:numRef>
          </c:val>
        </c:ser>
        <c:ser>
          <c:idx val="1"/>
          <c:order val="1"/>
          <c:tx>
            <c:strRef>
              <c:f>Sheet1!$C$1</c:f>
              <c:strCache>
                <c:ptCount val="1"/>
                <c:pt idx="0">
                  <c:v>Denver</c:v>
                </c:pt>
              </c:strCache>
            </c:strRef>
          </c:tx>
          <c:spPr>
            <a:solidFill>
              <a:srgbClr val="7A9E8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Sheet1!$C$2:$C$13</c:f>
              <c:numCache>
                <c:formatCode>General</c:formatCode>
                <c:ptCount val="12"/>
                <c:pt idx="0">
                  <c:v>0</c:v>
                </c:pt>
                <c:pt idx="1">
                  <c:v>754</c:v>
                </c:pt>
                <c:pt idx="2">
                  <c:v>1363</c:v>
                </c:pt>
                <c:pt idx="3">
                  <c:v>2001</c:v>
                </c:pt>
                <c:pt idx="4">
                  <c:v>2639</c:v>
                </c:pt>
                <c:pt idx="5">
                  <c:v>3161</c:v>
                </c:pt>
                <c:pt idx="6">
                  <c:v>3683</c:v>
                </c:pt>
                <c:pt idx="7">
                  <c:v>4205</c:v>
                </c:pt>
                <c:pt idx="8">
                  <c:v>4437</c:v>
                </c:pt>
                <c:pt idx="9">
                  <c:v>4698</c:v>
                </c:pt>
                <c:pt idx="10">
                  <c:v>4959</c:v>
                </c:pt>
                <c:pt idx="11">
                  <c:v>5220</c:v>
                </c:pt>
              </c:numCache>
            </c:numRef>
          </c:val>
        </c:ser>
        <c:ser>
          <c:idx val="2"/>
          <c:order val="2"/>
          <c:tx>
            <c:strRef>
              <c:f>Sheet1!$D$1</c:f>
              <c:strCache>
                <c:ptCount val="1"/>
                <c:pt idx="0">
                  <c:v>Seattle</c:v>
                </c:pt>
              </c:strCache>
            </c:strRef>
          </c:tx>
          <c:spPr>
            <a:solidFill>
              <a:srgbClr val="D4876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Sheet1!$D$2:$D$13</c:f>
              <c:numCache>
                <c:formatCode>General</c:formatCode>
                <c:ptCount val="12"/>
                <c:pt idx="0">
                  <c:v>0</c:v>
                </c:pt>
                <c:pt idx="1">
                  <c:v>0</c:v>
                </c:pt>
                <c:pt idx="2">
                  <c:v>0</c:v>
                </c:pt>
                <c:pt idx="3">
                  <c:v>0</c:v>
                </c:pt>
                <c:pt idx="4">
                  <c:v>0</c:v>
                </c:pt>
                <c:pt idx="5">
                  <c:v>0</c:v>
                </c:pt>
                <c:pt idx="6">
                  <c:v>522</c:v>
                </c:pt>
                <c:pt idx="7">
                  <c:v>1363</c:v>
                </c:pt>
                <c:pt idx="8">
                  <c:v>2233</c:v>
                </c:pt>
                <c:pt idx="9">
                  <c:v>638</c:v>
                </c:pt>
                <c:pt idx="10">
                  <c:v>638</c:v>
                </c:pt>
                <c:pt idx="11">
                  <c:v>522</c:v>
                </c:pt>
              </c:numCache>
            </c:numRef>
          </c:val>
        </c:ser>
        <c:ser>
          <c:idx val="3"/>
          <c:order val="3"/>
          <c:tx>
            <c:strRef>
              <c:f>Sheet1!$E$1</c:f>
              <c:strCache>
                <c:ptCount val="1"/>
                <c:pt idx="0">
                  <c:v>Los Angeles</c:v>
                </c:pt>
              </c:strCache>
            </c:strRef>
          </c:tx>
          <c:spPr>
            <a:solidFill>
              <a:srgbClr val="4D725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0</c:v>
                </c:pt>
                <c:pt idx="9">
                  <c:v>928</c:v>
                </c:pt>
                <c:pt idx="10">
                  <c:v>1856</c:v>
                </c:pt>
                <c:pt idx="11">
                  <c:v>2784</c:v>
                </c:pt>
              </c:numCache>
            </c:numRef>
          </c:val>
        </c:ser>
        <c:ser>
          <c:idx val="4"/>
          <c:order val="4"/>
          <c:tx>
            <c:strRef>
              <c:f>Sheet1!$F$1</c:f>
              <c:strCache>
                <c:ptCount val="1"/>
                <c:pt idx="0">
                  <c:v>Shipped goods</c:v>
                </c:pt>
              </c:strCache>
            </c:strRef>
          </c:tx>
          <c:spPr>
            <a:solidFill>
              <a:srgbClr val="A8C4A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Sheet1!$F$2:$F$13</c:f>
              <c:numCache>
                <c:formatCode>General</c:formatCode>
                <c:ptCount val="12"/>
                <c:pt idx="0">
                  <c:v>0</c:v>
                </c:pt>
                <c:pt idx="1">
                  <c:v>348</c:v>
                </c:pt>
                <c:pt idx="2">
                  <c:v>667</c:v>
                </c:pt>
                <c:pt idx="3">
                  <c:v>986</c:v>
                </c:pt>
                <c:pt idx="4">
                  <c:v>1247</c:v>
                </c:pt>
                <c:pt idx="5">
                  <c:v>1508</c:v>
                </c:pt>
                <c:pt idx="6">
                  <c:v>1769</c:v>
                </c:pt>
                <c:pt idx="7">
                  <c:v>2030</c:v>
                </c:pt>
                <c:pt idx="8">
                  <c:v>2291</c:v>
                </c:pt>
                <c:pt idx="9">
                  <c:v>2552</c:v>
                </c:pt>
                <c:pt idx="10">
                  <c:v>2755</c:v>
                </c:pt>
                <c:pt idx="11">
                  <c:v>2958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A534C"/>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3DE"/>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5A534C"/>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A534C"/>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C2825"/>
                </a:solidFill>
                <a:latin typeface="Calibri"/>
              </a:defRPr>
            </a:pPr>
            <a:r>
              <a:rPr sz="1300" b="0" i="0" u="none" strike="noStrike">
                <a:solidFill>
                  <a:srgbClr val="2C2825"/>
                </a:solidFill>
                <a:latin typeface="Calibri"/>
              </a:rPr>
              <a:t>Annual subscription revenue</a:t>
            </a:r>
          </a:p>
        </c:rich>
      </c:tx>
      <c:layout/>
      <c:overlay val="0"/>
    </c:title>
    <c:autoTitleDeleted val="0"/>
    <c:plotArea>
      <c:layout/>
      <c:barChart>
        <c:barDir val="col"/>
        <c:grouping val="clustered"/>
        <c:varyColors val="0"/>
        <c:ser>
          <c:idx val="0"/>
          <c:order val="0"/>
          <c:tx>
            <c:strRef>
              <c:f>Sheet1!$B$1</c:f>
              <c:strCache>
                <c:ptCount val="1"/>
                <c:pt idx="0">
                  <c:v>Annual revenue</c:v>
                </c:pt>
              </c:strCache>
            </c:strRef>
          </c:tx>
          <c:spPr>
            <a:solidFill>
              <a:srgbClr val="C1634F"/>
            </a:solidFill>
            <a:effectLst/>
          </c:spPr>
          <c:invertIfNegative val="0"/>
          <c:dLbls>
            <c:numFmt formatCode="&quot;$&quot;#,##0" sourceLinked="0"/>
            <c:txPr>
              <a:bodyPr/>
              <a:lstStyle/>
              <a:p>
                <a:pPr>
                  <a:defRPr b="1" i="0" strike="noStrike" sz="1200" u="none">
                    <a:solidFill>
                      <a:srgbClr val="2C2825"/>
                    </a:solidFill>
                    <a:latin typeface="Calibri"/>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101848</c:v>
                </c:pt>
                <c:pt idx="1">
                  <c:v>369837</c:v>
                </c:pt>
                <c:pt idx="2">
                  <c:v>953420</c:v>
                </c:pt>
              </c:numCache>
            </c:numRef>
          </c:val>
        </c:ser>
        <c:dLbls>
          <c:numFmt formatCode="&quot;$&quot;#,##0" sourceLinked="0"/>
          <c:txPr>
            <a:bodyPr/>
            <a:lstStyle/>
            <a:p>
              <a:pPr>
                <a:defRPr b="1" i="0" strike="noStrike" sz="1200" u="none">
                  <a:solidFill>
                    <a:srgbClr val="2C2825"/>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A534C"/>
                </a:solidFill>
                <a:latin typeface="Calibri"/>
              </a:defRPr>
            </a:pPr>
            <a:endParaRPr lang="en-US"/>
          </a:p>
        </c:txPr>
        <c:crossAx val="2094734552"/>
        <c:crosses val="autoZero"/>
        <c:auto val="1"/>
        <c:lblAlgn val="ctr"/>
        <c:noMultiLvlLbl val="1"/>
      </c:catAx>
      <c:valAx>
        <c:axId val="2094734552"/>
        <c:scaling>
          <c:orientation val="minMax"/>
          <c:max val="1000000"/>
          <c:min val="0"/>
        </c:scaling>
        <c:delete val="0"/>
        <c:axPos val="l"/>
        <c:majorGridlines>
          <c:spPr>
            <a:ln w="9525" cap="flat">
              <a:solidFill>
                <a:srgbClr val="E7E3DE"/>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5A534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CodaCo Market is a curated two-sided marketplace for everything families need around death and dying — goods, services and guidance. The product is built and live; we launch 1 November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founders' own frustration: when facing the death of someone you love, the resources you need are scattered, poorly described and hard to compare — and you are doing the research at the worst possible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sides of one marketplace: shipped goods from makers nationwide, and services matched to the searcher's zip code against each vendor's own service radius. Curation is the product — every listing is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engineering risk is largely behind us. Vendors can already sign up, be approved, publish listings and be billed. What remains before revenue-bearing transactions is the buyer checkout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a subscription, not a take rate. It removes the incentive to fight vendors over attribution, and it makes revenue legible long before transaction volume is meaningful. The upside lines — gift cards, client billing, sponsorship — are excluded from the projections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dollar here is a $29 subscription — no goods transaction revenue, no gift cards, no client billing, no sponsorship. Portland and Denver carry the first six months; Seattle and Los Angeles arriving mid-year is what compounds into Year 2. New York opens just after this window, in December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Three-year revenue totals $1.43M, exiting December 2029 at $92,781 a month — roughly $1.11M of annual run rate. The penetration assumption is the conservative part: New York is modelled at one vendor per 42,017 residents against one per 6,281 in Portland, so the largest metros are barely touched. All three annual figures tie exactly to the spreadsheet's own monthly revenue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[amount] with the raise before sending. Founders are operators in this space, not outsiders to it — the marketplace exists because they kept being asked for the referrals it now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2825"/>
        </a:solidFill>
      </p:bgPr>
    </p:bg>
    <p:spTree>
      <p:nvGrpSpPr>
        <p:cNvPr id="1" name=""/>
        <p:cNvGrpSpPr/>
        <p:nvPr/>
      </p:nvGrpSpPr>
      <p:grpSpPr>
        <a:xfrm>
          <a:off x="0" y="0"/>
          <a:ext cx="0" cy="0"/>
          <a:chOff x="0" y="0"/>
          <a:chExt cx="0" cy="0"/>
        </a:xfrm>
      </p:grpSpPr>
      <p:sp>
        <p:nvSpPr>
          <p:cNvPr id="2" name="Shape 0"/>
          <p:cNvSpPr/>
          <p:nvPr/>
        </p:nvSpPr>
        <p:spPr>
          <a:xfrm>
            <a:off x="9052560" y="-2194560"/>
            <a:ext cx="5943600" cy="5943600"/>
          </a:xfrm>
          <a:prstGeom prst="ellipse">
            <a:avLst/>
          </a:prstGeom>
          <a:solidFill>
            <a:srgbClr val="8B3E2D">
              <a:alpha val="22000"/>
            </a:srgbClr>
          </a:solidFill>
          <a:ln/>
        </p:spPr>
      </p:sp>
      <p:sp>
        <p:nvSpPr>
          <p:cNvPr id="3" name="Shape 1"/>
          <p:cNvSpPr/>
          <p:nvPr/>
        </p:nvSpPr>
        <p:spPr>
          <a:xfrm>
            <a:off x="10424160" y="2377440"/>
            <a:ext cx="5486400" cy="5486400"/>
          </a:xfrm>
          <a:prstGeom prst="ellipse">
            <a:avLst/>
          </a:prstGeom>
          <a:solidFill>
            <a:srgbClr val="4D7255">
              <a:alpha val="18000"/>
            </a:srgbClr>
          </a:solidFill>
          <a:ln/>
        </p:spPr>
      </p:sp>
      <p:sp>
        <p:nvSpPr>
          <p:cNvPr id="4" name="Text 2"/>
          <p:cNvSpPr txBox="1"/>
          <p:nvPr/>
        </p:nvSpPr>
        <p:spPr>
          <a:xfrm>
            <a:off x="777240" y="1417320"/>
            <a:ext cx="7772400" cy="256032"/>
          </a:xfrm>
          <a:prstGeom prst="rect">
            <a:avLst/>
          </a:prstGeom>
          <a:noFill/>
          <a:ln/>
        </p:spPr>
        <p:txBody>
          <a:bodyPr wrap="square" lIns="0" tIns="0" rIns="0" bIns="0" rtlCol="0" anchor="ctr"/>
          <a:lstStyle/>
          <a:p>
            <a:pPr indent="0" marL="0">
              <a:buNone/>
            </a:pPr>
            <a:r>
              <a:rPr lang="en-US" sz="1100" b="1" spc="220" kern="0" dirty="0">
                <a:solidFill>
                  <a:srgbClr val="D4876F"/>
                </a:solidFill>
                <a:latin typeface="Calibri" pitchFamily="34" charset="0"/>
                <a:ea typeface="Calibri" pitchFamily="34" charset="-122"/>
                <a:cs typeface="Calibri" pitchFamily="34" charset="-120"/>
              </a:rPr>
              <a:t>A CURATED MARKETPLACE FOR DEATH AND DYING</a:t>
            </a:r>
            <a:endParaRPr lang="en-US" sz="1100" dirty="0"/>
          </a:p>
        </p:txBody>
      </p:sp>
      <p:sp>
        <p:nvSpPr>
          <p:cNvPr id="5" name="Text 3"/>
          <p:cNvSpPr txBox="1"/>
          <p:nvPr/>
        </p:nvSpPr>
        <p:spPr>
          <a:xfrm>
            <a:off x="731520" y="1783080"/>
            <a:ext cx="7315200" cy="1097280"/>
          </a:xfrm>
          <a:prstGeom prst="rect">
            <a:avLst/>
          </a:prstGeom>
          <a:noFill/>
          <a:ln/>
        </p:spPr>
        <p:txBody>
          <a:bodyPr wrap="square" lIns="0" tIns="0" rIns="0" bIns="0" rtlCol="0" anchor="ctr"/>
          <a:lstStyle/>
          <a:p>
            <a:pPr indent="0" marL="0">
              <a:buNone/>
            </a:pPr>
            <a:r>
              <a:rPr lang="en-US" sz="6800" dirty="0">
                <a:solidFill>
                  <a:srgbClr val="FAF9F7"/>
                </a:solidFill>
                <a:latin typeface="Cambria" pitchFamily="34" charset="0"/>
                <a:ea typeface="Cambria" pitchFamily="34" charset="-122"/>
                <a:cs typeface="Cambria" pitchFamily="34" charset="-120"/>
              </a:rPr>
              <a:t>CodaCo</a:t>
            </a:r>
            <a:endParaRPr lang="en-US" sz="6800" dirty="0"/>
          </a:p>
        </p:txBody>
      </p:sp>
      <p:sp>
        <p:nvSpPr>
          <p:cNvPr id="6" name="Text 4"/>
          <p:cNvSpPr txBox="1"/>
          <p:nvPr/>
        </p:nvSpPr>
        <p:spPr>
          <a:xfrm>
            <a:off x="731520" y="3063240"/>
            <a:ext cx="7680960" cy="1188720"/>
          </a:xfrm>
          <a:prstGeom prst="rect">
            <a:avLst/>
          </a:prstGeom>
          <a:noFill/>
          <a:ln/>
        </p:spPr>
        <p:txBody>
          <a:bodyPr wrap="square" lIns="0" tIns="0" rIns="0" bIns="0" rtlCol="0" anchor="ctr"/>
          <a:lstStyle/>
          <a:p>
            <a:pPr indent="0" marL="0">
              <a:lnSpc>
                <a:spcPts val="4000"/>
              </a:lnSpc>
              <a:buNone/>
            </a:pPr>
            <a:r>
              <a:rPr lang="en-US" sz="2900" i="1" dirty="0">
                <a:solidFill>
                  <a:srgbClr val="FAF9F7"/>
                </a:solidFill>
                <a:latin typeface="Cambria" pitchFamily="34" charset="0"/>
                <a:ea typeface="Cambria" pitchFamily="34" charset="-122"/>
                <a:cs typeface="Cambria" pitchFamily="34" charset="-120"/>
              </a:rPr>
              <a:t>Death is a part of life.</a:t>
            </a:r>
            <a:endParaRPr lang="en-US" sz="2900" dirty="0"/>
          </a:p>
          <a:p>
            <a:pPr indent="0" marL="0">
              <a:lnSpc>
                <a:spcPts val="4000"/>
              </a:lnSpc>
              <a:buNone/>
            </a:pPr>
            <a:r>
              <a:rPr lang="en-US" sz="2900" i="1" dirty="0">
                <a:solidFill>
                  <a:srgbClr val="D4876F"/>
                </a:solidFill>
                <a:latin typeface="Cambria" pitchFamily="34" charset="0"/>
                <a:ea typeface="Cambria" pitchFamily="34" charset="-122"/>
                <a:cs typeface="Cambria" pitchFamily="34" charset="-120"/>
              </a:rPr>
              <a:t>Support should be easy to find.</a:t>
            </a:r>
            <a:endParaRPr lang="en-US" sz="2900" dirty="0"/>
          </a:p>
        </p:txBody>
      </p:sp>
      <p:sp>
        <p:nvSpPr>
          <p:cNvPr id="7" name="Text 5"/>
          <p:cNvSpPr txBox="1"/>
          <p:nvPr/>
        </p:nvSpPr>
        <p:spPr>
          <a:xfrm>
            <a:off x="731520" y="4370832"/>
            <a:ext cx="6766560" cy="822960"/>
          </a:xfrm>
          <a:prstGeom prst="rect">
            <a:avLst/>
          </a:prstGeom>
          <a:noFill/>
          <a:ln/>
        </p:spPr>
        <p:txBody>
          <a:bodyPr wrap="square" lIns="0" tIns="0" rIns="0" bIns="0" rtlCol="0" anchor="ctr"/>
          <a:lstStyle/>
          <a:p>
            <a:pPr indent="0" marL="0">
              <a:lnSpc>
                <a:spcPts val="2200"/>
              </a:lnSpc>
              <a:buNone/>
            </a:pPr>
            <a:r>
              <a:rPr lang="en-US" sz="1450" dirty="0">
                <a:solidFill>
                  <a:srgbClr val="EFEBE5"/>
                </a:solidFill>
                <a:latin typeface="Calibri" pitchFamily="34" charset="0"/>
                <a:ea typeface="Calibri" pitchFamily="34" charset="-122"/>
                <a:cs typeface="Calibri" pitchFamily="34" charset="-120"/>
              </a:rPr>
              <a:t>Goods, services, and plain-language guidance — brought into one welcoming place for families planning ahead or grieving a loss.</a:t>
            </a:r>
            <a:endParaRPr lang="en-US" sz="1450" dirty="0"/>
          </a:p>
        </p:txBody>
      </p:sp>
      <p:sp>
        <p:nvSpPr>
          <p:cNvPr id="8" name="Text 6"/>
          <p:cNvSpPr txBox="1"/>
          <p:nvPr/>
        </p:nvSpPr>
        <p:spPr>
          <a:xfrm>
            <a:off x="731520" y="5943600"/>
            <a:ext cx="5486400" cy="274320"/>
          </a:xfrm>
          <a:prstGeom prst="rect">
            <a:avLst/>
          </a:prstGeom>
          <a:noFill/>
          <a:ln/>
        </p:spPr>
        <p:txBody>
          <a:bodyPr wrap="square" lIns="0" tIns="0" rIns="0" bIns="0" rtlCol="0" anchor="ctr"/>
          <a:lstStyle/>
          <a:p>
            <a:pPr indent="0" marL="0">
              <a:buNone/>
            </a:pPr>
            <a:r>
              <a:rPr lang="en-US" sz="1150" dirty="0">
                <a:solidFill>
                  <a:srgbClr val="B4ACA3"/>
                </a:solidFill>
                <a:latin typeface="Calibri" pitchFamily="34" charset="0"/>
                <a:ea typeface="Calibri" pitchFamily="34" charset="-122"/>
                <a:cs typeface="Calibri" pitchFamily="34" charset="-120"/>
              </a:rPr>
              <a:t>Investor overview  ·  Three-year projections</a:t>
            </a:r>
            <a:endParaRPr lang="en-US" sz="1150" dirty="0"/>
          </a:p>
        </p:txBody>
      </p:sp>
      <p:sp>
        <p:nvSpPr>
          <p:cNvPr id="9" name="Text 7"/>
          <p:cNvSpPr txBox="1"/>
          <p:nvPr/>
        </p:nvSpPr>
        <p:spPr>
          <a:xfrm>
            <a:off x="5760720" y="5943600"/>
            <a:ext cx="5669280" cy="274320"/>
          </a:xfrm>
          <a:prstGeom prst="rect">
            <a:avLst/>
          </a:prstGeom>
          <a:noFill/>
          <a:ln/>
        </p:spPr>
        <p:txBody>
          <a:bodyPr wrap="square" lIns="0" tIns="0" rIns="0" bIns="0" rtlCol="0" anchor="ctr"/>
          <a:lstStyle/>
          <a:p>
            <a:pPr algn="r" indent="0" marL="0">
              <a:buNone/>
            </a:pPr>
            <a:r>
              <a:rPr lang="en-US" sz="1150" dirty="0">
                <a:solidFill>
                  <a:srgbClr val="B4ACA3"/>
                </a:solidFill>
                <a:latin typeface="Calibri" pitchFamily="34" charset="0"/>
                <a:ea typeface="Calibri" pitchFamily="34" charset="-122"/>
                <a:cs typeface="Calibri" pitchFamily="34" charset="-120"/>
              </a:rPr>
              <a:t>Launching 1 November 2026  ·  coda-co-nine.vercel.app</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C1634F"/>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The resources exist. Families can’t find them.</a:t>
            </a:r>
            <a:endParaRPr lang="en-US" sz="3600" dirty="0"/>
          </a:p>
        </p:txBody>
      </p:sp>
      <p:sp>
        <p:nvSpPr>
          <p:cNvPr id="4" name="Text 2"/>
          <p:cNvSpPr txBox="1"/>
          <p:nvPr/>
        </p:nvSpPr>
        <p:spPr>
          <a:xfrm>
            <a:off x="685800" y="1481328"/>
            <a:ext cx="7315200" cy="384048"/>
          </a:xfrm>
          <a:prstGeom prst="rect">
            <a:avLst/>
          </a:prstGeom>
          <a:noFill/>
          <a:ln/>
        </p:spPr>
        <p:txBody>
          <a:bodyPr wrap="square" lIns="0" tIns="0" rIns="0" bIns="0" rtlCol="0" anchor="ctr"/>
          <a:lstStyle/>
          <a:p>
            <a:pPr indent="0" marL="0">
              <a:lnSpc>
                <a:spcPts val="2000"/>
              </a:lnSpc>
              <a:buNone/>
            </a:pPr>
            <a:r>
              <a:rPr lang="en-US" sz="1450" dirty="0">
                <a:solidFill>
                  <a:srgbClr val="5A534C"/>
                </a:solidFill>
                <a:latin typeface="Calibri" pitchFamily="34" charset="0"/>
                <a:ea typeface="Calibri" pitchFamily="34" charset="-122"/>
                <a:cs typeface="Calibri" pitchFamily="34" charset="-120"/>
              </a:rPr>
              <a:t>When someone dies, the help that would make it bearable is scattered across a dozen places — and nobody goes looking until they need it.</a:t>
            </a:r>
            <a:endParaRPr lang="en-US" sz="1450" dirty="0"/>
          </a:p>
        </p:txBody>
      </p:sp>
      <p:sp>
        <p:nvSpPr>
          <p:cNvPr id="5" name="Shape 3"/>
          <p:cNvSpPr/>
          <p:nvPr/>
        </p:nvSpPr>
        <p:spPr>
          <a:xfrm>
            <a:off x="713232" y="2304288"/>
            <a:ext cx="475488" cy="475488"/>
          </a:xfrm>
          <a:prstGeom prst="ellipse">
            <a:avLst/>
          </a:prstGeom>
          <a:solidFill>
            <a:srgbClr val="F5EAE6"/>
          </a:solidFill>
          <a:ln w="12700">
            <a:solidFill>
              <a:srgbClr val="D4876F"/>
            </a:solidFill>
            <a:prstDash val="solid"/>
          </a:ln>
        </p:spPr>
      </p:sp>
      <p:sp>
        <p:nvSpPr>
          <p:cNvPr id="6" name="Text 4"/>
          <p:cNvSpPr txBox="1"/>
          <p:nvPr/>
        </p:nvSpPr>
        <p:spPr>
          <a:xfrm>
            <a:off x="713232" y="2304288"/>
            <a:ext cx="475488" cy="475488"/>
          </a:xfrm>
          <a:prstGeom prst="rect">
            <a:avLst/>
          </a:prstGeom>
          <a:noFill/>
          <a:ln/>
        </p:spPr>
        <p:txBody>
          <a:bodyPr wrap="square" lIns="0" tIns="0" rIns="0" bIns="0" rtlCol="0" anchor="ctr"/>
          <a:lstStyle/>
          <a:p>
            <a:pPr algn="ctr" indent="0" marL="0">
              <a:buNone/>
            </a:pPr>
            <a:r>
              <a:rPr lang="en-US" sz="1500" b="1" dirty="0">
                <a:solidFill>
                  <a:srgbClr val="8B3E2D"/>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389888" y="2286000"/>
            <a:ext cx="6035040" cy="310896"/>
          </a:xfrm>
          <a:prstGeom prst="rect">
            <a:avLst/>
          </a:prstGeom>
          <a:noFill/>
          <a:ln/>
        </p:spPr>
        <p:txBody>
          <a:bodyPr wrap="square" lIns="0" tIns="0" rIns="0" bIns="0" rtlCol="0" anchor="ctr"/>
          <a:lstStyle/>
          <a:p>
            <a:pPr indent="0" marL="0">
              <a:buNone/>
            </a:pPr>
            <a:r>
              <a:rPr lang="en-US" sz="1600" b="1" dirty="0">
                <a:solidFill>
                  <a:srgbClr val="2C2825"/>
                </a:solidFill>
                <a:latin typeface="Calibri" pitchFamily="34" charset="0"/>
                <a:ea typeface="Calibri" pitchFamily="34" charset="-122"/>
                <a:cs typeface="Calibri" pitchFamily="34" charset="-120"/>
              </a:rPr>
              <a:t>Scattered</a:t>
            </a:r>
            <a:endParaRPr lang="en-US" sz="1600" dirty="0"/>
          </a:p>
        </p:txBody>
      </p:sp>
      <p:sp>
        <p:nvSpPr>
          <p:cNvPr id="8" name="Text 6"/>
          <p:cNvSpPr txBox="1"/>
          <p:nvPr/>
        </p:nvSpPr>
        <p:spPr>
          <a:xfrm>
            <a:off x="1389888" y="2633472"/>
            <a:ext cx="6035040" cy="731520"/>
          </a:xfrm>
          <a:prstGeom prst="rect">
            <a:avLst/>
          </a:prstGeom>
          <a:noFill/>
          <a:ln/>
        </p:spPr>
        <p:txBody>
          <a:bodyPr wrap="square" lIns="0" tIns="0" rIns="0" bIns="0" rtlCol="0" anchor="ctr"/>
          <a:lstStyle/>
          <a:p>
            <a:pPr indent="0" marL="0">
              <a:lnSpc>
                <a:spcPts val="1900"/>
              </a:lnSpc>
              <a:buNone/>
            </a:pPr>
            <a:r>
              <a:rPr lang="en-US" sz="1350" dirty="0">
                <a:solidFill>
                  <a:srgbClr val="5A534C"/>
                </a:solidFill>
                <a:latin typeface="Calibri" pitchFamily="34" charset="0"/>
                <a:ea typeface="Calibri" pitchFamily="34" charset="-122"/>
                <a:cs typeface="Calibri" pitchFamily="34" charset="-120"/>
              </a:rPr>
              <a:t>An urn from one shop. A doula from a Facebook group. An estate attorney from a search result. Nothing connects, and nothing is comparable.</a:t>
            </a:r>
            <a:endParaRPr lang="en-US" sz="1350" dirty="0"/>
          </a:p>
        </p:txBody>
      </p:sp>
      <p:sp>
        <p:nvSpPr>
          <p:cNvPr id="9" name="Shape 7"/>
          <p:cNvSpPr/>
          <p:nvPr/>
        </p:nvSpPr>
        <p:spPr>
          <a:xfrm>
            <a:off x="713232" y="3602736"/>
            <a:ext cx="475488" cy="475488"/>
          </a:xfrm>
          <a:prstGeom prst="ellipse">
            <a:avLst/>
          </a:prstGeom>
          <a:solidFill>
            <a:srgbClr val="EAF0EB"/>
          </a:solidFill>
          <a:ln w="12700">
            <a:solidFill>
              <a:srgbClr val="A8C4AC"/>
            </a:solidFill>
            <a:prstDash val="solid"/>
          </a:ln>
        </p:spPr>
      </p:sp>
      <p:sp>
        <p:nvSpPr>
          <p:cNvPr id="10" name="Text 8"/>
          <p:cNvSpPr txBox="1"/>
          <p:nvPr/>
        </p:nvSpPr>
        <p:spPr>
          <a:xfrm>
            <a:off x="713232" y="3602736"/>
            <a:ext cx="475488" cy="475488"/>
          </a:xfrm>
          <a:prstGeom prst="rect">
            <a:avLst/>
          </a:prstGeom>
          <a:noFill/>
          <a:ln/>
        </p:spPr>
        <p:txBody>
          <a:bodyPr wrap="square" lIns="0" tIns="0" rIns="0" bIns="0" rtlCol="0" anchor="ctr"/>
          <a:lstStyle/>
          <a:p>
            <a:pPr algn="ctr" indent="0" marL="0">
              <a:buNone/>
            </a:pPr>
            <a:r>
              <a:rPr lang="en-US" sz="1500" b="1" dirty="0">
                <a:solidFill>
                  <a:srgbClr val="4D7255"/>
                </a:solidFill>
                <a:latin typeface="Cambria" pitchFamily="34" charset="0"/>
                <a:ea typeface="Cambria" pitchFamily="34" charset="-122"/>
                <a:cs typeface="Cambria" pitchFamily="34" charset="-120"/>
              </a:rPr>
              <a:t>2</a:t>
            </a:r>
            <a:endParaRPr lang="en-US" sz="1500" dirty="0"/>
          </a:p>
        </p:txBody>
      </p:sp>
      <p:sp>
        <p:nvSpPr>
          <p:cNvPr id="11" name="Text 9"/>
          <p:cNvSpPr txBox="1"/>
          <p:nvPr/>
        </p:nvSpPr>
        <p:spPr>
          <a:xfrm>
            <a:off x="1389888" y="3584448"/>
            <a:ext cx="6035040" cy="310896"/>
          </a:xfrm>
          <a:prstGeom prst="rect">
            <a:avLst/>
          </a:prstGeom>
          <a:noFill/>
          <a:ln/>
        </p:spPr>
        <p:txBody>
          <a:bodyPr wrap="square" lIns="0" tIns="0" rIns="0" bIns="0" rtlCol="0" anchor="ctr"/>
          <a:lstStyle/>
          <a:p>
            <a:pPr indent="0" marL="0">
              <a:buNone/>
            </a:pPr>
            <a:r>
              <a:rPr lang="en-US" sz="1600" b="1" dirty="0">
                <a:solidFill>
                  <a:srgbClr val="2C2825"/>
                </a:solidFill>
                <a:latin typeface="Calibri" pitchFamily="34" charset="0"/>
                <a:ea typeface="Calibri" pitchFamily="34" charset="-122"/>
                <a:cs typeface="Calibri" pitchFamily="34" charset="-120"/>
              </a:rPr>
              <a:t>Poorly described</a:t>
            </a:r>
            <a:endParaRPr lang="en-US" sz="1600" dirty="0"/>
          </a:p>
        </p:txBody>
      </p:sp>
      <p:sp>
        <p:nvSpPr>
          <p:cNvPr id="12" name="Text 10"/>
          <p:cNvSpPr txBox="1"/>
          <p:nvPr/>
        </p:nvSpPr>
        <p:spPr>
          <a:xfrm>
            <a:off x="1389888" y="3931920"/>
            <a:ext cx="6035040" cy="731520"/>
          </a:xfrm>
          <a:prstGeom prst="rect">
            <a:avLst/>
          </a:prstGeom>
          <a:noFill/>
          <a:ln/>
        </p:spPr>
        <p:txBody>
          <a:bodyPr wrap="square" lIns="0" tIns="0" rIns="0" bIns="0" rtlCol="0" anchor="ctr"/>
          <a:lstStyle/>
          <a:p>
            <a:pPr indent="0" marL="0">
              <a:lnSpc>
                <a:spcPts val="1900"/>
              </a:lnSpc>
              <a:buNone/>
            </a:pPr>
            <a:r>
              <a:rPr lang="en-US" sz="1350" dirty="0">
                <a:solidFill>
                  <a:srgbClr val="5A534C"/>
                </a:solidFill>
                <a:latin typeface="Calibri" pitchFamily="34" charset="0"/>
                <a:ea typeface="Calibri" pitchFamily="34" charset="-122"/>
                <a:cs typeface="Calibri" pitchFamily="34" charset="-120"/>
              </a:rPr>
              <a:t>Most end-of-life practitioners are close to invisible online, or described in language nobody uses when they are grieving.</a:t>
            </a:r>
            <a:endParaRPr lang="en-US" sz="1350" dirty="0"/>
          </a:p>
        </p:txBody>
      </p:sp>
      <p:sp>
        <p:nvSpPr>
          <p:cNvPr id="13" name="Shape 11"/>
          <p:cNvSpPr/>
          <p:nvPr/>
        </p:nvSpPr>
        <p:spPr>
          <a:xfrm>
            <a:off x="713232" y="4901184"/>
            <a:ext cx="475488" cy="475488"/>
          </a:xfrm>
          <a:prstGeom prst="ellipse">
            <a:avLst/>
          </a:prstGeom>
          <a:solidFill>
            <a:srgbClr val="F5EAE6"/>
          </a:solidFill>
          <a:ln w="12700">
            <a:solidFill>
              <a:srgbClr val="D4876F"/>
            </a:solidFill>
            <a:prstDash val="solid"/>
          </a:ln>
        </p:spPr>
      </p:sp>
      <p:sp>
        <p:nvSpPr>
          <p:cNvPr id="14" name="Text 12"/>
          <p:cNvSpPr txBox="1"/>
          <p:nvPr/>
        </p:nvSpPr>
        <p:spPr>
          <a:xfrm>
            <a:off x="713232" y="4901184"/>
            <a:ext cx="475488" cy="475488"/>
          </a:xfrm>
          <a:prstGeom prst="rect">
            <a:avLst/>
          </a:prstGeom>
          <a:noFill/>
          <a:ln/>
        </p:spPr>
        <p:txBody>
          <a:bodyPr wrap="square" lIns="0" tIns="0" rIns="0" bIns="0" rtlCol="0" anchor="ctr"/>
          <a:lstStyle/>
          <a:p>
            <a:pPr algn="ctr" indent="0" marL="0">
              <a:buNone/>
            </a:pPr>
            <a:r>
              <a:rPr lang="en-US" sz="1500" b="1" dirty="0">
                <a:solidFill>
                  <a:srgbClr val="8B3E2D"/>
                </a:solidFill>
                <a:latin typeface="Cambria" pitchFamily="34" charset="0"/>
                <a:ea typeface="Cambria" pitchFamily="34" charset="-122"/>
                <a:cs typeface="Cambria" pitchFamily="34" charset="-120"/>
              </a:rPr>
              <a:t>3</a:t>
            </a:r>
            <a:endParaRPr lang="en-US" sz="1500" dirty="0"/>
          </a:p>
        </p:txBody>
      </p:sp>
      <p:sp>
        <p:nvSpPr>
          <p:cNvPr id="15" name="Text 13"/>
          <p:cNvSpPr txBox="1"/>
          <p:nvPr/>
        </p:nvSpPr>
        <p:spPr>
          <a:xfrm>
            <a:off x="1389888" y="4882896"/>
            <a:ext cx="6035040" cy="310896"/>
          </a:xfrm>
          <a:prstGeom prst="rect">
            <a:avLst/>
          </a:prstGeom>
          <a:noFill/>
          <a:ln/>
        </p:spPr>
        <p:txBody>
          <a:bodyPr wrap="square" lIns="0" tIns="0" rIns="0" bIns="0" rtlCol="0" anchor="ctr"/>
          <a:lstStyle/>
          <a:p>
            <a:pPr indent="0" marL="0">
              <a:buNone/>
            </a:pPr>
            <a:r>
              <a:rPr lang="en-US" sz="1600" b="1" dirty="0">
                <a:solidFill>
                  <a:srgbClr val="2C2825"/>
                </a:solidFill>
                <a:latin typeface="Calibri" pitchFamily="34" charset="0"/>
                <a:ea typeface="Calibri" pitchFamily="34" charset="-122"/>
                <a:cs typeface="Calibri" pitchFamily="34" charset="-120"/>
              </a:rPr>
              <a:t>Searched at the worst possible moment</a:t>
            </a:r>
            <a:endParaRPr lang="en-US" sz="1600" dirty="0"/>
          </a:p>
        </p:txBody>
      </p:sp>
      <p:sp>
        <p:nvSpPr>
          <p:cNvPr id="16" name="Text 14"/>
          <p:cNvSpPr txBox="1"/>
          <p:nvPr/>
        </p:nvSpPr>
        <p:spPr>
          <a:xfrm>
            <a:off x="1389888" y="5230368"/>
            <a:ext cx="6035040" cy="731520"/>
          </a:xfrm>
          <a:prstGeom prst="rect">
            <a:avLst/>
          </a:prstGeom>
          <a:noFill/>
          <a:ln/>
        </p:spPr>
        <p:txBody>
          <a:bodyPr wrap="square" lIns="0" tIns="0" rIns="0" bIns="0" rtlCol="0" anchor="ctr"/>
          <a:lstStyle/>
          <a:p>
            <a:pPr indent="0" marL="0">
              <a:lnSpc>
                <a:spcPts val="1900"/>
              </a:lnSpc>
              <a:buNone/>
            </a:pPr>
            <a:r>
              <a:rPr lang="en-US" sz="1350" dirty="0">
                <a:solidFill>
                  <a:srgbClr val="5A534C"/>
                </a:solidFill>
                <a:latin typeface="Calibri" pitchFamily="34" charset="0"/>
                <a:ea typeface="Calibri" pitchFamily="34" charset="-122"/>
                <a:cs typeface="Calibri" pitchFamily="34" charset="-120"/>
              </a:rPr>
              <a:t>Families do this research once, under time pressure, in the days after a death — with no way to tell who is qualified.</a:t>
            </a:r>
            <a:endParaRPr lang="en-US" sz="1350" dirty="0"/>
          </a:p>
        </p:txBody>
      </p:sp>
      <p:sp>
        <p:nvSpPr>
          <p:cNvPr id="17" name="Shape 15"/>
          <p:cNvSpPr/>
          <p:nvPr/>
        </p:nvSpPr>
        <p:spPr>
          <a:xfrm>
            <a:off x="8092440" y="2084832"/>
            <a:ext cx="3401568" cy="2286000"/>
          </a:xfrm>
          <a:prstGeom prst="roundRect">
            <a:avLst>
              <a:gd name="adj" fmla="val 4400"/>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18" name="Text 16"/>
          <p:cNvSpPr txBox="1"/>
          <p:nvPr/>
        </p:nvSpPr>
        <p:spPr>
          <a:xfrm>
            <a:off x="8183880" y="2286000"/>
            <a:ext cx="3200400" cy="868680"/>
          </a:xfrm>
          <a:prstGeom prst="rect">
            <a:avLst/>
          </a:prstGeom>
          <a:noFill/>
          <a:ln/>
        </p:spPr>
        <p:txBody>
          <a:bodyPr wrap="square" lIns="0" tIns="0" rIns="0" bIns="0" rtlCol="0" anchor="ctr"/>
          <a:lstStyle/>
          <a:p>
            <a:pPr algn="ctr" indent="0" marL="0">
              <a:buNone/>
            </a:pPr>
            <a:r>
              <a:rPr lang="en-US" sz="5600" b="1" dirty="0">
                <a:solidFill>
                  <a:srgbClr val="8B3E2D"/>
                </a:solidFill>
                <a:latin typeface="Cambria" pitchFamily="34" charset="0"/>
                <a:ea typeface="Cambria" pitchFamily="34" charset="-122"/>
                <a:cs typeface="Cambria" pitchFamily="34" charset="-120"/>
              </a:rPr>
              <a:t>~3M</a:t>
            </a:r>
            <a:endParaRPr lang="en-US" sz="5600" dirty="0"/>
          </a:p>
        </p:txBody>
      </p:sp>
      <p:sp>
        <p:nvSpPr>
          <p:cNvPr id="19" name="Text 17"/>
          <p:cNvSpPr txBox="1"/>
          <p:nvPr/>
        </p:nvSpPr>
        <p:spPr>
          <a:xfrm>
            <a:off x="8366760" y="3200400"/>
            <a:ext cx="2834640" cy="502920"/>
          </a:xfrm>
          <a:prstGeom prst="rect">
            <a:avLst/>
          </a:prstGeom>
          <a:noFill/>
          <a:ln/>
        </p:spPr>
        <p:txBody>
          <a:bodyPr wrap="square" lIns="0" tIns="0" rIns="0" bIns="0" rtlCol="0" anchor="ctr"/>
          <a:lstStyle/>
          <a:p>
            <a:pPr algn="ctr" indent="0" marL="0">
              <a:lnSpc>
                <a:spcPts val="1800"/>
              </a:lnSpc>
              <a:buNone/>
            </a:pPr>
            <a:r>
              <a:rPr lang="en-US" sz="1400" b="1" dirty="0">
                <a:solidFill>
                  <a:srgbClr val="2C2825"/>
                </a:solidFill>
                <a:latin typeface="Calibri" pitchFamily="34" charset="0"/>
                <a:ea typeface="Calibri" pitchFamily="34" charset="-122"/>
                <a:cs typeface="Calibri" pitchFamily="34" charset="-120"/>
              </a:rPr>
              <a:t>deaths in the United States every year</a:t>
            </a:r>
            <a:endParaRPr lang="en-US" sz="1400" dirty="0"/>
          </a:p>
        </p:txBody>
      </p:sp>
      <p:sp>
        <p:nvSpPr>
          <p:cNvPr id="20" name="Text 18"/>
          <p:cNvSpPr txBox="1"/>
          <p:nvPr/>
        </p:nvSpPr>
        <p:spPr>
          <a:xfrm>
            <a:off x="8366760" y="3675888"/>
            <a:ext cx="2834640" cy="548640"/>
          </a:xfrm>
          <a:prstGeom prst="rect">
            <a:avLst/>
          </a:prstGeom>
          <a:noFill/>
          <a:ln/>
        </p:spPr>
        <p:txBody>
          <a:bodyPr wrap="square" lIns="0" tIns="0" rIns="0" bIns="0" rtlCol="0" anchor="ctr"/>
          <a:lstStyle/>
          <a:p>
            <a:pPr algn="ctr" indent="0" marL="0">
              <a:lnSpc>
                <a:spcPts val="1500"/>
              </a:lnSpc>
              <a:buNone/>
            </a:pPr>
            <a:r>
              <a:rPr lang="en-US" sz="1150" dirty="0">
                <a:solidFill>
                  <a:srgbClr val="5A534C"/>
                </a:solidFill>
                <a:latin typeface="Calibri" pitchFamily="34" charset="0"/>
                <a:ea typeface="Calibri" pitchFamily="34" charset="-122"/>
                <a:cs typeface="Calibri" pitchFamily="34" charset="-120"/>
              </a:rPr>
              <a:t>Each one sends a household searching, usually for the first time.</a:t>
            </a:r>
            <a:endParaRPr lang="en-US" sz="1150" dirty="0"/>
          </a:p>
        </p:txBody>
      </p:sp>
      <p:sp>
        <p:nvSpPr>
          <p:cNvPr id="21" name="Text 19"/>
          <p:cNvSpPr txBox="1"/>
          <p:nvPr/>
        </p:nvSpPr>
        <p:spPr>
          <a:xfrm>
            <a:off x="8001000" y="4590288"/>
            <a:ext cx="3584448" cy="566928"/>
          </a:xfrm>
          <a:prstGeom prst="rect">
            <a:avLst/>
          </a:prstGeom>
          <a:noFill/>
          <a:ln/>
        </p:spPr>
        <p:txBody>
          <a:bodyPr wrap="square" lIns="0" tIns="0" rIns="0" bIns="0" rtlCol="0" anchor="ctr"/>
          <a:lstStyle/>
          <a:p>
            <a:pPr algn="ctr" indent="0" marL="0">
              <a:lnSpc>
                <a:spcPts val="2200"/>
              </a:lnSpc>
              <a:buNone/>
            </a:pPr>
            <a:r>
              <a:rPr lang="en-US" sz="1550" i="1" dirty="0">
                <a:solidFill>
                  <a:srgbClr val="2C2825"/>
                </a:solidFill>
                <a:latin typeface="Cambria" pitchFamily="34" charset="0"/>
                <a:ea typeface="Cambria" pitchFamily="34" charset="-122"/>
                <a:cs typeface="Cambria" pitchFamily="34" charset="-120"/>
              </a:rPr>
              <a:t>“Loss deserves to be met with care.”</a:t>
            </a:r>
            <a:endParaRPr lang="en-US" sz="1550" dirty="0"/>
          </a:p>
        </p:txBody>
      </p:sp>
      <p:sp>
        <p:nvSpPr>
          <p:cNvPr id="22" name="Text 20"/>
          <p:cNvSpPr txBox="1"/>
          <p:nvPr/>
        </p:nvSpPr>
        <p:spPr>
          <a:xfrm>
            <a:off x="8092440" y="5212080"/>
            <a:ext cx="3401568" cy="256032"/>
          </a:xfrm>
          <a:prstGeom prst="rect">
            <a:avLst/>
          </a:prstGeom>
          <a:noFill/>
          <a:ln/>
        </p:spPr>
        <p:txBody>
          <a:bodyPr wrap="square" lIns="0" tIns="0" rIns="0" bIns="0" rtlCol="0" anchor="ctr"/>
          <a:lstStyle/>
          <a:p>
            <a:pPr algn="ctr" indent="0" marL="0">
              <a:buNone/>
            </a:pPr>
            <a:r>
              <a:rPr lang="en-US" sz="1100" dirty="0">
                <a:solidFill>
                  <a:srgbClr val="9A9189"/>
                </a:solidFill>
                <a:latin typeface="Calibri" pitchFamily="34" charset="0"/>
                <a:ea typeface="Calibri" pitchFamily="34" charset="-122"/>
                <a:cs typeface="Calibri" pitchFamily="34" charset="-120"/>
              </a:rPr>
              <a:t>— The CodaCo Market ethos</a:t>
            </a:r>
            <a:endParaRPr lang="en-US" sz="1100" dirty="0"/>
          </a:p>
        </p:txBody>
      </p:sp>
      <p:sp>
        <p:nvSpPr>
          <p:cNvPr id="23" name="Text 21"/>
          <p:cNvSpPr txBox="1"/>
          <p:nvPr/>
        </p:nvSpPr>
        <p:spPr>
          <a:xfrm>
            <a:off x="713232" y="6144768"/>
            <a:ext cx="5486400" cy="237744"/>
          </a:xfrm>
          <a:prstGeom prst="rect">
            <a:avLst/>
          </a:prstGeom>
          <a:noFill/>
          <a:ln/>
        </p:spPr>
        <p:txBody>
          <a:bodyPr wrap="square" lIns="0" tIns="0" rIns="0" bIns="0" rtlCol="0" anchor="ctr"/>
          <a:lstStyle/>
          <a:p>
            <a:pPr indent="0" marL="0">
              <a:buNone/>
            </a:pPr>
            <a:r>
              <a:rPr lang="en-US" sz="1000" dirty="0">
                <a:solidFill>
                  <a:srgbClr val="9A9189"/>
                </a:solidFill>
                <a:latin typeface="Calibri" pitchFamily="34" charset="0"/>
                <a:ea typeface="Calibri" pitchFamily="34" charset="-122"/>
                <a:cs typeface="Calibri" pitchFamily="34" charset="-120"/>
              </a:rPr>
              <a:t>Source: CDC / NCHS annual U.S. mortality.</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4D7255"/>
                </a:solidFill>
                <a:latin typeface="Calibri" pitchFamily="34" charset="0"/>
                <a:ea typeface="Calibri" pitchFamily="34" charset="-122"/>
                <a:cs typeface="Calibri" pitchFamily="34" charset="-120"/>
              </a:rPr>
              <a:t>THE SOLUTION</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One place for everything a family needs</a:t>
            </a:r>
            <a:endParaRPr lang="en-US" sz="3600" dirty="0"/>
          </a:p>
        </p:txBody>
      </p:sp>
      <p:sp>
        <p:nvSpPr>
          <p:cNvPr id="4" name="Text 2"/>
          <p:cNvSpPr txBox="1"/>
          <p:nvPr/>
        </p:nvSpPr>
        <p:spPr>
          <a:xfrm>
            <a:off x="685800" y="1481328"/>
            <a:ext cx="9601200" cy="384048"/>
          </a:xfrm>
          <a:prstGeom prst="rect">
            <a:avLst/>
          </a:prstGeom>
          <a:noFill/>
          <a:ln/>
        </p:spPr>
        <p:txBody>
          <a:bodyPr wrap="square" lIns="0" tIns="0" rIns="0" bIns="0" rtlCol="0" anchor="ctr"/>
          <a:lstStyle/>
          <a:p>
            <a:pPr indent="0" marL="0">
              <a:lnSpc>
                <a:spcPts val="2000"/>
              </a:lnSpc>
              <a:buNone/>
            </a:pPr>
            <a:r>
              <a:rPr lang="en-US" sz="1450" dirty="0">
                <a:solidFill>
                  <a:srgbClr val="5A534C"/>
                </a:solidFill>
                <a:latin typeface="Calibri" pitchFamily="34" charset="0"/>
                <a:ea typeface="Calibri" pitchFamily="34" charset="-122"/>
                <a:cs typeface="Calibri" pitchFamily="34" charset="-120"/>
              </a:rPr>
              <a:t>Curated goods, vetted local practitioners, and gentle guidance — searchable together, by category and by where you live.</a:t>
            </a:r>
            <a:endParaRPr lang="en-US" sz="1450" dirty="0"/>
          </a:p>
        </p:txBody>
      </p:sp>
      <p:sp>
        <p:nvSpPr>
          <p:cNvPr id="5" name="Shape 3"/>
          <p:cNvSpPr/>
          <p:nvPr/>
        </p:nvSpPr>
        <p:spPr>
          <a:xfrm>
            <a:off x="685800" y="2121408"/>
            <a:ext cx="5257800" cy="2880360"/>
          </a:xfrm>
          <a:prstGeom prst="roundRect">
            <a:avLst>
              <a:gd name="adj" fmla="val 3492"/>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6" name="Shape 4"/>
          <p:cNvSpPr/>
          <p:nvPr/>
        </p:nvSpPr>
        <p:spPr>
          <a:xfrm>
            <a:off x="960120" y="2359152"/>
            <a:ext cx="420624" cy="420624"/>
          </a:xfrm>
          <a:prstGeom prst="ellipse">
            <a:avLst/>
          </a:prstGeom>
          <a:solidFill>
            <a:srgbClr val="F5EAE6"/>
          </a:solidFill>
          <a:ln w="12700">
            <a:solidFill>
              <a:srgbClr val="D4876F"/>
            </a:solidFill>
            <a:prstDash val="solid"/>
          </a:ln>
        </p:spPr>
      </p:sp>
      <p:sp>
        <p:nvSpPr>
          <p:cNvPr id="7" name="Text 5"/>
          <p:cNvSpPr txBox="1"/>
          <p:nvPr/>
        </p:nvSpPr>
        <p:spPr>
          <a:xfrm>
            <a:off x="960120" y="2359152"/>
            <a:ext cx="420624" cy="420624"/>
          </a:xfrm>
          <a:prstGeom prst="rect">
            <a:avLst/>
          </a:prstGeom>
          <a:noFill/>
          <a:ln/>
        </p:spPr>
        <p:txBody>
          <a:bodyPr wrap="square" lIns="0" tIns="0" rIns="0" bIns="0" rtlCol="0" anchor="ctr"/>
          <a:lstStyle/>
          <a:p>
            <a:pPr algn="ctr" indent="0" marL="0">
              <a:buNone/>
            </a:pPr>
            <a:r>
              <a:rPr lang="en-US" sz="1400" b="1" dirty="0">
                <a:solidFill>
                  <a:srgbClr val="8B3E2D"/>
                </a:solidFill>
                <a:latin typeface="Cambria" pitchFamily="34" charset="0"/>
                <a:ea typeface="Cambria" pitchFamily="34" charset="-122"/>
                <a:cs typeface="Cambria" pitchFamily="34" charset="-120"/>
              </a:rPr>
              <a:t>G</a:t>
            </a:r>
            <a:endParaRPr lang="en-US" sz="1400" dirty="0"/>
          </a:p>
        </p:txBody>
      </p:sp>
      <p:sp>
        <p:nvSpPr>
          <p:cNvPr id="8" name="Text 6"/>
          <p:cNvSpPr txBox="1"/>
          <p:nvPr/>
        </p:nvSpPr>
        <p:spPr>
          <a:xfrm>
            <a:off x="1490472" y="2340864"/>
            <a:ext cx="2743200" cy="384048"/>
          </a:xfrm>
          <a:prstGeom prst="rect">
            <a:avLst/>
          </a:prstGeom>
          <a:noFill/>
          <a:ln/>
        </p:spPr>
        <p:txBody>
          <a:bodyPr wrap="square" lIns="0" tIns="0" rIns="0" bIns="0" rtlCol="0" anchor="ctr"/>
          <a:lstStyle/>
          <a:p>
            <a:pPr indent="0" marL="0">
              <a:buNone/>
            </a:pPr>
            <a:r>
              <a:rPr lang="en-US" sz="2400" dirty="0">
                <a:solidFill>
                  <a:srgbClr val="2C2825"/>
                </a:solidFill>
                <a:latin typeface="Cambria" pitchFamily="34" charset="0"/>
                <a:ea typeface="Cambria" pitchFamily="34" charset="-122"/>
                <a:cs typeface="Cambria" pitchFamily="34" charset="-120"/>
              </a:rPr>
              <a:t>Goods</a:t>
            </a:r>
            <a:endParaRPr lang="en-US" sz="2400" dirty="0"/>
          </a:p>
        </p:txBody>
      </p:sp>
      <p:sp>
        <p:nvSpPr>
          <p:cNvPr id="9" name="Text 7"/>
          <p:cNvSpPr txBox="1"/>
          <p:nvPr/>
        </p:nvSpPr>
        <p:spPr>
          <a:xfrm>
            <a:off x="4023360" y="2432304"/>
            <a:ext cx="1783080" cy="274320"/>
          </a:xfrm>
          <a:prstGeom prst="rect">
            <a:avLst/>
          </a:prstGeom>
          <a:noFill/>
          <a:ln/>
        </p:spPr>
        <p:txBody>
          <a:bodyPr wrap="square" lIns="0" tIns="0" rIns="0" bIns="0" rtlCol="0" anchor="ctr"/>
          <a:lstStyle/>
          <a:p>
            <a:pPr algn="r" indent="0" marL="0">
              <a:buNone/>
            </a:pPr>
            <a:r>
              <a:rPr lang="en-US" sz="1200" b="1" dirty="0">
                <a:solidFill>
                  <a:srgbClr val="8B3E2D"/>
                </a:solidFill>
                <a:latin typeface="Calibri" pitchFamily="34" charset="0"/>
                <a:ea typeface="Calibri" pitchFamily="34" charset="-122"/>
                <a:cs typeface="Calibri" pitchFamily="34" charset="-120"/>
              </a:rPr>
              <a:t>6 categories</a:t>
            </a:r>
            <a:endParaRPr lang="en-US" sz="1200" dirty="0"/>
          </a:p>
        </p:txBody>
      </p:sp>
      <p:sp>
        <p:nvSpPr>
          <p:cNvPr id="10" name="Text 8"/>
          <p:cNvSpPr txBox="1"/>
          <p:nvPr/>
        </p:nvSpPr>
        <p:spPr>
          <a:xfrm>
            <a:off x="1024128" y="2907792"/>
            <a:ext cx="4572000" cy="16459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Urns &amp; vessels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Ash jewelry</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Burial shrouds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Planning documents &amp; workbooks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Memorial items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Gifts &amp; humor</a:t>
            </a:r>
            <a:endParaRPr lang="en-US" sz="1300" dirty="0"/>
          </a:p>
        </p:txBody>
      </p:sp>
      <p:sp>
        <p:nvSpPr>
          <p:cNvPr id="11" name="Text 9"/>
          <p:cNvSpPr txBox="1"/>
          <p:nvPr/>
        </p:nvSpPr>
        <p:spPr>
          <a:xfrm>
            <a:off x="1024128" y="4553712"/>
            <a:ext cx="4572000" cy="274320"/>
          </a:xfrm>
          <a:prstGeom prst="rect">
            <a:avLst/>
          </a:prstGeom>
          <a:noFill/>
          <a:ln/>
        </p:spPr>
        <p:txBody>
          <a:bodyPr wrap="square" lIns="0" tIns="0" rIns="0" bIns="0" rtlCol="0" anchor="ctr"/>
          <a:lstStyle/>
          <a:p>
            <a:pPr indent="0" marL="0">
              <a:buNone/>
            </a:pPr>
            <a:r>
              <a:rPr lang="en-US" sz="1150" i="1" dirty="0">
                <a:solidFill>
                  <a:srgbClr val="5A534C"/>
                </a:solidFill>
                <a:latin typeface="Calibri" pitchFamily="34" charset="0"/>
                <a:ea typeface="Calibri" pitchFamily="34" charset="-122"/>
                <a:cs typeface="Calibri" pitchFamily="34" charset="-120"/>
              </a:rPr>
              <a:t>Shipped nationwide, or collected locally.</a:t>
            </a:r>
            <a:endParaRPr lang="en-US" sz="1150" dirty="0"/>
          </a:p>
        </p:txBody>
      </p:sp>
      <p:sp>
        <p:nvSpPr>
          <p:cNvPr id="12" name="Shape 10"/>
          <p:cNvSpPr/>
          <p:nvPr/>
        </p:nvSpPr>
        <p:spPr>
          <a:xfrm>
            <a:off x="6217920" y="2121408"/>
            <a:ext cx="5257800" cy="2880360"/>
          </a:xfrm>
          <a:prstGeom prst="roundRect">
            <a:avLst>
              <a:gd name="adj" fmla="val 3492"/>
            </a:avLst>
          </a:prstGeom>
          <a:solidFill>
            <a:srgbClr val="EAF0EB"/>
          </a:solidFill>
          <a:ln w="9525">
            <a:solidFill>
              <a:srgbClr val="D8E3D9"/>
            </a:solidFill>
            <a:prstDash val="solid"/>
          </a:ln>
          <a:effectLst>
            <a:outerShdw sx="100000" sy="100000" kx="0" ky="0" algn="bl" rotWithShape="0" blurRad="101600" dist="25400" dir="5400000">
              <a:srgbClr val="2C2825">
                <a:alpha val="6000"/>
              </a:srgbClr>
            </a:outerShdw>
          </a:effectLst>
        </p:spPr>
      </p:sp>
      <p:sp>
        <p:nvSpPr>
          <p:cNvPr id="13" name="Shape 11"/>
          <p:cNvSpPr/>
          <p:nvPr/>
        </p:nvSpPr>
        <p:spPr>
          <a:xfrm>
            <a:off x="6492240" y="2359152"/>
            <a:ext cx="420624" cy="420624"/>
          </a:xfrm>
          <a:prstGeom prst="ellipse">
            <a:avLst/>
          </a:prstGeom>
          <a:solidFill>
            <a:srgbClr val="EAF0EB"/>
          </a:solidFill>
          <a:ln w="12700">
            <a:solidFill>
              <a:srgbClr val="A8C4AC"/>
            </a:solidFill>
            <a:prstDash val="solid"/>
          </a:ln>
        </p:spPr>
      </p:sp>
      <p:sp>
        <p:nvSpPr>
          <p:cNvPr id="14" name="Text 12"/>
          <p:cNvSpPr txBox="1"/>
          <p:nvPr/>
        </p:nvSpPr>
        <p:spPr>
          <a:xfrm>
            <a:off x="6492240" y="2359152"/>
            <a:ext cx="420624" cy="420624"/>
          </a:xfrm>
          <a:prstGeom prst="rect">
            <a:avLst/>
          </a:prstGeom>
          <a:noFill/>
          <a:ln/>
        </p:spPr>
        <p:txBody>
          <a:bodyPr wrap="square" lIns="0" tIns="0" rIns="0" bIns="0" rtlCol="0" anchor="ctr"/>
          <a:lstStyle/>
          <a:p>
            <a:pPr algn="ctr" indent="0" marL="0">
              <a:buNone/>
            </a:pPr>
            <a:r>
              <a:rPr lang="en-US" sz="1400" b="1" dirty="0">
                <a:solidFill>
                  <a:srgbClr val="4D7255"/>
                </a:solidFill>
                <a:latin typeface="Cambria" pitchFamily="34" charset="0"/>
                <a:ea typeface="Cambria" pitchFamily="34" charset="-122"/>
                <a:cs typeface="Cambria" pitchFamily="34" charset="-120"/>
              </a:rPr>
              <a:t>S</a:t>
            </a:r>
            <a:endParaRPr lang="en-US" sz="1400" dirty="0"/>
          </a:p>
        </p:txBody>
      </p:sp>
      <p:sp>
        <p:nvSpPr>
          <p:cNvPr id="15" name="Text 13"/>
          <p:cNvSpPr txBox="1"/>
          <p:nvPr/>
        </p:nvSpPr>
        <p:spPr>
          <a:xfrm>
            <a:off x="7022592" y="2340864"/>
            <a:ext cx="2743200" cy="384048"/>
          </a:xfrm>
          <a:prstGeom prst="rect">
            <a:avLst/>
          </a:prstGeom>
          <a:noFill/>
          <a:ln/>
        </p:spPr>
        <p:txBody>
          <a:bodyPr wrap="square" lIns="0" tIns="0" rIns="0" bIns="0" rtlCol="0" anchor="ctr"/>
          <a:lstStyle/>
          <a:p>
            <a:pPr indent="0" marL="0">
              <a:buNone/>
            </a:pPr>
            <a:r>
              <a:rPr lang="en-US" sz="2400" dirty="0">
                <a:solidFill>
                  <a:srgbClr val="2C2825"/>
                </a:solidFill>
                <a:latin typeface="Cambria" pitchFamily="34" charset="0"/>
                <a:ea typeface="Cambria" pitchFamily="34" charset="-122"/>
                <a:cs typeface="Cambria" pitchFamily="34" charset="-120"/>
              </a:rPr>
              <a:t>Services</a:t>
            </a:r>
            <a:endParaRPr lang="en-US" sz="2400" dirty="0"/>
          </a:p>
        </p:txBody>
      </p:sp>
      <p:sp>
        <p:nvSpPr>
          <p:cNvPr id="16" name="Text 14"/>
          <p:cNvSpPr txBox="1"/>
          <p:nvPr/>
        </p:nvSpPr>
        <p:spPr>
          <a:xfrm>
            <a:off x="9555480" y="2432304"/>
            <a:ext cx="1783080" cy="274320"/>
          </a:xfrm>
          <a:prstGeom prst="rect">
            <a:avLst/>
          </a:prstGeom>
          <a:noFill/>
          <a:ln/>
        </p:spPr>
        <p:txBody>
          <a:bodyPr wrap="square" lIns="0" tIns="0" rIns="0" bIns="0" rtlCol="0" anchor="ctr"/>
          <a:lstStyle/>
          <a:p>
            <a:pPr algn="r" indent="0" marL="0">
              <a:buNone/>
            </a:pPr>
            <a:r>
              <a:rPr lang="en-US" sz="1200" b="1" dirty="0">
                <a:solidFill>
                  <a:srgbClr val="4D7255"/>
                </a:solidFill>
                <a:latin typeface="Calibri" pitchFamily="34" charset="0"/>
                <a:ea typeface="Calibri" pitchFamily="34" charset="-122"/>
                <a:cs typeface="Calibri" pitchFamily="34" charset="-120"/>
              </a:rPr>
              <a:t>14 types</a:t>
            </a:r>
            <a:endParaRPr lang="en-US" sz="1200" dirty="0"/>
          </a:p>
        </p:txBody>
      </p:sp>
      <p:sp>
        <p:nvSpPr>
          <p:cNvPr id="17" name="Text 15"/>
          <p:cNvSpPr txBox="1"/>
          <p:nvPr/>
        </p:nvSpPr>
        <p:spPr>
          <a:xfrm>
            <a:off x="6556248" y="2907792"/>
            <a:ext cx="4572000" cy="16459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End-of-life doulas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Estate attorneys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Grief counselors &amp; spiritual support</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Funeral celebrants &amp; home funeral guides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Death cleaning &amp; end-of-life organizers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Death cafés, mediators, funeral homes</a:t>
            </a:r>
            <a:endParaRPr lang="en-US" sz="1300" dirty="0"/>
          </a:p>
        </p:txBody>
      </p:sp>
      <p:sp>
        <p:nvSpPr>
          <p:cNvPr id="18" name="Text 16"/>
          <p:cNvSpPr txBox="1"/>
          <p:nvPr/>
        </p:nvSpPr>
        <p:spPr>
          <a:xfrm>
            <a:off x="6556248" y="4553712"/>
            <a:ext cx="4663440" cy="274320"/>
          </a:xfrm>
          <a:prstGeom prst="rect">
            <a:avLst/>
          </a:prstGeom>
          <a:noFill/>
          <a:ln/>
        </p:spPr>
        <p:txBody>
          <a:bodyPr wrap="square" lIns="0" tIns="0" rIns="0" bIns="0" rtlCol="0" anchor="ctr"/>
          <a:lstStyle/>
          <a:p>
            <a:pPr indent="0" marL="0">
              <a:buNone/>
            </a:pPr>
            <a:r>
              <a:rPr lang="en-US" sz="1150" i="1" dirty="0">
                <a:solidFill>
                  <a:srgbClr val="5A534C"/>
                </a:solidFill>
                <a:latin typeface="Calibri" pitchFamily="34" charset="0"/>
                <a:ea typeface="Calibri" pitchFamily="34" charset="-122"/>
                <a:cs typeface="Calibri" pitchFamily="34" charset="-120"/>
              </a:rPr>
              <a:t>Found by zip code, matched to each provider’s service radius.</a:t>
            </a:r>
            <a:endParaRPr lang="en-US" sz="1150" dirty="0"/>
          </a:p>
        </p:txBody>
      </p:sp>
      <p:sp>
        <p:nvSpPr>
          <p:cNvPr id="19" name="Shape 17"/>
          <p:cNvSpPr/>
          <p:nvPr/>
        </p:nvSpPr>
        <p:spPr>
          <a:xfrm>
            <a:off x="685800" y="5230368"/>
            <a:ext cx="3429000" cy="960120"/>
          </a:xfrm>
          <a:prstGeom prst="roundRect">
            <a:avLst>
              <a:gd name="adj" fmla="val 10476"/>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0" name="Text 18"/>
          <p:cNvSpPr txBox="1"/>
          <p:nvPr/>
        </p:nvSpPr>
        <p:spPr>
          <a:xfrm>
            <a:off x="905256" y="5367528"/>
            <a:ext cx="3017520" cy="274320"/>
          </a:xfrm>
          <a:prstGeom prst="rect">
            <a:avLst/>
          </a:prstGeom>
          <a:noFill/>
          <a:ln/>
        </p:spPr>
        <p:txBody>
          <a:bodyPr wrap="square" lIns="0" tIns="0" rIns="0" bIns="0" rtlCol="0" anchor="ctr"/>
          <a:lstStyle/>
          <a:p>
            <a:pPr indent="0" marL="0">
              <a:buNone/>
            </a:pPr>
            <a:r>
              <a:rPr lang="en-US" sz="1350" b="1" dirty="0">
                <a:solidFill>
                  <a:srgbClr val="8B3E2D"/>
                </a:solidFill>
                <a:latin typeface="Calibri" pitchFamily="34" charset="0"/>
                <a:ea typeface="Calibri" pitchFamily="34" charset="-122"/>
                <a:cs typeface="Calibri" pitchFamily="34" charset="-120"/>
              </a:rPr>
              <a:t>Curated, not open</a:t>
            </a:r>
            <a:endParaRPr lang="en-US" sz="1350" dirty="0"/>
          </a:p>
        </p:txBody>
      </p:sp>
      <p:sp>
        <p:nvSpPr>
          <p:cNvPr id="21" name="Text 19"/>
          <p:cNvSpPr txBox="1"/>
          <p:nvPr/>
        </p:nvSpPr>
        <p:spPr>
          <a:xfrm>
            <a:off x="905256" y="5650992"/>
            <a:ext cx="3017520" cy="45720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Every vendor is reviewed and approved before they appear.</a:t>
            </a:r>
            <a:endParaRPr lang="en-US" sz="1150" dirty="0"/>
          </a:p>
        </p:txBody>
      </p:sp>
      <p:sp>
        <p:nvSpPr>
          <p:cNvPr id="22" name="Shape 20"/>
          <p:cNvSpPr/>
          <p:nvPr/>
        </p:nvSpPr>
        <p:spPr>
          <a:xfrm>
            <a:off x="4343400" y="5230368"/>
            <a:ext cx="3429000" cy="960120"/>
          </a:xfrm>
          <a:prstGeom prst="roundRect">
            <a:avLst>
              <a:gd name="adj" fmla="val 10476"/>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3" name="Text 21"/>
          <p:cNvSpPr txBox="1"/>
          <p:nvPr/>
        </p:nvSpPr>
        <p:spPr>
          <a:xfrm>
            <a:off x="4562856" y="5367528"/>
            <a:ext cx="3017520" cy="274320"/>
          </a:xfrm>
          <a:prstGeom prst="rect">
            <a:avLst/>
          </a:prstGeom>
          <a:noFill/>
          <a:ln/>
        </p:spPr>
        <p:txBody>
          <a:bodyPr wrap="square" lIns="0" tIns="0" rIns="0" bIns="0" rtlCol="0" anchor="ctr"/>
          <a:lstStyle/>
          <a:p>
            <a:pPr indent="0" marL="0">
              <a:buNone/>
            </a:pPr>
            <a:r>
              <a:rPr lang="en-US" sz="1350" b="1" dirty="0">
                <a:solidFill>
                  <a:srgbClr val="8B3E2D"/>
                </a:solidFill>
                <a:latin typeface="Calibri" pitchFamily="34" charset="0"/>
                <a:ea typeface="Calibri" pitchFamily="34" charset="-122"/>
                <a:cs typeface="Calibri" pitchFamily="34" charset="-120"/>
              </a:rPr>
              <a:t>Local by radius</a:t>
            </a:r>
            <a:endParaRPr lang="en-US" sz="1350" dirty="0"/>
          </a:p>
        </p:txBody>
      </p:sp>
      <p:sp>
        <p:nvSpPr>
          <p:cNvPr id="24" name="Text 22"/>
          <p:cNvSpPr txBox="1"/>
          <p:nvPr/>
        </p:nvSpPr>
        <p:spPr>
          <a:xfrm>
            <a:off x="4562856" y="5650992"/>
            <a:ext cx="3017520" cy="45720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Providers surface for the zip codes they actually serve.</a:t>
            </a:r>
            <a:endParaRPr lang="en-US" sz="1150" dirty="0"/>
          </a:p>
        </p:txBody>
      </p:sp>
      <p:sp>
        <p:nvSpPr>
          <p:cNvPr id="25" name="Shape 23"/>
          <p:cNvSpPr/>
          <p:nvPr/>
        </p:nvSpPr>
        <p:spPr>
          <a:xfrm>
            <a:off x="8001000" y="5230368"/>
            <a:ext cx="3429000" cy="960120"/>
          </a:xfrm>
          <a:prstGeom prst="roundRect">
            <a:avLst>
              <a:gd name="adj" fmla="val 10476"/>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6" name="Text 24"/>
          <p:cNvSpPr txBox="1"/>
          <p:nvPr/>
        </p:nvSpPr>
        <p:spPr>
          <a:xfrm>
            <a:off x="8220456" y="5367528"/>
            <a:ext cx="3017520" cy="274320"/>
          </a:xfrm>
          <a:prstGeom prst="rect">
            <a:avLst/>
          </a:prstGeom>
          <a:noFill/>
          <a:ln/>
        </p:spPr>
        <p:txBody>
          <a:bodyPr wrap="square" lIns="0" tIns="0" rIns="0" bIns="0" rtlCol="0" anchor="ctr"/>
          <a:lstStyle/>
          <a:p>
            <a:pPr indent="0" marL="0">
              <a:buNone/>
            </a:pPr>
            <a:r>
              <a:rPr lang="en-US" sz="1350" b="1" dirty="0">
                <a:solidFill>
                  <a:srgbClr val="8B3E2D"/>
                </a:solidFill>
                <a:latin typeface="Calibri" pitchFamily="34" charset="0"/>
                <a:ea typeface="Calibri" pitchFamily="34" charset="-122"/>
                <a:cs typeface="Calibri" pitchFamily="34" charset="-120"/>
              </a:rPr>
              <a:t>Guidance, not just listings</a:t>
            </a:r>
            <a:endParaRPr lang="en-US" sz="1350" dirty="0"/>
          </a:p>
        </p:txBody>
      </p:sp>
      <p:sp>
        <p:nvSpPr>
          <p:cNvPr id="27" name="Text 25"/>
          <p:cNvSpPr txBox="1"/>
          <p:nvPr/>
        </p:nvSpPr>
        <p:spPr>
          <a:xfrm>
            <a:off x="8220456" y="5650992"/>
            <a:ext cx="3017520" cy="45720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Plain-language answers for people who have never done this.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C1634F"/>
                </a:solidFill>
                <a:latin typeface="Calibri" pitchFamily="34" charset="0"/>
                <a:ea typeface="Calibri" pitchFamily="34" charset="-122"/>
                <a:cs typeface="Calibri" pitchFamily="34" charset="-120"/>
              </a:rPr>
              <a:t>THE PRODUCT</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Not a concept — a working marketplace</a:t>
            </a:r>
            <a:endParaRPr lang="en-US" sz="3600" dirty="0"/>
          </a:p>
        </p:txBody>
      </p:sp>
      <p:sp>
        <p:nvSpPr>
          <p:cNvPr id="4" name="Text 2"/>
          <p:cNvSpPr txBox="1"/>
          <p:nvPr/>
        </p:nvSpPr>
        <p:spPr>
          <a:xfrm>
            <a:off x="685800" y="1481328"/>
            <a:ext cx="10058400" cy="384048"/>
          </a:xfrm>
          <a:prstGeom prst="rect">
            <a:avLst/>
          </a:prstGeom>
          <a:noFill/>
          <a:ln/>
        </p:spPr>
        <p:txBody>
          <a:bodyPr wrap="square" lIns="0" tIns="0" rIns="0" bIns="0" rtlCol="0" anchor="ctr"/>
          <a:lstStyle/>
          <a:p>
            <a:pPr indent="0" marL="0">
              <a:lnSpc>
                <a:spcPts val="2000"/>
              </a:lnSpc>
              <a:buNone/>
            </a:pPr>
            <a:r>
              <a:rPr lang="en-US" sz="1450" dirty="0">
                <a:solidFill>
                  <a:srgbClr val="5A534C"/>
                </a:solidFill>
                <a:latin typeface="Calibri" pitchFamily="34" charset="0"/>
                <a:ea typeface="Calibri" pitchFamily="34" charset="-122"/>
                <a:cs typeface="Calibri" pitchFamily="34" charset="-120"/>
              </a:rPr>
              <a:t>Live today at coda-co-nine.vercel.app. Four build phases shipped: the catalog, the database, accounts, and full vendor self-service.</a:t>
            </a:r>
            <a:endParaRPr lang="en-US" sz="1450" dirty="0"/>
          </a:p>
        </p:txBody>
      </p:sp>
      <p:sp>
        <p:nvSpPr>
          <p:cNvPr id="5" name="Shape 3"/>
          <p:cNvSpPr/>
          <p:nvPr/>
        </p:nvSpPr>
        <p:spPr>
          <a:xfrm>
            <a:off x="685800" y="2139696"/>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6" name="Shape 4"/>
          <p:cNvSpPr/>
          <p:nvPr/>
        </p:nvSpPr>
        <p:spPr>
          <a:xfrm>
            <a:off x="905256" y="2340864"/>
            <a:ext cx="420624" cy="420624"/>
          </a:xfrm>
          <a:prstGeom prst="ellipse">
            <a:avLst/>
          </a:prstGeom>
          <a:solidFill>
            <a:srgbClr val="F5EAE6"/>
          </a:solidFill>
          <a:ln w="12700">
            <a:solidFill>
              <a:srgbClr val="D4876F"/>
            </a:solidFill>
            <a:prstDash val="solid"/>
          </a:ln>
        </p:spPr>
      </p:sp>
      <p:sp>
        <p:nvSpPr>
          <p:cNvPr id="7" name="Text 5"/>
          <p:cNvSpPr txBox="1"/>
          <p:nvPr/>
        </p:nvSpPr>
        <p:spPr>
          <a:xfrm>
            <a:off x="905256" y="2340864"/>
            <a:ext cx="420624" cy="420624"/>
          </a:xfrm>
          <a:prstGeom prst="rect">
            <a:avLst/>
          </a:prstGeom>
          <a:noFill/>
          <a:ln/>
        </p:spPr>
        <p:txBody>
          <a:bodyPr wrap="square" lIns="0" tIns="0" rIns="0" bIns="0" rtlCol="0" anchor="ctr"/>
          <a:lstStyle/>
          <a:p>
            <a:pPr algn="ctr" indent="0" marL="0">
              <a:buNone/>
            </a:pPr>
            <a:r>
              <a:rPr lang="en-US" sz="1400" b="1" dirty="0">
                <a:solidFill>
                  <a:srgbClr val="8B3E2D"/>
                </a:solidFill>
                <a:latin typeface="Cambria" pitchFamily="34" charset="0"/>
                <a:ea typeface="Cambria" pitchFamily="34" charset="-122"/>
                <a:cs typeface="Cambria" pitchFamily="34" charset="-120"/>
              </a:rPr>
              <a:t>V</a:t>
            </a:r>
            <a:endParaRPr lang="en-US" sz="1400" dirty="0"/>
          </a:p>
        </p:txBody>
      </p:sp>
      <p:sp>
        <p:nvSpPr>
          <p:cNvPr id="8" name="Text 6"/>
          <p:cNvSpPr txBox="1"/>
          <p:nvPr/>
        </p:nvSpPr>
        <p:spPr>
          <a:xfrm>
            <a:off x="1435608" y="2377440"/>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Vendor self-service</a:t>
            </a:r>
            <a:endParaRPr lang="en-US" sz="1400" dirty="0"/>
          </a:p>
        </p:txBody>
      </p:sp>
      <p:sp>
        <p:nvSpPr>
          <p:cNvPr id="9" name="Text 7"/>
          <p:cNvSpPr txBox="1"/>
          <p:nvPr/>
        </p:nvSpPr>
        <p:spPr>
          <a:xfrm>
            <a:off x="905256" y="2852928"/>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Apply, build a shop or service profile, list and price. Admin approves in 1–2 business days.</a:t>
            </a:r>
            <a:endParaRPr lang="en-US" sz="1150" dirty="0"/>
          </a:p>
        </p:txBody>
      </p:sp>
      <p:sp>
        <p:nvSpPr>
          <p:cNvPr id="10" name="Shape 8"/>
          <p:cNvSpPr/>
          <p:nvPr/>
        </p:nvSpPr>
        <p:spPr>
          <a:xfrm>
            <a:off x="4343400" y="2139696"/>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11" name="Shape 9"/>
          <p:cNvSpPr/>
          <p:nvPr/>
        </p:nvSpPr>
        <p:spPr>
          <a:xfrm>
            <a:off x="4562856" y="2340864"/>
            <a:ext cx="420624" cy="420624"/>
          </a:xfrm>
          <a:prstGeom prst="ellipse">
            <a:avLst/>
          </a:prstGeom>
          <a:solidFill>
            <a:srgbClr val="EAF0EB"/>
          </a:solidFill>
          <a:ln w="12700">
            <a:solidFill>
              <a:srgbClr val="A8C4AC"/>
            </a:solidFill>
            <a:prstDash val="solid"/>
          </a:ln>
        </p:spPr>
      </p:sp>
      <p:sp>
        <p:nvSpPr>
          <p:cNvPr id="12" name="Text 10"/>
          <p:cNvSpPr txBox="1"/>
          <p:nvPr/>
        </p:nvSpPr>
        <p:spPr>
          <a:xfrm>
            <a:off x="4562856" y="2340864"/>
            <a:ext cx="420624" cy="420624"/>
          </a:xfrm>
          <a:prstGeom prst="rect">
            <a:avLst/>
          </a:prstGeom>
          <a:noFill/>
          <a:ln/>
        </p:spPr>
        <p:txBody>
          <a:bodyPr wrap="square" lIns="0" tIns="0" rIns="0" bIns="0" rtlCol="0" anchor="ctr"/>
          <a:lstStyle/>
          <a:p>
            <a:pPr algn="ctr" indent="0" marL="0">
              <a:buNone/>
            </a:pPr>
            <a:r>
              <a:rPr lang="en-US" sz="1400" b="1" dirty="0">
                <a:solidFill>
                  <a:srgbClr val="4D7255"/>
                </a:solidFill>
                <a:latin typeface="Cambria" pitchFamily="34" charset="0"/>
                <a:ea typeface="Cambria" pitchFamily="34" charset="-122"/>
                <a:cs typeface="Cambria" pitchFamily="34" charset="-120"/>
              </a:rPr>
              <a:t>$</a:t>
            </a:r>
            <a:endParaRPr lang="en-US" sz="1400" dirty="0"/>
          </a:p>
        </p:txBody>
      </p:sp>
      <p:sp>
        <p:nvSpPr>
          <p:cNvPr id="13" name="Text 11"/>
          <p:cNvSpPr txBox="1"/>
          <p:nvPr/>
        </p:nvSpPr>
        <p:spPr>
          <a:xfrm>
            <a:off x="5093208" y="2377440"/>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Subscription billing</a:t>
            </a:r>
            <a:endParaRPr lang="en-US" sz="1400" dirty="0"/>
          </a:p>
        </p:txBody>
      </p:sp>
      <p:sp>
        <p:nvSpPr>
          <p:cNvPr id="14" name="Text 12"/>
          <p:cNvSpPr txBox="1"/>
          <p:nvPr/>
        </p:nvSpPr>
        <p:spPr>
          <a:xfrm>
            <a:off x="4562856" y="2852928"/>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Stripe Checkout and customer portal — trials, renewals, plan changes, cancellation.</a:t>
            </a:r>
            <a:endParaRPr lang="en-US" sz="1150" dirty="0"/>
          </a:p>
        </p:txBody>
      </p:sp>
      <p:sp>
        <p:nvSpPr>
          <p:cNvPr id="15" name="Shape 13"/>
          <p:cNvSpPr/>
          <p:nvPr/>
        </p:nvSpPr>
        <p:spPr>
          <a:xfrm>
            <a:off x="8001000" y="2139696"/>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16" name="Shape 14"/>
          <p:cNvSpPr/>
          <p:nvPr/>
        </p:nvSpPr>
        <p:spPr>
          <a:xfrm>
            <a:off x="8220456" y="2340864"/>
            <a:ext cx="420624" cy="420624"/>
          </a:xfrm>
          <a:prstGeom prst="ellipse">
            <a:avLst/>
          </a:prstGeom>
          <a:solidFill>
            <a:srgbClr val="F5EAE6"/>
          </a:solidFill>
          <a:ln w="12700">
            <a:solidFill>
              <a:srgbClr val="D4876F"/>
            </a:solidFill>
            <a:prstDash val="solid"/>
          </a:ln>
        </p:spPr>
      </p:sp>
      <p:sp>
        <p:nvSpPr>
          <p:cNvPr id="17" name="Text 15"/>
          <p:cNvSpPr txBox="1"/>
          <p:nvPr/>
        </p:nvSpPr>
        <p:spPr>
          <a:xfrm>
            <a:off x="8220456" y="2340864"/>
            <a:ext cx="420624" cy="420624"/>
          </a:xfrm>
          <a:prstGeom prst="rect">
            <a:avLst/>
          </a:prstGeom>
          <a:noFill/>
          <a:ln/>
        </p:spPr>
        <p:txBody>
          <a:bodyPr wrap="square" lIns="0" tIns="0" rIns="0" bIns="0" rtlCol="0" anchor="ctr"/>
          <a:lstStyle/>
          <a:p>
            <a:pPr algn="ctr" indent="0" marL="0">
              <a:buNone/>
            </a:pPr>
            <a:r>
              <a:rPr lang="en-US" sz="1400" b="1" dirty="0">
                <a:solidFill>
                  <a:srgbClr val="8B3E2D"/>
                </a:solidFill>
                <a:latin typeface="Cambria" pitchFamily="34" charset="0"/>
                <a:ea typeface="Cambria" pitchFamily="34" charset="-122"/>
                <a:cs typeface="Cambria" pitchFamily="34" charset="-120"/>
              </a:rPr>
              <a:t>◎</a:t>
            </a:r>
            <a:endParaRPr lang="en-US" sz="1400" dirty="0"/>
          </a:p>
        </p:txBody>
      </p:sp>
      <p:sp>
        <p:nvSpPr>
          <p:cNvPr id="18" name="Text 16"/>
          <p:cNvSpPr txBox="1"/>
          <p:nvPr/>
        </p:nvSpPr>
        <p:spPr>
          <a:xfrm>
            <a:off x="8750808" y="2377440"/>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Local discovery</a:t>
            </a:r>
            <a:endParaRPr lang="en-US" sz="1400" dirty="0"/>
          </a:p>
        </p:txBody>
      </p:sp>
      <p:sp>
        <p:nvSpPr>
          <p:cNvPr id="19" name="Text 17"/>
          <p:cNvSpPr txBox="1"/>
          <p:nvPr/>
        </p:nvSpPr>
        <p:spPr>
          <a:xfrm>
            <a:off x="8220456" y="2852928"/>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Zip-centroid search against each vendor’s service radius; virtual providers surface everywhere.</a:t>
            </a:r>
            <a:endParaRPr lang="en-US" sz="1150" dirty="0"/>
          </a:p>
        </p:txBody>
      </p:sp>
      <p:sp>
        <p:nvSpPr>
          <p:cNvPr id="20" name="Shape 18"/>
          <p:cNvSpPr/>
          <p:nvPr/>
        </p:nvSpPr>
        <p:spPr>
          <a:xfrm>
            <a:off x="685800" y="3840480"/>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1" name="Shape 19"/>
          <p:cNvSpPr/>
          <p:nvPr/>
        </p:nvSpPr>
        <p:spPr>
          <a:xfrm>
            <a:off x="905256" y="4041648"/>
            <a:ext cx="420624" cy="420624"/>
          </a:xfrm>
          <a:prstGeom prst="ellipse">
            <a:avLst/>
          </a:prstGeom>
          <a:solidFill>
            <a:srgbClr val="EAF0EB"/>
          </a:solidFill>
          <a:ln w="12700">
            <a:solidFill>
              <a:srgbClr val="A8C4AC"/>
            </a:solidFill>
            <a:prstDash val="solid"/>
          </a:ln>
        </p:spPr>
      </p:sp>
      <p:sp>
        <p:nvSpPr>
          <p:cNvPr id="22" name="Text 20"/>
          <p:cNvSpPr txBox="1"/>
          <p:nvPr/>
        </p:nvSpPr>
        <p:spPr>
          <a:xfrm>
            <a:off x="905256" y="4041648"/>
            <a:ext cx="420624" cy="420624"/>
          </a:xfrm>
          <a:prstGeom prst="rect">
            <a:avLst/>
          </a:prstGeom>
          <a:noFill/>
          <a:ln/>
        </p:spPr>
        <p:txBody>
          <a:bodyPr wrap="square" lIns="0" tIns="0" rIns="0" bIns="0" rtlCol="0" anchor="ctr"/>
          <a:lstStyle/>
          <a:p>
            <a:pPr algn="ctr" indent="0" marL="0">
              <a:buNone/>
            </a:pPr>
            <a:r>
              <a:rPr lang="en-US" sz="1400" b="1" dirty="0">
                <a:solidFill>
                  <a:srgbClr val="4D7255"/>
                </a:solidFill>
                <a:latin typeface="Cambria" pitchFamily="34" charset="0"/>
                <a:ea typeface="Cambria" pitchFamily="34" charset="-122"/>
                <a:cs typeface="Cambria" pitchFamily="34" charset="-120"/>
              </a:rPr>
              <a:t>★</a:t>
            </a:r>
            <a:endParaRPr lang="en-US" sz="1400" dirty="0"/>
          </a:p>
        </p:txBody>
      </p:sp>
      <p:sp>
        <p:nvSpPr>
          <p:cNvPr id="23" name="Text 21"/>
          <p:cNvSpPr txBox="1"/>
          <p:nvPr/>
        </p:nvSpPr>
        <p:spPr>
          <a:xfrm>
            <a:off x="1435608" y="4078224"/>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Trust layer</a:t>
            </a:r>
            <a:endParaRPr lang="en-US" sz="1400" dirty="0"/>
          </a:p>
        </p:txBody>
      </p:sp>
      <p:sp>
        <p:nvSpPr>
          <p:cNvPr id="24" name="Text 22"/>
          <p:cNvSpPr txBox="1"/>
          <p:nvPr/>
        </p:nvSpPr>
        <p:spPr>
          <a:xfrm>
            <a:off x="905256" y="4553712"/>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Verified reviews, saved items, and a curated approval queue behind every listing.</a:t>
            </a:r>
            <a:endParaRPr lang="en-US" sz="1150" dirty="0"/>
          </a:p>
        </p:txBody>
      </p:sp>
      <p:sp>
        <p:nvSpPr>
          <p:cNvPr id="25" name="Shape 23"/>
          <p:cNvSpPr/>
          <p:nvPr/>
        </p:nvSpPr>
        <p:spPr>
          <a:xfrm>
            <a:off x="4343400" y="3840480"/>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6" name="Shape 24"/>
          <p:cNvSpPr/>
          <p:nvPr/>
        </p:nvSpPr>
        <p:spPr>
          <a:xfrm>
            <a:off x="4562856" y="4041648"/>
            <a:ext cx="420624" cy="420624"/>
          </a:xfrm>
          <a:prstGeom prst="ellipse">
            <a:avLst/>
          </a:prstGeom>
          <a:solidFill>
            <a:srgbClr val="F5EAE6"/>
          </a:solidFill>
          <a:ln w="12700">
            <a:solidFill>
              <a:srgbClr val="D4876F"/>
            </a:solidFill>
            <a:prstDash val="solid"/>
          </a:ln>
        </p:spPr>
      </p:sp>
      <p:sp>
        <p:nvSpPr>
          <p:cNvPr id="27" name="Text 25"/>
          <p:cNvSpPr txBox="1"/>
          <p:nvPr/>
        </p:nvSpPr>
        <p:spPr>
          <a:xfrm>
            <a:off x="4562856" y="4041648"/>
            <a:ext cx="420624" cy="420624"/>
          </a:xfrm>
          <a:prstGeom prst="rect">
            <a:avLst/>
          </a:prstGeom>
          <a:noFill/>
          <a:ln/>
        </p:spPr>
        <p:txBody>
          <a:bodyPr wrap="square" lIns="0" tIns="0" rIns="0" bIns="0" rtlCol="0" anchor="ctr"/>
          <a:lstStyle/>
          <a:p>
            <a:pPr algn="ctr" indent="0" marL="0">
              <a:buNone/>
            </a:pPr>
            <a:r>
              <a:rPr lang="en-US" sz="1400" b="1" dirty="0">
                <a:solidFill>
                  <a:srgbClr val="8B3E2D"/>
                </a:solidFill>
                <a:latin typeface="Cambria" pitchFamily="34" charset="0"/>
                <a:ea typeface="Cambria" pitchFamily="34" charset="-122"/>
                <a:cs typeface="Cambria" pitchFamily="34" charset="-120"/>
              </a:rPr>
              <a:t>♥</a:t>
            </a:r>
            <a:endParaRPr lang="en-US" sz="1400" dirty="0"/>
          </a:p>
        </p:txBody>
      </p:sp>
      <p:sp>
        <p:nvSpPr>
          <p:cNvPr id="28" name="Text 26"/>
          <p:cNvSpPr txBox="1"/>
          <p:nvPr/>
        </p:nvSpPr>
        <p:spPr>
          <a:xfrm>
            <a:off x="5093208" y="4078224"/>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Gift cards</a:t>
            </a:r>
            <a:endParaRPr lang="en-US" sz="1400" dirty="0"/>
          </a:p>
        </p:txBody>
      </p:sp>
      <p:sp>
        <p:nvSpPr>
          <p:cNvPr id="29" name="Text 27"/>
          <p:cNvSpPr txBox="1"/>
          <p:nvPr/>
        </p:nvSpPr>
        <p:spPr>
          <a:xfrm>
            <a:off x="4562856" y="4553712"/>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Balances and shareable group-gift pools — contribute without creating an account.</a:t>
            </a:r>
            <a:endParaRPr lang="en-US" sz="1150" dirty="0"/>
          </a:p>
        </p:txBody>
      </p:sp>
      <p:sp>
        <p:nvSpPr>
          <p:cNvPr id="30" name="Shape 28"/>
          <p:cNvSpPr/>
          <p:nvPr/>
        </p:nvSpPr>
        <p:spPr>
          <a:xfrm>
            <a:off x="8001000" y="3840480"/>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31" name="Shape 29"/>
          <p:cNvSpPr/>
          <p:nvPr/>
        </p:nvSpPr>
        <p:spPr>
          <a:xfrm>
            <a:off x="8220456" y="4041648"/>
            <a:ext cx="420624" cy="420624"/>
          </a:xfrm>
          <a:prstGeom prst="ellipse">
            <a:avLst/>
          </a:prstGeom>
          <a:solidFill>
            <a:srgbClr val="EAF0EB"/>
          </a:solidFill>
          <a:ln w="12700">
            <a:solidFill>
              <a:srgbClr val="A8C4AC"/>
            </a:solidFill>
            <a:prstDash val="solid"/>
          </a:ln>
        </p:spPr>
      </p:sp>
      <p:sp>
        <p:nvSpPr>
          <p:cNvPr id="32" name="Text 30"/>
          <p:cNvSpPr txBox="1"/>
          <p:nvPr/>
        </p:nvSpPr>
        <p:spPr>
          <a:xfrm>
            <a:off x="8220456" y="4041648"/>
            <a:ext cx="420624" cy="420624"/>
          </a:xfrm>
          <a:prstGeom prst="rect">
            <a:avLst/>
          </a:prstGeom>
          <a:noFill/>
          <a:ln/>
        </p:spPr>
        <p:txBody>
          <a:bodyPr wrap="square" lIns="0" tIns="0" rIns="0" bIns="0" rtlCol="0" anchor="ctr"/>
          <a:lstStyle/>
          <a:p>
            <a:pPr algn="ctr" indent="0" marL="0">
              <a:buNone/>
            </a:pPr>
            <a:r>
              <a:rPr lang="en-US" sz="1400" b="1" dirty="0">
                <a:solidFill>
                  <a:srgbClr val="4D7255"/>
                </a:solidFill>
                <a:latin typeface="Cambria" pitchFamily="34" charset="0"/>
                <a:ea typeface="Cambria" pitchFamily="34" charset="-122"/>
                <a:cs typeface="Cambria" pitchFamily="34" charset="-120"/>
              </a:rPr>
              <a:t>?</a:t>
            </a:r>
            <a:endParaRPr lang="en-US" sz="1400" dirty="0"/>
          </a:p>
        </p:txBody>
      </p:sp>
      <p:sp>
        <p:nvSpPr>
          <p:cNvPr id="33" name="Text 31"/>
          <p:cNvSpPr txBox="1"/>
          <p:nvPr/>
        </p:nvSpPr>
        <p:spPr>
          <a:xfrm>
            <a:off x="8750808" y="4078224"/>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Guidance &amp; editorial</a:t>
            </a:r>
            <a:endParaRPr lang="en-US" sz="1400" dirty="0"/>
          </a:p>
        </p:txBody>
      </p:sp>
      <p:sp>
        <p:nvSpPr>
          <p:cNvPr id="34" name="Text 32"/>
          <p:cNvSpPr txBox="1"/>
          <p:nvPr/>
        </p:nvSpPr>
        <p:spPr>
          <a:xfrm>
            <a:off x="8220456" y="4553712"/>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Plain-language answers for the newly bereaved, plus a curated reading list.</a:t>
            </a:r>
            <a:endParaRPr lang="en-US" sz="1150" dirty="0"/>
          </a:p>
        </p:txBody>
      </p:sp>
      <p:sp>
        <p:nvSpPr>
          <p:cNvPr id="35" name="Shape 33"/>
          <p:cNvSpPr/>
          <p:nvPr/>
        </p:nvSpPr>
        <p:spPr>
          <a:xfrm>
            <a:off x="685800" y="5614416"/>
            <a:ext cx="10789920" cy="658368"/>
          </a:xfrm>
          <a:prstGeom prst="roundRect">
            <a:avLst>
              <a:gd name="adj" fmla="val 15278"/>
            </a:avLst>
          </a:prstGeom>
          <a:solidFill>
            <a:srgbClr val="EAF0EB"/>
          </a:solidFill>
          <a:ln w="9525">
            <a:solidFill>
              <a:srgbClr val="D8E3D9"/>
            </a:solidFill>
            <a:prstDash val="solid"/>
          </a:ln>
          <a:effectLst>
            <a:outerShdw sx="100000" sy="100000" kx="0" ky="0" algn="bl" rotWithShape="0" blurRad="101600" dist="25400" dir="5400000">
              <a:srgbClr val="2C2825">
                <a:alpha val="6000"/>
              </a:srgbClr>
            </a:outerShdw>
          </a:effectLst>
        </p:spPr>
      </p:sp>
      <p:sp>
        <p:nvSpPr>
          <p:cNvPr id="36" name="Text 34"/>
          <p:cNvSpPr txBox="1"/>
          <p:nvPr/>
        </p:nvSpPr>
        <p:spPr>
          <a:xfrm>
            <a:off x="914400" y="5614416"/>
            <a:ext cx="10332720" cy="658368"/>
          </a:xfrm>
          <a:prstGeom prst="rect">
            <a:avLst/>
          </a:prstGeom>
          <a:noFill/>
          <a:ln/>
        </p:spPr>
        <p:txBody>
          <a:bodyPr wrap="square" lIns="0" tIns="0" rIns="0" bIns="0" rtlCol="0" anchor="ctr"/>
          <a:lstStyle/>
          <a:p>
            <a:pPr indent="0" marL="0">
              <a:buNone/>
            </a:pPr>
            <a:r>
              <a:rPr lang="en-US" sz="1250" b="1" dirty="0">
                <a:solidFill>
                  <a:srgbClr val="4D7255"/>
                </a:solidFill>
                <a:latin typeface="Calibri" pitchFamily="34" charset="0"/>
                <a:ea typeface="Calibri" pitchFamily="34" charset="-122"/>
                <a:cs typeface="Calibri" pitchFamily="34" charset="-120"/>
              </a:rPr>
              <a:t>Shipping next:  </a:t>
            </a:r>
            <a:pPr indent="0" marL="0">
              <a:buNone/>
            </a:pPr>
            <a:r>
              <a:rPr lang="en-US" sz="1250" dirty="0">
                <a:solidFill>
                  <a:srgbClr val="2C2825"/>
                </a:solidFill>
                <a:latin typeface="Calibri" pitchFamily="34" charset="0"/>
                <a:ea typeface="Calibri" pitchFamily="34" charset="-122"/>
                <a:cs typeface="Calibri" pitchFamily="34" charset="-120"/>
              </a:rPr>
              <a:t>cart and checkout with orders and vendor notifications, then verified-purchase reviews. Gift-card sales open once a balance can be spent.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4D7255"/>
                </a:solidFill>
                <a:latin typeface="Calibri" pitchFamily="34" charset="0"/>
                <a:ea typeface="Calibri" pitchFamily="34" charset="-122"/>
                <a:cs typeface="Calibri" pitchFamily="34" charset="-120"/>
              </a:rPr>
              <a:t>BUSINESS MODEL</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Vendors subscribe. Buyers pay nothing extra.</a:t>
            </a:r>
            <a:endParaRPr lang="en-US" sz="3600" dirty="0"/>
          </a:p>
        </p:txBody>
      </p:sp>
      <p:sp>
        <p:nvSpPr>
          <p:cNvPr id="4" name="Text 2"/>
          <p:cNvSpPr txBox="1"/>
          <p:nvPr/>
        </p:nvSpPr>
        <p:spPr>
          <a:xfrm>
            <a:off x="685800" y="1481328"/>
            <a:ext cx="10058400" cy="384048"/>
          </a:xfrm>
          <a:prstGeom prst="rect">
            <a:avLst/>
          </a:prstGeom>
          <a:noFill/>
          <a:ln/>
        </p:spPr>
        <p:txBody>
          <a:bodyPr wrap="square" lIns="0" tIns="0" rIns="0" bIns="0" rtlCol="0" anchor="ctr"/>
          <a:lstStyle/>
          <a:p>
            <a:pPr indent="0" marL="0">
              <a:lnSpc>
                <a:spcPts val="2000"/>
              </a:lnSpc>
              <a:buNone/>
            </a:pPr>
            <a:r>
              <a:rPr lang="en-US" sz="1450" dirty="0">
                <a:solidFill>
                  <a:srgbClr val="5A534C"/>
                </a:solidFill>
                <a:latin typeface="Calibri" pitchFamily="34" charset="0"/>
                <a:ea typeface="Calibri" pitchFamily="34" charset="-122"/>
                <a:cs typeface="Calibri" pitchFamily="34" charset="-120"/>
              </a:rPr>
              <a:t>One flat rate for goods makers and service providers alike — no per-sale transaction fee, so vendors keep 100% of what they earn.</a:t>
            </a:r>
            <a:endParaRPr lang="en-US" sz="1450" dirty="0"/>
          </a:p>
        </p:txBody>
      </p:sp>
      <p:sp>
        <p:nvSpPr>
          <p:cNvPr id="5" name="Shape 3"/>
          <p:cNvSpPr/>
          <p:nvPr/>
        </p:nvSpPr>
        <p:spPr>
          <a:xfrm>
            <a:off x="685800" y="2139696"/>
            <a:ext cx="2834640" cy="2084832"/>
          </a:xfrm>
          <a:prstGeom prst="roundRect">
            <a:avLst>
              <a:gd name="adj" fmla="val 4825"/>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6" name="Text 4"/>
          <p:cNvSpPr txBox="1"/>
          <p:nvPr/>
        </p:nvSpPr>
        <p:spPr>
          <a:xfrm>
            <a:off x="886968" y="2331720"/>
            <a:ext cx="2432304" cy="256032"/>
          </a:xfrm>
          <a:prstGeom prst="rect">
            <a:avLst/>
          </a:prstGeom>
          <a:noFill/>
          <a:ln/>
        </p:spPr>
        <p:txBody>
          <a:bodyPr wrap="square" lIns="0" tIns="0" rIns="0" bIns="0" rtlCol="0" anchor="ctr"/>
          <a:lstStyle/>
          <a:p>
            <a:pPr indent="0" marL="0">
              <a:buNone/>
            </a:pPr>
            <a:r>
              <a:rPr lang="en-US" sz="1100" b="1" spc="200" kern="0" dirty="0">
                <a:solidFill>
                  <a:srgbClr val="4D7255"/>
                </a:solidFill>
                <a:latin typeface="Calibri" pitchFamily="34" charset="0"/>
                <a:ea typeface="Calibri" pitchFamily="34" charset="-122"/>
                <a:cs typeface="Calibri" pitchFamily="34" charset="-120"/>
              </a:rPr>
              <a:t>STARTER</a:t>
            </a:r>
            <a:endParaRPr lang="en-US" sz="1100" dirty="0"/>
          </a:p>
        </p:txBody>
      </p:sp>
      <p:sp>
        <p:nvSpPr>
          <p:cNvPr id="7" name="Text 5"/>
          <p:cNvSpPr txBox="1"/>
          <p:nvPr/>
        </p:nvSpPr>
        <p:spPr>
          <a:xfrm>
            <a:off x="886968" y="2615184"/>
            <a:ext cx="2432304" cy="658368"/>
          </a:xfrm>
          <a:prstGeom prst="rect">
            <a:avLst/>
          </a:prstGeom>
          <a:noFill/>
          <a:ln/>
        </p:spPr>
        <p:txBody>
          <a:bodyPr wrap="square" lIns="0" tIns="0" rIns="0" bIns="0" rtlCol="0" anchor="ctr"/>
          <a:lstStyle/>
          <a:p>
            <a:pPr indent="0" marL="0">
              <a:buNone/>
            </a:pPr>
            <a:r>
              <a:rPr lang="en-US" sz="4000" dirty="0">
                <a:solidFill>
                  <a:srgbClr val="2C2825"/>
                </a:solidFill>
                <a:latin typeface="Cambria" pitchFamily="34" charset="0"/>
                <a:ea typeface="Cambria" pitchFamily="34" charset="-122"/>
                <a:cs typeface="Cambria" pitchFamily="34" charset="-120"/>
              </a:rPr>
              <a:t>Free</a:t>
            </a:r>
            <a:endParaRPr lang="en-US" sz="4000" dirty="0"/>
          </a:p>
        </p:txBody>
      </p:sp>
      <p:sp>
        <p:nvSpPr>
          <p:cNvPr id="8" name="Text 6"/>
          <p:cNvSpPr txBox="1"/>
          <p:nvPr/>
        </p:nvSpPr>
        <p:spPr>
          <a:xfrm>
            <a:off x="886968" y="3291840"/>
            <a:ext cx="2432304" cy="256032"/>
          </a:xfrm>
          <a:prstGeom prst="rect">
            <a:avLst/>
          </a:prstGeom>
          <a:noFill/>
          <a:ln/>
        </p:spPr>
        <p:txBody>
          <a:bodyPr wrap="square" lIns="0" tIns="0" rIns="0" bIns="0" rtlCol="0" anchor="ctr"/>
          <a:lstStyle/>
          <a:p>
            <a:pPr indent="0" marL="0">
              <a:buNone/>
            </a:pPr>
            <a:r>
              <a:rPr lang="en-US" sz="1250" dirty="0">
                <a:solidFill>
                  <a:srgbClr val="5A534C"/>
                </a:solidFill>
                <a:latin typeface="Calibri" pitchFamily="34" charset="0"/>
                <a:ea typeface="Calibri" pitchFamily="34" charset="-122"/>
                <a:cs typeface="Calibri" pitchFamily="34" charset="-120"/>
              </a:rPr>
              <a:t>for 3 months</a:t>
            </a:r>
            <a:endParaRPr lang="en-US" sz="1250" dirty="0"/>
          </a:p>
        </p:txBody>
      </p:sp>
      <p:sp>
        <p:nvSpPr>
          <p:cNvPr id="9" name="Text 7"/>
          <p:cNvSpPr txBox="1"/>
          <p:nvPr/>
        </p:nvSpPr>
        <p:spPr>
          <a:xfrm>
            <a:off x="886968" y="3639312"/>
            <a:ext cx="2432304" cy="41148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Every feature, no card required.</a:t>
            </a:r>
            <a:endParaRPr lang="en-US" sz="1150" dirty="0"/>
          </a:p>
        </p:txBody>
      </p:sp>
      <p:sp>
        <p:nvSpPr>
          <p:cNvPr id="10" name="Shape 8"/>
          <p:cNvSpPr/>
          <p:nvPr/>
        </p:nvSpPr>
        <p:spPr>
          <a:xfrm>
            <a:off x="3739896" y="2139696"/>
            <a:ext cx="2834640" cy="2084832"/>
          </a:xfrm>
          <a:prstGeom prst="roundRect">
            <a:avLst>
              <a:gd name="adj" fmla="val 4825"/>
            </a:avLst>
          </a:prstGeom>
          <a:solidFill>
            <a:srgbClr val="F5EAE6"/>
          </a:solidFill>
          <a:ln w="9525">
            <a:solidFill>
              <a:srgbClr val="D4876F"/>
            </a:solidFill>
            <a:prstDash val="solid"/>
          </a:ln>
          <a:effectLst>
            <a:outerShdw sx="100000" sy="100000" kx="0" ky="0" algn="bl" rotWithShape="0" blurRad="101600" dist="25400" dir="5400000">
              <a:srgbClr val="2C2825">
                <a:alpha val="6000"/>
              </a:srgbClr>
            </a:outerShdw>
          </a:effectLst>
        </p:spPr>
      </p:sp>
      <p:sp>
        <p:nvSpPr>
          <p:cNvPr id="11" name="Text 9"/>
          <p:cNvSpPr txBox="1"/>
          <p:nvPr/>
        </p:nvSpPr>
        <p:spPr>
          <a:xfrm>
            <a:off x="3941064" y="2331720"/>
            <a:ext cx="2432304" cy="256032"/>
          </a:xfrm>
          <a:prstGeom prst="rect">
            <a:avLst/>
          </a:prstGeom>
          <a:noFill/>
          <a:ln/>
        </p:spPr>
        <p:txBody>
          <a:bodyPr wrap="square" lIns="0" tIns="0" rIns="0" bIns="0" rtlCol="0" anchor="ctr"/>
          <a:lstStyle/>
          <a:p>
            <a:pPr indent="0" marL="0">
              <a:buNone/>
            </a:pPr>
            <a:r>
              <a:rPr lang="en-US" sz="1100" b="1" spc="200" kern="0" dirty="0">
                <a:solidFill>
                  <a:srgbClr val="8B3E2D"/>
                </a:solidFill>
                <a:latin typeface="Calibri" pitchFamily="34" charset="0"/>
                <a:ea typeface="Calibri" pitchFamily="34" charset="-122"/>
                <a:cs typeface="Calibri" pitchFamily="34" charset="-120"/>
              </a:rPr>
              <a:t>MONTHLY</a:t>
            </a:r>
            <a:endParaRPr lang="en-US" sz="1100" dirty="0"/>
          </a:p>
        </p:txBody>
      </p:sp>
      <p:sp>
        <p:nvSpPr>
          <p:cNvPr id="12" name="Text 10"/>
          <p:cNvSpPr txBox="1"/>
          <p:nvPr/>
        </p:nvSpPr>
        <p:spPr>
          <a:xfrm>
            <a:off x="3941064" y="2615184"/>
            <a:ext cx="2432304" cy="658368"/>
          </a:xfrm>
          <a:prstGeom prst="rect">
            <a:avLst/>
          </a:prstGeom>
          <a:noFill/>
          <a:ln/>
        </p:spPr>
        <p:txBody>
          <a:bodyPr wrap="square" lIns="0" tIns="0" rIns="0" bIns="0" rtlCol="0" anchor="ctr"/>
          <a:lstStyle/>
          <a:p>
            <a:pPr indent="0" marL="0">
              <a:buNone/>
            </a:pPr>
            <a:r>
              <a:rPr lang="en-US" sz="4000" dirty="0">
                <a:solidFill>
                  <a:srgbClr val="2C2825"/>
                </a:solidFill>
                <a:latin typeface="Cambria" pitchFamily="34" charset="0"/>
                <a:ea typeface="Cambria" pitchFamily="34" charset="-122"/>
                <a:cs typeface="Cambria" pitchFamily="34" charset="-120"/>
              </a:rPr>
              <a:t>$29</a:t>
            </a:r>
            <a:endParaRPr lang="en-US" sz="4000" dirty="0"/>
          </a:p>
        </p:txBody>
      </p:sp>
      <p:sp>
        <p:nvSpPr>
          <p:cNvPr id="13" name="Text 11"/>
          <p:cNvSpPr txBox="1"/>
          <p:nvPr/>
        </p:nvSpPr>
        <p:spPr>
          <a:xfrm>
            <a:off x="3941064" y="3291840"/>
            <a:ext cx="2432304" cy="256032"/>
          </a:xfrm>
          <a:prstGeom prst="rect">
            <a:avLst/>
          </a:prstGeom>
          <a:noFill/>
          <a:ln/>
        </p:spPr>
        <p:txBody>
          <a:bodyPr wrap="square" lIns="0" tIns="0" rIns="0" bIns="0" rtlCol="0" anchor="ctr"/>
          <a:lstStyle/>
          <a:p>
            <a:pPr indent="0" marL="0">
              <a:buNone/>
            </a:pPr>
            <a:r>
              <a:rPr lang="en-US" sz="1250" dirty="0">
                <a:solidFill>
                  <a:srgbClr val="5A534C"/>
                </a:solidFill>
                <a:latin typeface="Calibri" pitchFamily="34" charset="0"/>
                <a:ea typeface="Calibri" pitchFamily="34" charset="-122"/>
                <a:cs typeface="Calibri" pitchFamily="34" charset="-120"/>
              </a:rPr>
              <a:t>per month</a:t>
            </a:r>
            <a:endParaRPr lang="en-US" sz="1250" dirty="0"/>
          </a:p>
        </p:txBody>
      </p:sp>
      <p:sp>
        <p:nvSpPr>
          <p:cNvPr id="14" name="Text 12"/>
          <p:cNvSpPr txBox="1"/>
          <p:nvPr/>
        </p:nvSpPr>
        <p:spPr>
          <a:xfrm>
            <a:off x="3941064" y="3639312"/>
            <a:ext cx="2432304" cy="41148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Cancel any time.</a:t>
            </a:r>
            <a:endParaRPr lang="en-US" sz="1150" dirty="0"/>
          </a:p>
        </p:txBody>
      </p:sp>
      <p:sp>
        <p:nvSpPr>
          <p:cNvPr id="15" name="Shape 13"/>
          <p:cNvSpPr/>
          <p:nvPr/>
        </p:nvSpPr>
        <p:spPr>
          <a:xfrm>
            <a:off x="6793992" y="2139696"/>
            <a:ext cx="2834640" cy="2084832"/>
          </a:xfrm>
          <a:prstGeom prst="roundRect">
            <a:avLst>
              <a:gd name="adj" fmla="val 4825"/>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16" name="Text 14"/>
          <p:cNvSpPr txBox="1"/>
          <p:nvPr/>
        </p:nvSpPr>
        <p:spPr>
          <a:xfrm>
            <a:off x="6995160" y="2331720"/>
            <a:ext cx="2432304" cy="256032"/>
          </a:xfrm>
          <a:prstGeom prst="rect">
            <a:avLst/>
          </a:prstGeom>
          <a:noFill/>
          <a:ln/>
        </p:spPr>
        <p:txBody>
          <a:bodyPr wrap="square" lIns="0" tIns="0" rIns="0" bIns="0" rtlCol="0" anchor="ctr"/>
          <a:lstStyle/>
          <a:p>
            <a:pPr indent="0" marL="0">
              <a:buNone/>
            </a:pPr>
            <a:r>
              <a:rPr lang="en-US" sz="1100" b="1" spc="200" kern="0" dirty="0">
                <a:solidFill>
                  <a:srgbClr val="8B3E2D"/>
                </a:solidFill>
                <a:latin typeface="Calibri" pitchFamily="34" charset="0"/>
                <a:ea typeface="Calibri" pitchFamily="34" charset="-122"/>
                <a:cs typeface="Calibri" pitchFamily="34" charset="-120"/>
              </a:rPr>
              <a:t>ANNUAL</a:t>
            </a:r>
            <a:endParaRPr lang="en-US" sz="1100" dirty="0"/>
          </a:p>
        </p:txBody>
      </p:sp>
      <p:sp>
        <p:nvSpPr>
          <p:cNvPr id="17" name="Text 15"/>
          <p:cNvSpPr txBox="1"/>
          <p:nvPr/>
        </p:nvSpPr>
        <p:spPr>
          <a:xfrm>
            <a:off x="6995160" y="2615184"/>
            <a:ext cx="2432304" cy="658368"/>
          </a:xfrm>
          <a:prstGeom prst="rect">
            <a:avLst/>
          </a:prstGeom>
          <a:noFill/>
          <a:ln/>
        </p:spPr>
        <p:txBody>
          <a:bodyPr wrap="square" lIns="0" tIns="0" rIns="0" bIns="0" rtlCol="0" anchor="ctr"/>
          <a:lstStyle/>
          <a:p>
            <a:pPr indent="0" marL="0">
              <a:buNone/>
            </a:pPr>
            <a:r>
              <a:rPr lang="en-US" sz="4000" dirty="0">
                <a:solidFill>
                  <a:srgbClr val="2C2825"/>
                </a:solidFill>
                <a:latin typeface="Cambria" pitchFamily="34" charset="0"/>
                <a:ea typeface="Cambria" pitchFamily="34" charset="-122"/>
                <a:cs typeface="Cambria" pitchFamily="34" charset="-120"/>
              </a:rPr>
              <a:t>$320</a:t>
            </a:r>
            <a:endParaRPr lang="en-US" sz="4000" dirty="0"/>
          </a:p>
        </p:txBody>
      </p:sp>
      <p:sp>
        <p:nvSpPr>
          <p:cNvPr id="18" name="Text 16"/>
          <p:cNvSpPr txBox="1"/>
          <p:nvPr/>
        </p:nvSpPr>
        <p:spPr>
          <a:xfrm>
            <a:off x="6995160" y="3291840"/>
            <a:ext cx="2432304" cy="256032"/>
          </a:xfrm>
          <a:prstGeom prst="rect">
            <a:avLst/>
          </a:prstGeom>
          <a:noFill/>
          <a:ln/>
        </p:spPr>
        <p:txBody>
          <a:bodyPr wrap="square" lIns="0" tIns="0" rIns="0" bIns="0" rtlCol="0" anchor="ctr"/>
          <a:lstStyle/>
          <a:p>
            <a:pPr indent="0" marL="0">
              <a:buNone/>
            </a:pPr>
            <a:r>
              <a:rPr lang="en-US" sz="1250" dirty="0">
                <a:solidFill>
                  <a:srgbClr val="5A534C"/>
                </a:solidFill>
                <a:latin typeface="Calibri" pitchFamily="34" charset="0"/>
                <a:ea typeface="Calibri" pitchFamily="34" charset="-122"/>
                <a:cs typeface="Calibri" pitchFamily="34" charset="-120"/>
              </a:rPr>
              <a:t>per year</a:t>
            </a:r>
            <a:endParaRPr lang="en-US" sz="1250" dirty="0"/>
          </a:p>
        </p:txBody>
      </p:sp>
      <p:sp>
        <p:nvSpPr>
          <p:cNvPr id="19" name="Text 17"/>
          <p:cNvSpPr txBox="1"/>
          <p:nvPr/>
        </p:nvSpPr>
        <p:spPr>
          <a:xfrm>
            <a:off x="6995160" y="3639312"/>
            <a:ext cx="2432304" cy="41148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Save 8%.</a:t>
            </a:r>
            <a:endParaRPr lang="en-US" sz="1150" dirty="0"/>
          </a:p>
        </p:txBody>
      </p:sp>
      <p:sp>
        <p:nvSpPr>
          <p:cNvPr id="20" name="Shape 18"/>
          <p:cNvSpPr/>
          <p:nvPr/>
        </p:nvSpPr>
        <p:spPr>
          <a:xfrm>
            <a:off x="9848088" y="2139696"/>
            <a:ext cx="1627632" cy="2084832"/>
          </a:xfrm>
          <a:prstGeom prst="roundRect">
            <a:avLst>
              <a:gd name="adj" fmla="val 6180"/>
            </a:avLst>
          </a:prstGeom>
          <a:solidFill>
            <a:srgbClr val="2C2825"/>
          </a:solidFill>
          <a:ln w="9525">
            <a:solidFill>
              <a:srgbClr val="2C2825"/>
            </a:solidFill>
            <a:prstDash val="solid"/>
          </a:ln>
          <a:effectLst>
            <a:outerShdw sx="100000" sy="100000" kx="0" ky="0" algn="bl" rotWithShape="0" blurRad="101600" dist="25400" dir="5400000">
              <a:srgbClr val="2C2825">
                <a:alpha val="6000"/>
              </a:srgbClr>
            </a:outerShdw>
          </a:effectLst>
        </p:spPr>
      </p:sp>
      <p:sp>
        <p:nvSpPr>
          <p:cNvPr id="21" name="Text 19"/>
          <p:cNvSpPr txBox="1"/>
          <p:nvPr/>
        </p:nvSpPr>
        <p:spPr>
          <a:xfrm>
            <a:off x="9893808" y="2606040"/>
            <a:ext cx="1536192" cy="640080"/>
          </a:xfrm>
          <a:prstGeom prst="rect">
            <a:avLst/>
          </a:prstGeom>
          <a:noFill/>
          <a:ln/>
        </p:spPr>
        <p:txBody>
          <a:bodyPr wrap="square" lIns="0" tIns="0" rIns="0" bIns="0" rtlCol="0" anchor="ctr"/>
          <a:lstStyle/>
          <a:p>
            <a:pPr algn="ctr" indent="0" marL="0">
              <a:buNone/>
            </a:pPr>
            <a:r>
              <a:rPr lang="en-US" sz="4000" b="1" dirty="0">
                <a:solidFill>
                  <a:srgbClr val="D4876F"/>
                </a:solidFill>
                <a:latin typeface="Cambria" pitchFamily="34" charset="0"/>
                <a:ea typeface="Cambria" pitchFamily="34" charset="-122"/>
                <a:cs typeface="Cambria" pitchFamily="34" charset="-120"/>
              </a:rPr>
              <a:t>0%</a:t>
            </a:r>
            <a:endParaRPr lang="en-US" sz="4000" dirty="0"/>
          </a:p>
        </p:txBody>
      </p:sp>
      <p:sp>
        <p:nvSpPr>
          <p:cNvPr id="22" name="Text 20"/>
          <p:cNvSpPr txBox="1"/>
          <p:nvPr/>
        </p:nvSpPr>
        <p:spPr>
          <a:xfrm>
            <a:off x="9893808" y="3291840"/>
            <a:ext cx="1536192" cy="640080"/>
          </a:xfrm>
          <a:prstGeom prst="rect">
            <a:avLst/>
          </a:prstGeom>
          <a:noFill/>
          <a:ln/>
        </p:spPr>
        <p:txBody>
          <a:bodyPr wrap="square" lIns="0" tIns="0" rIns="0" bIns="0" rtlCol="0" anchor="ctr"/>
          <a:lstStyle/>
          <a:p>
            <a:pPr algn="ctr" indent="0" marL="0">
              <a:lnSpc>
                <a:spcPts val="1600"/>
              </a:lnSpc>
              <a:buNone/>
            </a:pPr>
            <a:r>
              <a:rPr lang="en-US" sz="1200" dirty="0">
                <a:solidFill>
                  <a:srgbClr val="EFEBE5"/>
                </a:solidFill>
                <a:latin typeface="Calibri" pitchFamily="34" charset="0"/>
                <a:ea typeface="Calibri" pitchFamily="34" charset="-122"/>
                <a:cs typeface="Calibri" pitchFamily="34" charset="-120"/>
              </a:rPr>
              <a:t>take rate on</a:t>
            </a:r>
            <a:endParaRPr lang="en-US" sz="1200" dirty="0"/>
          </a:p>
          <a:p>
            <a:pPr algn="ctr" indent="0" marL="0">
              <a:lnSpc>
                <a:spcPts val="1600"/>
              </a:lnSpc>
              <a:buNone/>
            </a:pPr>
            <a:r>
              <a:rPr lang="en-US" sz="1200" dirty="0">
                <a:solidFill>
                  <a:srgbClr val="EFEBE5"/>
                </a:solidFill>
                <a:latin typeface="Calibri" pitchFamily="34" charset="0"/>
                <a:ea typeface="Calibri" pitchFamily="34" charset="-122"/>
                <a:cs typeface="Calibri" pitchFamily="34" charset="-120"/>
              </a:rPr>
              <a:t>every sale</a:t>
            </a:r>
            <a:endParaRPr lang="en-US" sz="1200" dirty="0"/>
          </a:p>
        </p:txBody>
      </p:sp>
      <p:sp>
        <p:nvSpPr>
          <p:cNvPr id="23" name="Shape 21"/>
          <p:cNvSpPr/>
          <p:nvPr/>
        </p:nvSpPr>
        <p:spPr>
          <a:xfrm>
            <a:off x="685800" y="4480560"/>
            <a:ext cx="3429000" cy="1170432"/>
          </a:xfrm>
          <a:prstGeom prst="roundRect">
            <a:avLst>
              <a:gd name="adj" fmla="val 8594"/>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4" name="Shape 22"/>
          <p:cNvSpPr/>
          <p:nvPr/>
        </p:nvSpPr>
        <p:spPr>
          <a:xfrm>
            <a:off x="905256" y="4645152"/>
            <a:ext cx="365760" cy="365760"/>
          </a:xfrm>
          <a:prstGeom prst="ellipse">
            <a:avLst/>
          </a:prstGeom>
          <a:solidFill>
            <a:srgbClr val="F5EAE6"/>
          </a:solidFill>
          <a:ln w="12700">
            <a:solidFill>
              <a:srgbClr val="D4876F"/>
            </a:solidFill>
            <a:prstDash val="solid"/>
          </a:ln>
        </p:spPr>
      </p:sp>
      <p:sp>
        <p:nvSpPr>
          <p:cNvPr id="25" name="Text 23"/>
          <p:cNvSpPr txBox="1"/>
          <p:nvPr/>
        </p:nvSpPr>
        <p:spPr>
          <a:xfrm>
            <a:off x="905256" y="4645152"/>
            <a:ext cx="365760" cy="365760"/>
          </a:xfrm>
          <a:prstGeom prst="rect">
            <a:avLst/>
          </a:prstGeom>
          <a:noFill/>
          <a:ln/>
        </p:spPr>
        <p:txBody>
          <a:bodyPr wrap="square" lIns="0" tIns="0" rIns="0" bIns="0" rtlCol="0" anchor="ctr"/>
          <a:lstStyle/>
          <a:p>
            <a:pPr algn="ctr" indent="0" marL="0">
              <a:buNone/>
            </a:pPr>
            <a:r>
              <a:rPr lang="en-US" sz="1200" b="1" dirty="0">
                <a:solidFill>
                  <a:srgbClr val="8B3E2D"/>
                </a:solidFill>
                <a:latin typeface="Cambria" pitchFamily="34" charset="0"/>
                <a:ea typeface="Cambria" pitchFamily="34" charset="-122"/>
                <a:cs typeface="Cambria" pitchFamily="34" charset="-120"/>
              </a:rPr>
              <a:t>1</a:t>
            </a:r>
            <a:endParaRPr lang="en-US" sz="1200" dirty="0"/>
          </a:p>
        </p:txBody>
      </p:sp>
      <p:sp>
        <p:nvSpPr>
          <p:cNvPr id="26" name="Text 24"/>
          <p:cNvSpPr txBox="1"/>
          <p:nvPr/>
        </p:nvSpPr>
        <p:spPr>
          <a:xfrm>
            <a:off x="1362456" y="4672584"/>
            <a:ext cx="2606040" cy="274320"/>
          </a:xfrm>
          <a:prstGeom prst="rect">
            <a:avLst/>
          </a:prstGeom>
          <a:noFill/>
          <a:ln/>
        </p:spPr>
        <p:txBody>
          <a:bodyPr wrap="square" lIns="0" tIns="0" rIns="0" bIns="0" rtlCol="0" anchor="ctr"/>
          <a:lstStyle/>
          <a:p>
            <a:pPr indent="0" marL="0">
              <a:buNone/>
            </a:pPr>
            <a:r>
              <a:rPr lang="en-US" sz="1350" b="1" dirty="0">
                <a:solidFill>
                  <a:srgbClr val="2C2825"/>
                </a:solidFill>
                <a:latin typeface="Calibri" pitchFamily="34" charset="0"/>
                <a:ea typeface="Calibri" pitchFamily="34" charset="-122"/>
                <a:cs typeface="Calibri" pitchFamily="34" charset="-120"/>
              </a:rPr>
              <a:t>Recurring from day one</a:t>
            </a:r>
            <a:endParaRPr lang="en-US" sz="1350" dirty="0"/>
          </a:p>
        </p:txBody>
      </p:sp>
      <p:sp>
        <p:nvSpPr>
          <p:cNvPr id="27" name="Text 25"/>
          <p:cNvSpPr txBox="1"/>
          <p:nvPr/>
        </p:nvSpPr>
        <p:spPr>
          <a:xfrm>
            <a:off x="905256" y="5074920"/>
            <a:ext cx="3017520" cy="50292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Revenue is subscription, not transaction — predictable and forecastable before GMV exists.</a:t>
            </a:r>
            <a:endParaRPr lang="en-US" sz="1150" dirty="0"/>
          </a:p>
        </p:txBody>
      </p:sp>
      <p:sp>
        <p:nvSpPr>
          <p:cNvPr id="28" name="Shape 26"/>
          <p:cNvSpPr/>
          <p:nvPr/>
        </p:nvSpPr>
        <p:spPr>
          <a:xfrm>
            <a:off x="4343400" y="4480560"/>
            <a:ext cx="3429000" cy="1170432"/>
          </a:xfrm>
          <a:prstGeom prst="roundRect">
            <a:avLst>
              <a:gd name="adj" fmla="val 8594"/>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9" name="Shape 27"/>
          <p:cNvSpPr/>
          <p:nvPr/>
        </p:nvSpPr>
        <p:spPr>
          <a:xfrm>
            <a:off x="4562856" y="4645152"/>
            <a:ext cx="365760" cy="365760"/>
          </a:xfrm>
          <a:prstGeom prst="ellipse">
            <a:avLst/>
          </a:prstGeom>
          <a:solidFill>
            <a:srgbClr val="EAF0EB"/>
          </a:solidFill>
          <a:ln w="12700">
            <a:solidFill>
              <a:srgbClr val="A8C4AC"/>
            </a:solidFill>
            <a:prstDash val="solid"/>
          </a:ln>
        </p:spPr>
      </p:sp>
      <p:sp>
        <p:nvSpPr>
          <p:cNvPr id="30" name="Text 28"/>
          <p:cNvSpPr txBox="1"/>
          <p:nvPr/>
        </p:nvSpPr>
        <p:spPr>
          <a:xfrm>
            <a:off x="4562856" y="4645152"/>
            <a:ext cx="365760" cy="365760"/>
          </a:xfrm>
          <a:prstGeom prst="rect">
            <a:avLst/>
          </a:prstGeom>
          <a:noFill/>
          <a:ln/>
        </p:spPr>
        <p:txBody>
          <a:bodyPr wrap="square" lIns="0" tIns="0" rIns="0" bIns="0" rtlCol="0" anchor="ctr"/>
          <a:lstStyle/>
          <a:p>
            <a:pPr algn="ctr" indent="0" marL="0">
              <a:buNone/>
            </a:pPr>
            <a:r>
              <a:rPr lang="en-US" sz="1200" b="1" dirty="0">
                <a:solidFill>
                  <a:srgbClr val="4D7255"/>
                </a:solidFill>
                <a:latin typeface="Cambria" pitchFamily="34" charset="0"/>
                <a:ea typeface="Cambria" pitchFamily="34" charset="-122"/>
                <a:cs typeface="Cambria" pitchFamily="34" charset="-120"/>
              </a:rPr>
              <a:t>2</a:t>
            </a:r>
            <a:endParaRPr lang="en-US" sz="1200" dirty="0"/>
          </a:p>
        </p:txBody>
      </p:sp>
      <p:sp>
        <p:nvSpPr>
          <p:cNvPr id="31" name="Text 29"/>
          <p:cNvSpPr txBox="1"/>
          <p:nvPr/>
        </p:nvSpPr>
        <p:spPr>
          <a:xfrm>
            <a:off x="5020056" y="4672584"/>
            <a:ext cx="2606040" cy="274320"/>
          </a:xfrm>
          <a:prstGeom prst="rect">
            <a:avLst/>
          </a:prstGeom>
          <a:noFill/>
          <a:ln/>
        </p:spPr>
        <p:txBody>
          <a:bodyPr wrap="square" lIns="0" tIns="0" rIns="0" bIns="0" rtlCol="0" anchor="ctr"/>
          <a:lstStyle/>
          <a:p>
            <a:pPr indent="0" marL="0">
              <a:buNone/>
            </a:pPr>
            <a:r>
              <a:rPr lang="en-US" sz="1350" b="1" dirty="0">
                <a:solidFill>
                  <a:srgbClr val="2C2825"/>
                </a:solidFill>
                <a:latin typeface="Calibri" pitchFamily="34" charset="0"/>
                <a:ea typeface="Calibri" pitchFamily="34" charset="-122"/>
                <a:cs typeface="Calibri" pitchFamily="34" charset="-120"/>
              </a:rPr>
              <a:t>Low friction to say yes</a:t>
            </a:r>
            <a:endParaRPr lang="en-US" sz="1350" dirty="0"/>
          </a:p>
        </p:txBody>
      </p:sp>
      <p:sp>
        <p:nvSpPr>
          <p:cNvPr id="32" name="Text 30"/>
          <p:cNvSpPr txBox="1"/>
          <p:nvPr/>
        </p:nvSpPr>
        <p:spPr>
          <a:xfrm>
            <a:off x="4562856" y="5074920"/>
            <a:ext cx="3017520" cy="50292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A free quarter and $29/month is an easy decision for a solo doula or a one-person studio.</a:t>
            </a:r>
            <a:endParaRPr lang="en-US" sz="1150" dirty="0"/>
          </a:p>
        </p:txBody>
      </p:sp>
      <p:sp>
        <p:nvSpPr>
          <p:cNvPr id="33" name="Shape 31"/>
          <p:cNvSpPr/>
          <p:nvPr/>
        </p:nvSpPr>
        <p:spPr>
          <a:xfrm>
            <a:off x="8001000" y="4480560"/>
            <a:ext cx="3429000" cy="1170432"/>
          </a:xfrm>
          <a:prstGeom prst="roundRect">
            <a:avLst>
              <a:gd name="adj" fmla="val 8594"/>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34" name="Shape 32"/>
          <p:cNvSpPr/>
          <p:nvPr/>
        </p:nvSpPr>
        <p:spPr>
          <a:xfrm>
            <a:off x="8220456" y="4645152"/>
            <a:ext cx="365760" cy="365760"/>
          </a:xfrm>
          <a:prstGeom prst="ellipse">
            <a:avLst/>
          </a:prstGeom>
          <a:solidFill>
            <a:srgbClr val="F5EAE6"/>
          </a:solidFill>
          <a:ln w="12700">
            <a:solidFill>
              <a:srgbClr val="D4876F"/>
            </a:solidFill>
            <a:prstDash val="solid"/>
          </a:ln>
        </p:spPr>
      </p:sp>
      <p:sp>
        <p:nvSpPr>
          <p:cNvPr id="35" name="Text 33"/>
          <p:cNvSpPr txBox="1"/>
          <p:nvPr/>
        </p:nvSpPr>
        <p:spPr>
          <a:xfrm>
            <a:off x="8220456" y="4645152"/>
            <a:ext cx="365760" cy="365760"/>
          </a:xfrm>
          <a:prstGeom prst="rect">
            <a:avLst/>
          </a:prstGeom>
          <a:noFill/>
          <a:ln/>
        </p:spPr>
        <p:txBody>
          <a:bodyPr wrap="square" lIns="0" tIns="0" rIns="0" bIns="0" rtlCol="0" anchor="ctr"/>
          <a:lstStyle/>
          <a:p>
            <a:pPr algn="ctr" indent="0" marL="0">
              <a:buNone/>
            </a:pPr>
            <a:r>
              <a:rPr lang="en-US" sz="1200" b="1" dirty="0">
                <a:solidFill>
                  <a:srgbClr val="8B3E2D"/>
                </a:solidFill>
                <a:latin typeface="Cambria" pitchFamily="34" charset="0"/>
                <a:ea typeface="Cambria" pitchFamily="34" charset="-122"/>
                <a:cs typeface="Cambria" pitchFamily="34" charset="-120"/>
              </a:rPr>
              <a:t>3</a:t>
            </a:r>
            <a:endParaRPr lang="en-US" sz="1200" dirty="0"/>
          </a:p>
        </p:txBody>
      </p:sp>
      <p:sp>
        <p:nvSpPr>
          <p:cNvPr id="36" name="Text 34"/>
          <p:cNvSpPr txBox="1"/>
          <p:nvPr/>
        </p:nvSpPr>
        <p:spPr>
          <a:xfrm>
            <a:off x="8677656" y="4672584"/>
            <a:ext cx="2606040" cy="274320"/>
          </a:xfrm>
          <a:prstGeom prst="rect">
            <a:avLst/>
          </a:prstGeom>
          <a:noFill/>
          <a:ln/>
        </p:spPr>
        <p:txBody>
          <a:bodyPr wrap="square" lIns="0" tIns="0" rIns="0" bIns="0" rtlCol="0" anchor="ctr"/>
          <a:lstStyle/>
          <a:p>
            <a:pPr indent="0" marL="0">
              <a:buNone/>
            </a:pPr>
            <a:r>
              <a:rPr lang="en-US" sz="1350" b="1" dirty="0">
                <a:solidFill>
                  <a:srgbClr val="2C2825"/>
                </a:solidFill>
                <a:latin typeface="Calibri" pitchFamily="34" charset="0"/>
                <a:ea typeface="Calibri" pitchFamily="34" charset="-122"/>
                <a:cs typeface="Calibri" pitchFamily="34" charset="-120"/>
              </a:rPr>
              <a:t>Same price on both sides</a:t>
            </a:r>
            <a:endParaRPr lang="en-US" sz="1350" dirty="0"/>
          </a:p>
        </p:txBody>
      </p:sp>
      <p:sp>
        <p:nvSpPr>
          <p:cNvPr id="37" name="Text 35"/>
          <p:cNvSpPr txBox="1"/>
          <p:nvPr/>
        </p:nvSpPr>
        <p:spPr>
          <a:xfrm>
            <a:off x="8220456" y="5074920"/>
            <a:ext cx="3017520" cy="50292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Goods and services share one plan, one dashboard, one billing path — no second business to run.</a:t>
            </a:r>
            <a:endParaRPr lang="en-US" sz="1150" dirty="0"/>
          </a:p>
        </p:txBody>
      </p:sp>
      <p:sp>
        <p:nvSpPr>
          <p:cNvPr id="38" name="Text 36"/>
          <p:cNvSpPr txBox="1"/>
          <p:nvPr/>
        </p:nvSpPr>
        <p:spPr>
          <a:xfrm>
            <a:off x="713232" y="5870448"/>
            <a:ext cx="10698480" cy="292608"/>
          </a:xfrm>
          <a:prstGeom prst="rect">
            <a:avLst/>
          </a:prstGeom>
          <a:noFill/>
          <a:ln/>
        </p:spPr>
        <p:txBody>
          <a:bodyPr wrap="square" lIns="0" tIns="0" rIns="0" bIns="0" rtlCol="0" anchor="ctr"/>
          <a:lstStyle/>
          <a:p>
            <a:pPr indent="0" marL="0">
              <a:buNone/>
            </a:pPr>
            <a:r>
              <a:rPr lang="en-US" sz="1150" i="1" dirty="0">
                <a:solidFill>
                  <a:srgbClr val="9A9189"/>
                </a:solidFill>
                <a:latin typeface="Calibri" pitchFamily="34" charset="0"/>
                <a:ea typeface="Calibri" pitchFamily="34" charset="-122"/>
                <a:cs typeface="Calibri" pitchFamily="34" charset="-120"/>
              </a:rPr>
              <a:t>Not yet in the model: gift cards and group-gift pools, vendor-bills-client-through-CodaCo, and sponsored placement.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C1634F"/>
                </a:solidFill>
                <a:latin typeface="Calibri" pitchFamily="34" charset="0"/>
                <a:ea typeface="Calibri" pitchFamily="34" charset="-122"/>
                <a:cs typeface="Calibri" pitchFamily="34" charset="-120"/>
              </a:rPr>
              <a:t>YEAR 1</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Four cities in the first year</a:t>
            </a:r>
            <a:endParaRPr lang="en-US" sz="3600" dirty="0"/>
          </a:p>
        </p:txBody>
      </p:sp>
      <p:sp>
        <p:nvSpPr>
          <p:cNvPr id="4" name="Text 2"/>
          <p:cNvSpPr txBox="1"/>
          <p:nvPr/>
        </p:nvSpPr>
        <p:spPr>
          <a:xfrm>
            <a:off x="685800" y="1517904"/>
            <a:ext cx="7863840" cy="384048"/>
          </a:xfrm>
          <a:prstGeom prst="rect">
            <a:avLst/>
          </a:prstGeom>
          <a:noFill/>
          <a:ln/>
        </p:spPr>
        <p:txBody>
          <a:bodyPr wrap="square" lIns="0" tIns="0" rIns="0" bIns="0" rtlCol="0" anchor="ctr"/>
          <a:lstStyle/>
          <a:p>
            <a:pPr indent="0" marL="0">
              <a:lnSpc>
                <a:spcPts val="2000"/>
              </a:lnSpc>
              <a:buNone/>
            </a:pPr>
            <a:r>
              <a:rPr lang="en-US" sz="1350" dirty="0">
                <a:solidFill>
                  <a:srgbClr val="5A534C"/>
                </a:solidFill>
                <a:latin typeface="Calibri" pitchFamily="34" charset="0"/>
                <a:ea typeface="Calibri" pitchFamily="34" charset="-122"/>
                <a:cs typeface="Calibri" pitchFamily="34" charset="-120"/>
              </a:rPr>
              <a:t>Portland and Denver open 1 November 2026, with shipped-goods makers nationwide. Seattle follows in May, Los Angeles in August.</a:t>
            </a:r>
            <a:endParaRPr lang="en-US" sz="1350" dirty="0"/>
          </a:p>
        </p:txBody>
      </p:sp>
      <p:graphicFrame>
        <p:nvGraphicFramePr>
          <p:cNvPr id="5" name="Chart 0" descr=""/>
          <p:cNvGraphicFramePr/>
          <p:nvPr/>
        </p:nvGraphicFramePr>
        <p:xfrm>
          <a:off x="640080" y="2212848"/>
          <a:ext cx="7772400" cy="37947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686800" y="2212848"/>
            <a:ext cx="2788920" cy="841248"/>
          </a:xfrm>
          <a:prstGeom prst="roundRect">
            <a:avLst>
              <a:gd name="adj" fmla="val 11957"/>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7" name="Text 4"/>
          <p:cNvSpPr txBox="1"/>
          <p:nvPr/>
        </p:nvSpPr>
        <p:spPr>
          <a:xfrm>
            <a:off x="8851392" y="2286000"/>
            <a:ext cx="2468880" cy="402336"/>
          </a:xfrm>
          <a:prstGeom prst="rect">
            <a:avLst/>
          </a:prstGeom>
          <a:noFill/>
          <a:ln/>
        </p:spPr>
        <p:txBody>
          <a:bodyPr wrap="square" lIns="0" tIns="0" rIns="0" bIns="0" rtlCol="0" anchor="ctr"/>
          <a:lstStyle/>
          <a:p>
            <a:pPr indent="0" marL="0">
              <a:buNone/>
            </a:pPr>
            <a:r>
              <a:rPr lang="en-US" sz="2600" b="1" dirty="0">
                <a:solidFill>
                  <a:srgbClr val="8B3E2D"/>
                </a:solidFill>
                <a:latin typeface="Cambria" pitchFamily="34" charset="0"/>
                <a:ea typeface="Cambria" pitchFamily="34" charset="-122"/>
                <a:cs typeface="Cambria" pitchFamily="34" charset="-120"/>
              </a:rPr>
              <a:t>$101,848</a:t>
            </a:r>
            <a:endParaRPr lang="en-US" sz="2600" dirty="0"/>
          </a:p>
        </p:txBody>
      </p:sp>
      <p:sp>
        <p:nvSpPr>
          <p:cNvPr id="8" name="Text 5"/>
          <p:cNvSpPr txBox="1"/>
          <p:nvPr/>
        </p:nvSpPr>
        <p:spPr>
          <a:xfrm>
            <a:off x="8851392" y="2670048"/>
            <a:ext cx="2468880" cy="219456"/>
          </a:xfrm>
          <a:prstGeom prst="rect">
            <a:avLst/>
          </a:prstGeom>
          <a:noFill/>
          <a:ln/>
        </p:spPr>
        <p:txBody>
          <a:bodyPr wrap="square" lIns="0" tIns="0" rIns="0" bIns="0" rtlCol="0" anchor="ctr"/>
          <a:lstStyle/>
          <a:p>
            <a:pPr indent="0" marL="0">
              <a:buNone/>
            </a:pPr>
            <a:r>
              <a:rPr lang="en-US" sz="1200" b="1" dirty="0">
                <a:solidFill>
                  <a:srgbClr val="2C2825"/>
                </a:solidFill>
                <a:latin typeface="Calibri" pitchFamily="34" charset="0"/>
                <a:ea typeface="Calibri" pitchFamily="34" charset="-122"/>
                <a:cs typeface="Calibri" pitchFamily="34" charset="-120"/>
              </a:rPr>
              <a:t>Year 1 revenue</a:t>
            </a:r>
            <a:endParaRPr lang="en-US" sz="1200" dirty="0"/>
          </a:p>
        </p:txBody>
      </p:sp>
      <p:sp>
        <p:nvSpPr>
          <p:cNvPr id="9" name="Text 6"/>
          <p:cNvSpPr txBox="1"/>
          <p:nvPr/>
        </p:nvSpPr>
        <p:spPr>
          <a:xfrm>
            <a:off x="8851392" y="2862072"/>
            <a:ext cx="2468880" cy="201168"/>
          </a:xfrm>
          <a:prstGeom prst="rect">
            <a:avLst/>
          </a:prstGeom>
          <a:noFill/>
          <a:ln/>
        </p:spPr>
        <p:txBody>
          <a:bodyPr wrap="square" lIns="0" tIns="0" rIns="0" bIns="0" rtlCol="0" anchor="ctr"/>
          <a:lstStyle/>
          <a:p>
            <a:pPr indent="0" marL="0">
              <a:buNone/>
            </a:pPr>
            <a:r>
              <a:rPr lang="en-US" sz="1050" dirty="0">
                <a:solidFill>
                  <a:srgbClr val="5A534C"/>
                </a:solidFill>
                <a:latin typeface="Calibri" pitchFamily="34" charset="0"/>
                <a:ea typeface="Calibri" pitchFamily="34" charset="-122"/>
                <a:cs typeface="Calibri" pitchFamily="34" charset="-120"/>
              </a:rPr>
              <a:t>Nov '26 – Oct '27</a:t>
            </a:r>
            <a:endParaRPr lang="en-US" sz="1050" dirty="0"/>
          </a:p>
        </p:txBody>
      </p:sp>
      <p:sp>
        <p:nvSpPr>
          <p:cNvPr id="10" name="Shape 7"/>
          <p:cNvSpPr/>
          <p:nvPr/>
        </p:nvSpPr>
        <p:spPr>
          <a:xfrm>
            <a:off x="8686800" y="3182112"/>
            <a:ext cx="2788920" cy="841248"/>
          </a:xfrm>
          <a:prstGeom prst="roundRect">
            <a:avLst>
              <a:gd name="adj" fmla="val 11957"/>
            </a:avLst>
          </a:prstGeom>
          <a:solidFill>
            <a:srgbClr val="EAF0EB"/>
          </a:solidFill>
          <a:ln w="9525">
            <a:solidFill>
              <a:srgbClr val="D8E3D9"/>
            </a:solidFill>
            <a:prstDash val="solid"/>
          </a:ln>
          <a:effectLst>
            <a:outerShdw sx="100000" sy="100000" kx="0" ky="0" algn="bl" rotWithShape="0" blurRad="101600" dist="25400" dir="5400000">
              <a:srgbClr val="2C2825">
                <a:alpha val="6000"/>
              </a:srgbClr>
            </a:outerShdw>
          </a:effectLst>
        </p:spPr>
      </p:sp>
      <p:sp>
        <p:nvSpPr>
          <p:cNvPr id="11" name="Text 8"/>
          <p:cNvSpPr txBox="1"/>
          <p:nvPr/>
        </p:nvSpPr>
        <p:spPr>
          <a:xfrm>
            <a:off x="8851392" y="3255264"/>
            <a:ext cx="2468880" cy="402336"/>
          </a:xfrm>
          <a:prstGeom prst="rect">
            <a:avLst/>
          </a:prstGeom>
          <a:noFill/>
          <a:ln/>
        </p:spPr>
        <p:txBody>
          <a:bodyPr wrap="square" lIns="0" tIns="0" rIns="0" bIns="0" rtlCol="0" anchor="ctr"/>
          <a:lstStyle/>
          <a:p>
            <a:pPr indent="0" marL="0">
              <a:buNone/>
            </a:pPr>
            <a:r>
              <a:rPr lang="en-US" sz="2600" b="1" dirty="0">
                <a:solidFill>
                  <a:srgbClr val="4D7255"/>
                </a:solidFill>
                <a:latin typeface="Cambria" pitchFamily="34" charset="0"/>
                <a:ea typeface="Cambria" pitchFamily="34" charset="-122"/>
                <a:cs typeface="Cambria" pitchFamily="34" charset="-120"/>
              </a:rPr>
              <a:t>567</a:t>
            </a:r>
            <a:endParaRPr lang="en-US" sz="2600" dirty="0"/>
          </a:p>
        </p:txBody>
      </p:sp>
      <p:sp>
        <p:nvSpPr>
          <p:cNvPr id="12" name="Text 9"/>
          <p:cNvSpPr txBox="1"/>
          <p:nvPr/>
        </p:nvSpPr>
        <p:spPr>
          <a:xfrm>
            <a:off x="8851392" y="3639312"/>
            <a:ext cx="2468880" cy="219456"/>
          </a:xfrm>
          <a:prstGeom prst="rect">
            <a:avLst/>
          </a:prstGeom>
          <a:noFill/>
          <a:ln/>
        </p:spPr>
        <p:txBody>
          <a:bodyPr wrap="square" lIns="0" tIns="0" rIns="0" bIns="0" rtlCol="0" anchor="ctr"/>
          <a:lstStyle/>
          <a:p>
            <a:pPr indent="0" marL="0">
              <a:buNone/>
            </a:pPr>
            <a:r>
              <a:rPr lang="en-US" sz="1200" b="1" dirty="0">
                <a:solidFill>
                  <a:srgbClr val="2C2825"/>
                </a:solidFill>
                <a:latin typeface="Calibri" pitchFamily="34" charset="0"/>
                <a:ea typeface="Calibri" pitchFamily="34" charset="-122"/>
                <a:cs typeface="Calibri" pitchFamily="34" charset="-120"/>
              </a:rPr>
              <a:t>paying vendors</a:t>
            </a:r>
            <a:endParaRPr lang="en-US" sz="1200" dirty="0"/>
          </a:p>
        </p:txBody>
      </p:sp>
      <p:sp>
        <p:nvSpPr>
          <p:cNvPr id="13" name="Text 10"/>
          <p:cNvSpPr txBox="1"/>
          <p:nvPr/>
        </p:nvSpPr>
        <p:spPr>
          <a:xfrm>
            <a:off x="8851392" y="3831336"/>
            <a:ext cx="2468880" cy="201168"/>
          </a:xfrm>
          <a:prstGeom prst="rect">
            <a:avLst/>
          </a:prstGeom>
          <a:noFill/>
          <a:ln/>
        </p:spPr>
        <p:txBody>
          <a:bodyPr wrap="square" lIns="0" tIns="0" rIns="0" bIns="0" rtlCol="0" anchor="ctr"/>
          <a:lstStyle/>
          <a:p>
            <a:pPr indent="0" marL="0">
              <a:buNone/>
            </a:pPr>
            <a:r>
              <a:rPr lang="en-US" sz="1050" dirty="0">
                <a:solidFill>
                  <a:srgbClr val="5A534C"/>
                </a:solidFill>
                <a:latin typeface="Calibri" pitchFamily="34" charset="0"/>
                <a:ea typeface="Calibri" pitchFamily="34" charset="-122"/>
                <a:cs typeface="Calibri" pitchFamily="34" charset="-120"/>
              </a:rPr>
              <a:t>subscribing in Oct '27</a:t>
            </a:r>
            <a:endParaRPr lang="en-US" sz="1050" dirty="0"/>
          </a:p>
        </p:txBody>
      </p:sp>
      <p:sp>
        <p:nvSpPr>
          <p:cNvPr id="14" name="Shape 11"/>
          <p:cNvSpPr/>
          <p:nvPr/>
        </p:nvSpPr>
        <p:spPr>
          <a:xfrm>
            <a:off x="8686800" y="4151376"/>
            <a:ext cx="2788920" cy="841248"/>
          </a:xfrm>
          <a:prstGeom prst="roundRect">
            <a:avLst>
              <a:gd name="adj" fmla="val 11957"/>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15" name="Text 12"/>
          <p:cNvSpPr txBox="1"/>
          <p:nvPr/>
        </p:nvSpPr>
        <p:spPr>
          <a:xfrm>
            <a:off x="8851392" y="4224528"/>
            <a:ext cx="2468880" cy="402336"/>
          </a:xfrm>
          <a:prstGeom prst="rect">
            <a:avLst/>
          </a:prstGeom>
          <a:noFill/>
          <a:ln/>
        </p:spPr>
        <p:txBody>
          <a:bodyPr wrap="square" lIns="0" tIns="0" rIns="0" bIns="0" rtlCol="0" anchor="ctr"/>
          <a:lstStyle/>
          <a:p>
            <a:pPr indent="0" marL="0">
              <a:buNone/>
            </a:pPr>
            <a:r>
              <a:rPr lang="en-US" sz="2600" b="1" dirty="0">
                <a:solidFill>
                  <a:srgbClr val="8B3E2D"/>
                </a:solidFill>
                <a:latin typeface="Cambria" pitchFamily="34" charset="0"/>
                <a:ea typeface="Cambria" pitchFamily="34" charset="-122"/>
                <a:cs typeface="Cambria" pitchFamily="34" charset="-120"/>
              </a:rPr>
              <a:t>$16,443</a:t>
            </a:r>
            <a:endParaRPr lang="en-US" sz="2600" dirty="0"/>
          </a:p>
        </p:txBody>
      </p:sp>
      <p:sp>
        <p:nvSpPr>
          <p:cNvPr id="16" name="Text 13"/>
          <p:cNvSpPr txBox="1"/>
          <p:nvPr/>
        </p:nvSpPr>
        <p:spPr>
          <a:xfrm>
            <a:off x="8851392" y="4608576"/>
            <a:ext cx="2468880" cy="219456"/>
          </a:xfrm>
          <a:prstGeom prst="rect">
            <a:avLst/>
          </a:prstGeom>
          <a:noFill/>
          <a:ln/>
        </p:spPr>
        <p:txBody>
          <a:bodyPr wrap="square" lIns="0" tIns="0" rIns="0" bIns="0" rtlCol="0" anchor="ctr"/>
          <a:lstStyle/>
          <a:p>
            <a:pPr indent="0" marL="0">
              <a:buNone/>
            </a:pPr>
            <a:r>
              <a:rPr lang="en-US" sz="1200" b="1" dirty="0">
                <a:solidFill>
                  <a:srgbClr val="2C2825"/>
                </a:solidFill>
                <a:latin typeface="Calibri" pitchFamily="34" charset="0"/>
                <a:ea typeface="Calibri" pitchFamily="34" charset="-122"/>
                <a:cs typeface="Calibri" pitchFamily="34" charset="-120"/>
              </a:rPr>
              <a:t>exit monthly revenue</a:t>
            </a:r>
            <a:endParaRPr lang="en-US" sz="1200" dirty="0"/>
          </a:p>
        </p:txBody>
      </p:sp>
      <p:sp>
        <p:nvSpPr>
          <p:cNvPr id="17" name="Text 14"/>
          <p:cNvSpPr txBox="1"/>
          <p:nvPr/>
        </p:nvSpPr>
        <p:spPr>
          <a:xfrm>
            <a:off x="8851392" y="4800600"/>
            <a:ext cx="2468880" cy="201168"/>
          </a:xfrm>
          <a:prstGeom prst="rect">
            <a:avLst/>
          </a:prstGeom>
          <a:noFill/>
          <a:ln/>
        </p:spPr>
        <p:txBody>
          <a:bodyPr wrap="square" lIns="0" tIns="0" rIns="0" bIns="0" rtlCol="0" anchor="ctr"/>
          <a:lstStyle/>
          <a:p>
            <a:pPr indent="0" marL="0">
              <a:buNone/>
            </a:pPr>
            <a:r>
              <a:rPr lang="en-US" sz="1050" dirty="0">
                <a:solidFill>
                  <a:srgbClr val="5A534C"/>
                </a:solidFill>
                <a:latin typeface="Calibri" pitchFamily="34" charset="0"/>
                <a:ea typeface="Calibri" pitchFamily="34" charset="-122"/>
                <a:cs typeface="Calibri" pitchFamily="34" charset="-120"/>
              </a:rPr>
              <a:t>Oct '27 — ≈ $197K ARR</a:t>
            </a:r>
            <a:endParaRPr lang="en-US" sz="1050" dirty="0"/>
          </a:p>
        </p:txBody>
      </p:sp>
      <p:sp>
        <p:nvSpPr>
          <p:cNvPr id="18" name="Shape 15"/>
          <p:cNvSpPr/>
          <p:nvPr/>
        </p:nvSpPr>
        <p:spPr>
          <a:xfrm>
            <a:off x="8686800" y="5120640"/>
            <a:ext cx="2788920" cy="841248"/>
          </a:xfrm>
          <a:prstGeom prst="roundRect">
            <a:avLst>
              <a:gd name="adj" fmla="val 11957"/>
            </a:avLst>
          </a:prstGeom>
          <a:solidFill>
            <a:srgbClr val="EAF0EB"/>
          </a:solidFill>
          <a:ln w="9525">
            <a:solidFill>
              <a:srgbClr val="D8E3D9"/>
            </a:solidFill>
            <a:prstDash val="solid"/>
          </a:ln>
          <a:effectLst>
            <a:outerShdw sx="100000" sy="100000" kx="0" ky="0" algn="bl" rotWithShape="0" blurRad="101600" dist="25400" dir="5400000">
              <a:srgbClr val="2C2825">
                <a:alpha val="6000"/>
              </a:srgbClr>
            </a:outerShdw>
          </a:effectLst>
        </p:spPr>
      </p:sp>
      <p:sp>
        <p:nvSpPr>
          <p:cNvPr id="19" name="Text 16"/>
          <p:cNvSpPr txBox="1"/>
          <p:nvPr/>
        </p:nvSpPr>
        <p:spPr>
          <a:xfrm>
            <a:off x="8851392" y="5193792"/>
            <a:ext cx="2468880" cy="402336"/>
          </a:xfrm>
          <a:prstGeom prst="rect">
            <a:avLst/>
          </a:prstGeom>
          <a:noFill/>
          <a:ln/>
        </p:spPr>
        <p:txBody>
          <a:bodyPr wrap="square" lIns="0" tIns="0" rIns="0" bIns="0" rtlCol="0" anchor="ctr"/>
          <a:lstStyle/>
          <a:p>
            <a:pPr indent="0" marL="0">
              <a:buNone/>
            </a:pPr>
            <a:r>
              <a:rPr lang="en-US" sz="2600" b="1" dirty="0">
                <a:solidFill>
                  <a:srgbClr val="4D7255"/>
                </a:solidFill>
                <a:latin typeface="Cambria" pitchFamily="34" charset="0"/>
                <a:ea typeface="Cambria" pitchFamily="34" charset="-122"/>
                <a:cs typeface="Cambria" pitchFamily="34" charset="-120"/>
              </a:rPr>
              <a:t>4</a:t>
            </a:r>
            <a:endParaRPr lang="en-US" sz="2600" dirty="0"/>
          </a:p>
        </p:txBody>
      </p:sp>
      <p:sp>
        <p:nvSpPr>
          <p:cNvPr id="20" name="Text 17"/>
          <p:cNvSpPr txBox="1"/>
          <p:nvPr/>
        </p:nvSpPr>
        <p:spPr>
          <a:xfrm>
            <a:off x="8851392" y="5577840"/>
            <a:ext cx="2468880" cy="219456"/>
          </a:xfrm>
          <a:prstGeom prst="rect">
            <a:avLst/>
          </a:prstGeom>
          <a:noFill/>
          <a:ln/>
        </p:spPr>
        <p:txBody>
          <a:bodyPr wrap="square" lIns="0" tIns="0" rIns="0" bIns="0" rtlCol="0" anchor="ctr"/>
          <a:lstStyle/>
          <a:p>
            <a:pPr indent="0" marL="0">
              <a:buNone/>
            </a:pPr>
            <a:r>
              <a:rPr lang="en-US" sz="1200" b="1" dirty="0">
                <a:solidFill>
                  <a:srgbClr val="2C2825"/>
                </a:solidFill>
                <a:latin typeface="Calibri" pitchFamily="34" charset="0"/>
                <a:ea typeface="Calibri" pitchFamily="34" charset="-122"/>
                <a:cs typeface="Calibri" pitchFamily="34" charset="-120"/>
              </a:rPr>
              <a:t>metros live</a:t>
            </a:r>
            <a:endParaRPr lang="en-US" sz="1200" dirty="0"/>
          </a:p>
        </p:txBody>
      </p:sp>
      <p:sp>
        <p:nvSpPr>
          <p:cNvPr id="21" name="Text 18"/>
          <p:cNvSpPr txBox="1"/>
          <p:nvPr/>
        </p:nvSpPr>
        <p:spPr>
          <a:xfrm>
            <a:off x="8851392" y="5769864"/>
            <a:ext cx="2468880" cy="201168"/>
          </a:xfrm>
          <a:prstGeom prst="rect">
            <a:avLst/>
          </a:prstGeom>
          <a:noFill/>
          <a:ln/>
        </p:spPr>
        <p:txBody>
          <a:bodyPr wrap="square" lIns="0" tIns="0" rIns="0" bIns="0" rtlCol="0" anchor="ctr"/>
          <a:lstStyle/>
          <a:p>
            <a:pPr indent="0" marL="0">
              <a:buNone/>
            </a:pPr>
            <a:r>
              <a:rPr lang="en-US" sz="1050" dirty="0">
                <a:solidFill>
                  <a:srgbClr val="5A534C"/>
                </a:solidFill>
                <a:latin typeface="Calibri" pitchFamily="34" charset="0"/>
                <a:ea typeface="Calibri" pitchFamily="34" charset="-122"/>
                <a:cs typeface="Calibri" pitchFamily="34" charset="-120"/>
              </a:rPr>
              <a:t>plus nationwide shipping</a:t>
            </a:r>
            <a:endParaRPr lang="en-US" sz="1050" dirty="0"/>
          </a:p>
        </p:txBody>
      </p:sp>
      <p:sp>
        <p:nvSpPr>
          <p:cNvPr id="22" name="Text 19"/>
          <p:cNvSpPr txBox="1"/>
          <p:nvPr/>
        </p:nvSpPr>
        <p:spPr>
          <a:xfrm>
            <a:off x="713232" y="6144768"/>
            <a:ext cx="10698480" cy="256032"/>
          </a:xfrm>
          <a:prstGeom prst="rect">
            <a:avLst/>
          </a:prstGeom>
          <a:noFill/>
          <a:ln/>
        </p:spPr>
        <p:txBody>
          <a:bodyPr wrap="square" lIns="0" tIns="0" rIns="0" bIns="0" rtlCol="0" anchor="ctr"/>
          <a:lstStyle/>
          <a:p>
            <a:pPr indent="0" marL="0">
              <a:buNone/>
            </a:pPr>
            <a:r>
              <a:rPr lang="en-US" sz="1000" dirty="0">
                <a:solidFill>
                  <a:srgbClr val="9A9189"/>
                </a:solidFill>
                <a:latin typeface="Calibri" pitchFamily="34" charset="0"/>
                <a:ea typeface="Calibri" pitchFamily="34" charset="-122"/>
                <a:cs typeface="Calibri" pitchFamily="34" charset="-120"/>
              </a:rPr>
              <a:t>$29 per vendor per month, less 10% attrition on each converting cohort. A vendor’s first payment falls three months after signup, at the end of the free trial — so the first revenue month is December 2026.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4D7255"/>
                </a:solidFill>
                <a:latin typeface="Calibri" pitchFamily="34" charset="0"/>
                <a:ea typeface="Calibri" pitchFamily="34" charset="-122"/>
                <a:cs typeface="Calibri" pitchFamily="34" charset="-120"/>
              </a:rPr>
              <a:t>YEARS 1 – 3</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Five metros by the third year</a:t>
            </a:r>
            <a:endParaRPr lang="en-US" sz="3600" dirty="0"/>
          </a:p>
        </p:txBody>
      </p:sp>
      <p:sp>
        <p:nvSpPr>
          <p:cNvPr id="4" name="Text 2"/>
          <p:cNvSpPr txBox="1"/>
          <p:nvPr/>
        </p:nvSpPr>
        <p:spPr>
          <a:xfrm>
            <a:off x="685800" y="1481328"/>
            <a:ext cx="10424160" cy="384048"/>
          </a:xfrm>
          <a:prstGeom prst="rect">
            <a:avLst/>
          </a:prstGeom>
          <a:noFill/>
          <a:ln/>
        </p:spPr>
        <p:txBody>
          <a:bodyPr wrap="square" lIns="0" tIns="0" rIns="0" bIns="0" rtlCol="0" anchor="ctr"/>
          <a:lstStyle/>
          <a:p>
            <a:pPr indent="0" marL="0">
              <a:lnSpc>
                <a:spcPts val="2000"/>
              </a:lnSpc>
              <a:buNone/>
            </a:pPr>
            <a:r>
              <a:rPr lang="en-US" sz="1350" dirty="0">
                <a:solidFill>
                  <a:srgbClr val="5A534C"/>
                </a:solidFill>
                <a:latin typeface="Calibri" pitchFamily="34" charset="0"/>
                <a:ea typeface="Calibri" pitchFamily="34" charset="-122"/>
                <a:cs typeface="Calibri" pitchFamily="34" charset="-120"/>
              </a:rPr>
              <a:t>The same playbook run city by city, each new metro inheriting a marketplace that already works. Revenue compounds because vendors signed in year one are still subscribing in year three.</a:t>
            </a:r>
            <a:endParaRPr lang="en-US" sz="1350" dirty="0"/>
          </a:p>
        </p:txBody>
      </p:sp>
      <p:graphicFrame>
        <p:nvGraphicFramePr>
          <p:cNvPr id="5" name="Chart 0" descr=""/>
          <p:cNvGraphicFramePr/>
          <p:nvPr/>
        </p:nvGraphicFramePr>
        <p:xfrm>
          <a:off x="640080" y="2286000"/>
          <a:ext cx="4846320" cy="29260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40080" y="5285232"/>
            <a:ext cx="4937760" cy="274320"/>
          </a:xfrm>
          <a:prstGeom prst="rect">
            <a:avLst/>
          </a:prstGeom>
          <a:noFill/>
          <a:ln/>
        </p:spPr>
        <p:txBody>
          <a:bodyPr wrap="square" lIns="0" tIns="0" rIns="0" bIns="0" rtlCol="0" anchor="ctr"/>
          <a:lstStyle/>
          <a:p>
            <a:pPr algn="ctr" indent="0" marL="0">
              <a:buNone/>
            </a:pPr>
            <a:r>
              <a:rPr lang="en-US" sz="1200" b="1" dirty="0">
                <a:solidFill>
                  <a:srgbClr val="8B3E2D"/>
                </a:solidFill>
                <a:latin typeface="Calibri" pitchFamily="34" charset="0"/>
                <a:ea typeface="Calibri" pitchFamily="34" charset="-122"/>
                <a:cs typeface="Calibri" pitchFamily="34" charset="-120"/>
              </a:rPr>
              <a:t>$1,425,105</a:t>
            </a:r>
            <a:pPr algn="ctr" indent="0" marL="0">
              <a:buNone/>
            </a:pPr>
            <a:r>
              <a:rPr lang="en-US" sz="1200" dirty="0">
                <a:solidFill>
                  <a:srgbClr val="5A534C"/>
                </a:solidFill>
                <a:latin typeface="Calibri" pitchFamily="34" charset="0"/>
                <a:ea typeface="Calibri" pitchFamily="34" charset="-122"/>
                <a:cs typeface="Calibri" pitchFamily="34" charset="-120"/>
              </a:rPr>
              <a:t> over three years — exiting at ≈ </a:t>
            </a:r>
            <a:pPr algn="ctr" indent="0" marL="0">
              <a:buNone/>
            </a:pPr>
            <a:r>
              <a:rPr lang="en-US" sz="1200" b="1" dirty="0">
                <a:solidFill>
                  <a:srgbClr val="8B3E2D"/>
                </a:solidFill>
                <a:latin typeface="Calibri" pitchFamily="34" charset="0"/>
                <a:ea typeface="Calibri" pitchFamily="34" charset="-122"/>
                <a:cs typeface="Calibri" pitchFamily="34" charset="-120"/>
              </a:rPr>
              <a:t>$1.11M ARR</a:t>
            </a:r>
            <a:pPr algn="ctr" indent="0" marL="0">
              <a:buNone/>
            </a:pPr>
            <a:r>
              <a:rPr lang="en-US" sz="1200" dirty="0">
                <a:solidFill>
                  <a:srgbClr val="5A534C"/>
                </a:solidFill>
                <a:latin typeface="Calibri" pitchFamily="34" charset="0"/>
                <a:ea typeface="Calibri" pitchFamily="34" charset="-122"/>
                <a:cs typeface="Calibri" pitchFamily="34" charset="-120"/>
              </a:rPr>
              <a:t>.</a:t>
            </a:r>
            <a:endParaRPr lang="en-US" sz="1200" dirty="0"/>
          </a:p>
        </p:txBody>
      </p:sp>
      <p:sp>
        <p:nvSpPr>
          <p:cNvPr id="7" name="Text 4"/>
          <p:cNvSpPr txBox="1"/>
          <p:nvPr/>
        </p:nvSpPr>
        <p:spPr>
          <a:xfrm>
            <a:off x="5806440" y="2286000"/>
            <a:ext cx="5669280" cy="274320"/>
          </a:xfrm>
          <a:prstGeom prst="rect">
            <a:avLst/>
          </a:prstGeom>
          <a:noFill/>
          <a:ln/>
        </p:spPr>
        <p:txBody>
          <a:bodyPr wrap="square" lIns="0" tIns="0" rIns="0" bIns="0" rtlCol="0" anchor="ctr"/>
          <a:lstStyle/>
          <a:p>
            <a:pPr indent="0" marL="0">
              <a:buNone/>
            </a:pPr>
            <a:r>
              <a:rPr lang="en-US" sz="1300" b="1" dirty="0">
                <a:solidFill>
                  <a:srgbClr val="2C2825"/>
                </a:solidFill>
                <a:latin typeface="Calibri" pitchFamily="34" charset="0"/>
                <a:ea typeface="Calibri" pitchFamily="34" charset="-122"/>
                <a:cs typeface="Calibri" pitchFamily="34" charset="-120"/>
              </a:rPr>
              <a:t>Market rollout</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06440" y="2615184"/>
          <a:ext cx="5669280" cy="914400"/>
        </p:xfrm>
        <a:graphic>
          <a:graphicData uri="http://schemas.openxmlformats.org/drawingml/2006/table">
            <a:tbl>
              <a:tblPr/>
              <a:tblGrid>
                <a:gridCol w="1325880"/>
                <a:gridCol w="914400"/>
                <a:gridCol w="1005840"/>
                <a:gridCol w="868680"/>
                <a:gridCol w="1554480"/>
              </a:tblGrid>
              <a:tr h="283464">
                <a:tc>
                  <a:txBody>
                    <a:bodyPr/>
                    <a:lstStyle/>
                    <a:p>
                      <a:pPr indent="0" marL="0">
                        <a:buNone/>
                      </a:pPr>
                      <a:r>
                        <a:rPr lang="en-US" sz="1000" b="1" dirty="0">
                          <a:solidFill>
                            <a:srgbClr val="8B3E2D"/>
                          </a:solidFill>
                          <a:latin typeface="Calibri" pitchFamily="34" charset="0"/>
                          <a:ea typeface="Calibri" pitchFamily="34" charset="-122"/>
                          <a:cs typeface="Calibri" pitchFamily="34" charset="-120"/>
                        </a:rPr>
                        <a:t>Market</a:t>
                      </a:r>
                      <a:endParaRPr lang="en-US" sz="10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000" b="1" dirty="0">
                          <a:solidFill>
                            <a:srgbClr val="8B3E2D"/>
                          </a:solidFill>
                          <a:latin typeface="Calibri" pitchFamily="34" charset="0"/>
                          <a:ea typeface="Calibri" pitchFamily="34" charset="-122"/>
                          <a:cs typeface="Calibri" pitchFamily="34" charset="-120"/>
                        </a:rPr>
                        <a:t>First rev.</a:t>
                      </a:r>
                      <a:endParaRPr lang="en-US" sz="10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8B3E2D"/>
                          </a:solidFill>
                          <a:latin typeface="Calibri" pitchFamily="34" charset="0"/>
                          <a:ea typeface="Calibri" pitchFamily="34" charset="-122"/>
                          <a:cs typeface="Calibri" pitchFamily="34" charset="-120"/>
                        </a:rPr>
                        <a:t>Metro pop.</a:t>
                      </a:r>
                      <a:endParaRPr lang="en-US" sz="10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8B3E2D"/>
                          </a:solidFill>
                          <a:latin typeface="Calibri" pitchFamily="34" charset="0"/>
                          <a:ea typeface="Calibri" pitchFamily="34" charset="-122"/>
                          <a:cs typeface="Calibri" pitchFamily="34" charset="-120"/>
                        </a:rPr>
                        <a:t>Vendors</a:t>
                      </a:r>
                      <a:endParaRPr lang="en-US" sz="10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8B3E2D"/>
                          </a:solidFill>
                          <a:latin typeface="Calibri" pitchFamily="34" charset="0"/>
                          <a:ea typeface="Calibri" pitchFamily="34" charset="-122"/>
                          <a:cs typeface="Calibri" pitchFamily="34" charset="-120"/>
                        </a:rPr>
                        <a:t>Pop. per vendor</a:t>
                      </a:r>
                      <a:endParaRPr lang="en-US" sz="10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Portland</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100" dirty="0">
                          <a:solidFill>
                            <a:srgbClr val="5A534C"/>
                          </a:solidFill>
                          <a:latin typeface="Calibri" pitchFamily="34" charset="0"/>
                          <a:ea typeface="Calibri" pitchFamily="34" charset="-122"/>
                          <a:cs typeface="Calibri" pitchFamily="34" charset="-120"/>
                        </a:rPr>
                        <a:t>Dec '26</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2.5M</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C2825"/>
                          </a:solidFill>
                          <a:latin typeface="Calibri" pitchFamily="34" charset="0"/>
                          <a:ea typeface="Calibri" pitchFamily="34" charset="-122"/>
                          <a:cs typeface="Calibri" pitchFamily="34" charset="-120"/>
                        </a:rPr>
                        <a:t>398</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6,281</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Denver</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100" dirty="0">
                          <a:solidFill>
                            <a:srgbClr val="5A534C"/>
                          </a:solidFill>
                          <a:latin typeface="Calibri" pitchFamily="34" charset="0"/>
                          <a:ea typeface="Calibri" pitchFamily="34" charset="-122"/>
                          <a:cs typeface="Calibri" pitchFamily="34" charset="-120"/>
                        </a:rPr>
                        <a:t>Dec '26</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3.0M</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C2825"/>
                          </a:solidFill>
                          <a:latin typeface="Calibri" pitchFamily="34" charset="0"/>
                          <a:ea typeface="Calibri" pitchFamily="34" charset="-122"/>
                          <a:cs typeface="Calibri" pitchFamily="34" charset="-120"/>
                        </a:rPr>
                        <a:t>418</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7,177</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Seattle</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100" dirty="0">
                          <a:solidFill>
                            <a:srgbClr val="5A534C"/>
                          </a:solidFill>
                          <a:latin typeface="Calibri" pitchFamily="34" charset="0"/>
                          <a:ea typeface="Calibri" pitchFamily="34" charset="-122"/>
                          <a:cs typeface="Calibri" pitchFamily="34" charset="-120"/>
                        </a:rPr>
                        <a:t>May '27</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4.1M</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C2825"/>
                          </a:solidFill>
                          <a:latin typeface="Calibri" pitchFamily="34" charset="0"/>
                          <a:ea typeface="Calibri" pitchFamily="34" charset="-122"/>
                          <a:cs typeface="Calibri" pitchFamily="34" charset="-120"/>
                        </a:rPr>
                        <a:t>495</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8,283</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Los Angeles</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100" dirty="0">
                          <a:solidFill>
                            <a:srgbClr val="5A534C"/>
                          </a:solidFill>
                          <a:latin typeface="Calibri" pitchFamily="34" charset="0"/>
                          <a:ea typeface="Calibri" pitchFamily="34" charset="-122"/>
                          <a:cs typeface="Calibri" pitchFamily="34" charset="-120"/>
                        </a:rPr>
                        <a:t>Aug '27</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12.9M</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C2825"/>
                          </a:solidFill>
                          <a:latin typeface="Calibri" pitchFamily="34" charset="0"/>
                          <a:ea typeface="Calibri" pitchFamily="34" charset="-122"/>
                          <a:cs typeface="Calibri" pitchFamily="34" charset="-120"/>
                        </a:rPr>
                        <a:t>644</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20,031</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New York</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100" dirty="0">
                          <a:solidFill>
                            <a:srgbClr val="5A534C"/>
                          </a:solidFill>
                          <a:latin typeface="Calibri" pitchFamily="34" charset="0"/>
                          <a:ea typeface="Calibri" pitchFamily="34" charset="-122"/>
                          <a:cs typeface="Calibri" pitchFamily="34" charset="-120"/>
                        </a:rPr>
                        <a:t>Dec '27</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20.0M</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C2825"/>
                          </a:solidFill>
                          <a:latin typeface="Calibri" pitchFamily="34" charset="0"/>
                          <a:ea typeface="Calibri" pitchFamily="34" charset="-122"/>
                          <a:cs typeface="Calibri" pitchFamily="34" charset="-120"/>
                        </a:rPr>
                        <a:t>476</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42,017</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Shipped goods</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100" dirty="0">
                          <a:solidFill>
                            <a:srgbClr val="5A534C"/>
                          </a:solidFill>
                          <a:latin typeface="Calibri" pitchFamily="34" charset="0"/>
                          <a:ea typeface="Calibri" pitchFamily="34" charset="-122"/>
                          <a:cs typeface="Calibri" pitchFamily="34" charset="-120"/>
                        </a:rPr>
                        <a:t>Dec '26</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Nationwide</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C2825"/>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Five metros</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2C2825"/>
                          </a:solidFill>
                          <a:latin typeface="Calibri" pitchFamily="34" charset="0"/>
                          <a:ea typeface="Calibri" pitchFamily="34" charset="-122"/>
                          <a:cs typeface="Calibri" pitchFamily="34" charset="-120"/>
                        </a:rPr>
                        <a:t>2,431</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bl>
          </a:graphicData>
        </a:graphic>
      </p:graphicFrame>
      <p:sp>
        <p:nvSpPr>
          <p:cNvPr id="9" name="Shape 5"/>
          <p:cNvSpPr/>
          <p:nvPr/>
        </p:nvSpPr>
        <p:spPr>
          <a:xfrm>
            <a:off x="685800" y="5632704"/>
            <a:ext cx="3429000" cy="841248"/>
          </a:xfrm>
          <a:prstGeom prst="roundRect">
            <a:avLst>
              <a:gd name="adj" fmla="val 11957"/>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10" name="Text 6"/>
          <p:cNvSpPr txBox="1"/>
          <p:nvPr/>
        </p:nvSpPr>
        <p:spPr>
          <a:xfrm>
            <a:off x="886968" y="5724144"/>
            <a:ext cx="3035808" cy="237744"/>
          </a:xfrm>
          <a:prstGeom prst="rect">
            <a:avLst/>
          </a:prstGeom>
          <a:noFill/>
          <a:ln/>
        </p:spPr>
        <p:txBody>
          <a:bodyPr wrap="square" lIns="0" tIns="0" rIns="0" bIns="0" rtlCol="0" anchor="ctr"/>
          <a:lstStyle/>
          <a:p>
            <a:pPr indent="0" marL="0">
              <a:buNone/>
            </a:pPr>
            <a:r>
              <a:rPr lang="en-US" sz="1250" b="1" dirty="0">
                <a:solidFill>
                  <a:srgbClr val="8B3E2D"/>
                </a:solidFill>
                <a:latin typeface="Calibri" pitchFamily="34" charset="0"/>
                <a:ea typeface="Calibri" pitchFamily="34" charset="-122"/>
                <a:cs typeface="Calibri" pitchFamily="34" charset="-120"/>
              </a:rPr>
              <a:t>3-month free trial</a:t>
            </a:r>
            <a:endParaRPr lang="en-US" sz="1250" dirty="0"/>
          </a:p>
        </p:txBody>
      </p:sp>
      <p:sp>
        <p:nvSpPr>
          <p:cNvPr id="11" name="Text 7"/>
          <p:cNvSpPr txBox="1"/>
          <p:nvPr/>
        </p:nvSpPr>
        <p:spPr>
          <a:xfrm>
            <a:off x="886968" y="5980176"/>
            <a:ext cx="3035808" cy="438912"/>
          </a:xfrm>
          <a:prstGeom prst="rect">
            <a:avLst/>
          </a:prstGeom>
          <a:noFill/>
          <a:ln/>
        </p:spPr>
        <p:txBody>
          <a:bodyPr wrap="square" lIns="0" tIns="0" rIns="0" bIns="0" rtlCol="0" anchor="ctr"/>
          <a:lstStyle/>
          <a:p>
            <a:pPr indent="0" marL="0">
              <a:lnSpc>
                <a:spcPts val="1350"/>
              </a:lnSpc>
              <a:buNone/>
            </a:pPr>
            <a:r>
              <a:rPr lang="en-US" sz="1050" dirty="0">
                <a:solidFill>
                  <a:srgbClr val="5A534C"/>
                </a:solidFill>
                <a:latin typeface="Calibri" pitchFamily="34" charset="0"/>
                <a:ea typeface="Calibri" pitchFamily="34" charset="-122"/>
                <a:cs typeface="Calibri" pitchFamily="34" charset="-120"/>
              </a:rPr>
              <a:t>Every vendor starts free, so the first payment lands three months after signup.</a:t>
            </a:r>
            <a:endParaRPr lang="en-US" sz="1050" dirty="0"/>
          </a:p>
        </p:txBody>
      </p:sp>
      <p:sp>
        <p:nvSpPr>
          <p:cNvPr id="12" name="Shape 8"/>
          <p:cNvSpPr/>
          <p:nvPr/>
        </p:nvSpPr>
        <p:spPr>
          <a:xfrm>
            <a:off x="4343400" y="5632704"/>
            <a:ext cx="3429000" cy="841248"/>
          </a:xfrm>
          <a:prstGeom prst="roundRect">
            <a:avLst>
              <a:gd name="adj" fmla="val 11957"/>
            </a:avLst>
          </a:prstGeom>
          <a:solidFill>
            <a:srgbClr val="EAF0EB"/>
          </a:solidFill>
          <a:ln w="9525">
            <a:solidFill>
              <a:srgbClr val="D8E3D9"/>
            </a:solidFill>
            <a:prstDash val="solid"/>
          </a:ln>
          <a:effectLst>
            <a:outerShdw sx="100000" sy="100000" kx="0" ky="0" algn="bl" rotWithShape="0" blurRad="101600" dist="25400" dir="5400000">
              <a:srgbClr val="2C2825">
                <a:alpha val="6000"/>
              </a:srgbClr>
            </a:outerShdw>
          </a:effectLst>
        </p:spPr>
      </p:sp>
      <p:sp>
        <p:nvSpPr>
          <p:cNvPr id="13" name="Text 9"/>
          <p:cNvSpPr txBox="1"/>
          <p:nvPr/>
        </p:nvSpPr>
        <p:spPr>
          <a:xfrm>
            <a:off x="4544568" y="5724144"/>
            <a:ext cx="3035808" cy="237744"/>
          </a:xfrm>
          <a:prstGeom prst="rect">
            <a:avLst/>
          </a:prstGeom>
          <a:noFill/>
          <a:ln/>
        </p:spPr>
        <p:txBody>
          <a:bodyPr wrap="square" lIns="0" tIns="0" rIns="0" bIns="0" rtlCol="0" anchor="ctr"/>
          <a:lstStyle/>
          <a:p>
            <a:pPr indent="0" marL="0">
              <a:buNone/>
            </a:pPr>
            <a:r>
              <a:rPr lang="en-US" sz="1250" b="1" dirty="0">
                <a:solidFill>
                  <a:srgbClr val="4D7255"/>
                </a:solidFill>
                <a:latin typeface="Calibri" pitchFamily="34" charset="0"/>
                <a:ea typeface="Calibri" pitchFamily="34" charset="-122"/>
                <a:cs typeface="Calibri" pitchFamily="34" charset="-120"/>
              </a:rPr>
              <a:t>~10% attrition</a:t>
            </a:r>
            <a:endParaRPr lang="en-US" sz="1250" dirty="0"/>
          </a:p>
        </p:txBody>
      </p:sp>
      <p:sp>
        <p:nvSpPr>
          <p:cNvPr id="14" name="Text 10"/>
          <p:cNvSpPr txBox="1"/>
          <p:nvPr/>
        </p:nvSpPr>
        <p:spPr>
          <a:xfrm>
            <a:off x="4544568" y="5980176"/>
            <a:ext cx="3035808" cy="438912"/>
          </a:xfrm>
          <a:prstGeom prst="rect">
            <a:avLst/>
          </a:prstGeom>
          <a:noFill/>
          <a:ln/>
        </p:spPr>
        <p:txBody>
          <a:bodyPr wrap="square" lIns="0" tIns="0" rIns="0" bIns="0" rtlCol="0" anchor="ctr"/>
          <a:lstStyle/>
          <a:p>
            <a:pPr indent="0" marL="0">
              <a:lnSpc>
                <a:spcPts val="1350"/>
              </a:lnSpc>
              <a:buNone/>
            </a:pPr>
            <a:r>
              <a:rPr lang="en-US" sz="1050" dirty="0">
                <a:solidFill>
                  <a:srgbClr val="5A534C"/>
                </a:solidFill>
                <a:latin typeface="Calibri" pitchFamily="34" charset="0"/>
                <a:ea typeface="Calibri" pitchFamily="34" charset="-122"/>
                <a:cs typeface="Calibri" pitchFamily="34" charset="-120"/>
              </a:rPr>
              <a:t>A tenth of each arriving cohort is written off — churn is in the model, not assumed away.</a:t>
            </a:r>
            <a:endParaRPr lang="en-US" sz="1050" dirty="0"/>
          </a:p>
        </p:txBody>
      </p:sp>
      <p:sp>
        <p:nvSpPr>
          <p:cNvPr id="15" name="Shape 11"/>
          <p:cNvSpPr/>
          <p:nvPr/>
        </p:nvSpPr>
        <p:spPr>
          <a:xfrm>
            <a:off x="8001000" y="5632704"/>
            <a:ext cx="3429000" cy="841248"/>
          </a:xfrm>
          <a:prstGeom prst="roundRect">
            <a:avLst>
              <a:gd name="adj" fmla="val 11957"/>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16" name="Text 12"/>
          <p:cNvSpPr txBox="1"/>
          <p:nvPr/>
        </p:nvSpPr>
        <p:spPr>
          <a:xfrm>
            <a:off x="8202168" y="5724144"/>
            <a:ext cx="3035808" cy="237744"/>
          </a:xfrm>
          <a:prstGeom prst="rect">
            <a:avLst/>
          </a:prstGeom>
          <a:noFill/>
          <a:ln/>
        </p:spPr>
        <p:txBody>
          <a:bodyPr wrap="square" lIns="0" tIns="0" rIns="0" bIns="0" rtlCol="0" anchor="ctr"/>
          <a:lstStyle/>
          <a:p>
            <a:pPr indent="0" marL="0">
              <a:buNone/>
            </a:pPr>
            <a:r>
              <a:rPr lang="en-US" sz="1250" b="1" dirty="0">
                <a:solidFill>
                  <a:srgbClr val="8B3E2D"/>
                </a:solidFill>
                <a:latin typeface="Calibri" pitchFamily="34" charset="0"/>
                <a:ea typeface="Calibri" pitchFamily="34" charset="-122"/>
                <a:cs typeface="Calibri" pitchFamily="34" charset="-120"/>
              </a:rPr>
              <a:t>$29 → $39 from Dec '28</a:t>
            </a:r>
            <a:endParaRPr lang="en-US" sz="1250" dirty="0"/>
          </a:p>
        </p:txBody>
      </p:sp>
      <p:sp>
        <p:nvSpPr>
          <p:cNvPr id="17" name="Text 13"/>
          <p:cNvSpPr txBox="1"/>
          <p:nvPr/>
        </p:nvSpPr>
        <p:spPr>
          <a:xfrm>
            <a:off x="8202168" y="5980176"/>
            <a:ext cx="3035808" cy="438912"/>
          </a:xfrm>
          <a:prstGeom prst="rect">
            <a:avLst/>
          </a:prstGeom>
          <a:noFill/>
          <a:ln/>
        </p:spPr>
        <p:txBody>
          <a:bodyPr wrap="square" lIns="0" tIns="0" rIns="0" bIns="0" rtlCol="0" anchor="ctr"/>
          <a:lstStyle/>
          <a:p>
            <a:pPr indent="0" marL="0">
              <a:lnSpc>
                <a:spcPts val="1350"/>
              </a:lnSpc>
              <a:buNone/>
            </a:pPr>
            <a:r>
              <a:rPr lang="en-US" sz="1050" dirty="0">
                <a:solidFill>
                  <a:srgbClr val="5A534C"/>
                </a:solidFill>
                <a:latin typeface="Calibri" pitchFamily="34" charset="0"/>
                <a:ea typeface="Calibri" pitchFamily="34" charset="-122"/>
                <a:cs typeface="Calibri" pitchFamily="34" charset="-120"/>
              </a:rPr>
              <a:t>One price step in year three, once the marketplace has depth in five metros.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C2825"/>
        </a:solidFill>
      </p:bgPr>
    </p:bg>
    <p:spTree>
      <p:nvGrpSpPr>
        <p:cNvPr id="1" name=""/>
        <p:cNvGrpSpPr/>
        <p:nvPr/>
      </p:nvGrpSpPr>
      <p:grpSpPr>
        <a:xfrm>
          <a:off x="0" y="0"/>
          <a:ext cx="0" cy="0"/>
          <a:chOff x="0" y="0"/>
          <a:chExt cx="0" cy="0"/>
        </a:xfrm>
      </p:grpSpPr>
      <p:sp>
        <p:nvSpPr>
          <p:cNvPr id="2" name="Shape 0"/>
          <p:cNvSpPr/>
          <p:nvPr/>
        </p:nvSpPr>
        <p:spPr>
          <a:xfrm>
            <a:off x="-4206240" y="-2194560"/>
            <a:ext cx="5943600" cy="5943600"/>
          </a:xfrm>
          <a:prstGeom prst="ellipse">
            <a:avLst/>
          </a:prstGeom>
          <a:solidFill>
            <a:srgbClr val="8B3E2D">
              <a:alpha val="14000"/>
            </a:srgbClr>
          </a:solidFill>
          <a:ln/>
        </p:spPr>
      </p:sp>
      <p:sp>
        <p:nvSpPr>
          <p:cNvPr id="3" name="Shape 1"/>
          <p:cNvSpPr/>
          <p:nvPr/>
        </p:nvSpPr>
        <p:spPr>
          <a:xfrm>
            <a:off x="-5120640" y="2377440"/>
            <a:ext cx="5486400" cy="5486400"/>
          </a:xfrm>
          <a:prstGeom prst="ellipse">
            <a:avLst/>
          </a:prstGeom>
          <a:solidFill>
            <a:srgbClr val="4D7255">
              <a:alpha val="12000"/>
            </a:srgbClr>
          </a:solidFill>
          <a:ln/>
        </p:spPr>
      </p:sp>
      <p:sp>
        <p:nvSpPr>
          <p:cNvPr id="4" name="Text 2"/>
          <p:cNvSpPr txBox="1"/>
          <p:nvPr/>
        </p:nvSpPr>
        <p:spPr>
          <a:xfrm>
            <a:off x="685800" y="548640"/>
            <a:ext cx="7315200" cy="256032"/>
          </a:xfrm>
          <a:prstGeom prst="rect">
            <a:avLst/>
          </a:prstGeom>
          <a:noFill/>
          <a:ln/>
        </p:spPr>
        <p:txBody>
          <a:bodyPr wrap="square" lIns="0" tIns="0" rIns="0" bIns="0" rtlCol="0" anchor="ctr"/>
          <a:lstStyle/>
          <a:p>
            <a:pPr indent="0" marL="0">
              <a:buNone/>
            </a:pPr>
            <a:r>
              <a:rPr lang="en-US" sz="1100" b="1" spc="220" kern="0" dirty="0">
                <a:solidFill>
                  <a:srgbClr val="D4876F"/>
                </a:solidFill>
                <a:latin typeface="Calibri" pitchFamily="34" charset="0"/>
                <a:ea typeface="Calibri" pitchFamily="34" charset="-122"/>
                <a:cs typeface="Calibri" pitchFamily="34" charset="-120"/>
              </a:rPr>
              <a:t>THE TEAM</a:t>
            </a:r>
            <a:endParaRPr lang="en-US" sz="1100" dirty="0"/>
          </a:p>
        </p:txBody>
      </p:sp>
      <p:sp>
        <p:nvSpPr>
          <p:cNvPr id="5" name="Text 3"/>
          <p:cNvSpPr txBox="1"/>
          <p:nvPr/>
        </p:nvSpPr>
        <p:spPr>
          <a:xfrm>
            <a:off x="685800" y="859536"/>
            <a:ext cx="10789920" cy="658368"/>
          </a:xfrm>
          <a:prstGeom prst="rect">
            <a:avLst/>
          </a:prstGeom>
          <a:noFill/>
          <a:ln/>
        </p:spPr>
        <p:txBody>
          <a:bodyPr wrap="square" lIns="0" tIns="0" rIns="0" bIns="0" rtlCol="0" anchor="t"/>
          <a:lstStyle/>
          <a:p>
            <a:pPr indent="0" marL="0">
              <a:buNone/>
            </a:pPr>
            <a:r>
              <a:rPr lang="en-US" sz="3200" dirty="0">
                <a:solidFill>
                  <a:srgbClr val="FAF9F7"/>
                </a:solidFill>
                <a:latin typeface="Cambria" pitchFamily="34" charset="0"/>
                <a:ea typeface="Cambria" pitchFamily="34" charset="-122"/>
                <a:cs typeface="Cambria" pitchFamily="34" charset="-120"/>
              </a:rPr>
              <a:t>Built by people who have done this work</a:t>
            </a:r>
            <a:endParaRPr lang="en-US" sz="3200" dirty="0"/>
          </a:p>
        </p:txBody>
      </p:sp>
      <p:sp>
        <p:nvSpPr>
          <p:cNvPr id="6" name="Shape 4"/>
          <p:cNvSpPr/>
          <p:nvPr/>
        </p:nvSpPr>
        <p:spPr>
          <a:xfrm>
            <a:off x="685800" y="1664208"/>
            <a:ext cx="3429000" cy="2761488"/>
          </a:xfrm>
          <a:prstGeom prst="roundRect">
            <a:avLst>
              <a:gd name="adj" fmla="val 3642"/>
            </a:avLst>
          </a:prstGeom>
          <a:solidFill>
            <a:srgbClr val="FAF9F7">
              <a:alpha val="8000"/>
            </a:srgbClr>
          </a:solidFill>
          <a:ln w="12700">
            <a:solidFill>
              <a:srgbClr val="8B3E2D"/>
            </a:solidFill>
            <a:prstDash val="solid"/>
          </a:ln>
        </p:spPr>
      </p:sp>
      <p:sp>
        <p:nvSpPr>
          <p:cNvPr id="7" name="Shape 5"/>
          <p:cNvSpPr/>
          <p:nvPr/>
        </p:nvSpPr>
        <p:spPr>
          <a:xfrm>
            <a:off x="923544" y="1865376"/>
            <a:ext cx="585216" cy="585216"/>
          </a:xfrm>
          <a:prstGeom prst="ellipse">
            <a:avLst/>
          </a:prstGeom>
          <a:solidFill>
            <a:srgbClr val="C1634F"/>
          </a:solidFill>
          <a:ln/>
        </p:spPr>
      </p:sp>
      <p:sp>
        <p:nvSpPr>
          <p:cNvPr id="8" name="Text 6"/>
          <p:cNvSpPr txBox="1"/>
          <p:nvPr/>
        </p:nvSpPr>
        <p:spPr>
          <a:xfrm>
            <a:off x="923544" y="1865376"/>
            <a:ext cx="585216" cy="585216"/>
          </a:xfrm>
          <a:prstGeom prst="rect">
            <a:avLst/>
          </a:prstGeom>
          <a:noFill/>
          <a:ln/>
        </p:spPr>
        <p:txBody>
          <a:bodyPr wrap="square" lIns="0" tIns="0" rIns="0" bIns="0" rtlCol="0" anchor="ctr"/>
          <a:lstStyle/>
          <a:p>
            <a:pPr algn="ctr" indent="0" marL="0">
              <a:buNone/>
            </a:pPr>
            <a:r>
              <a:rPr lang="en-US" sz="1800" b="1" dirty="0">
                <a:solidFill>
                  <a:srgbClr val="2C2825"/>
                </a:solidFill>
                <a:latin typeface="Cambria" pitchFamily="34" charset="0"/>
                <a:ea typeface="Cambria" pitchFamily="34" charset="-122"/>
                <a:cs typeface="Cambria" pitchFamily="34" charset="-120"/>
              </a:rPr>
              <a:t>JB</a:t>
            </a:r>
            <a:endParaRPr lang="en-US" sz="1800" dirty="0"/>
          </a:p>
        </p:txBody>
      </p:sp>
      <p:sp>
        <p:nvSpPr>
          <p:cNvPr id="9" name="Text 7"/>
          <p:cNvSpPr txBox="1"/>
          <p:nvPr/>
        </p:nvSpPr>
        <p:spPr>
          <a:xfrm>
            <a:off x="923544" y="2560320"/>
            <a:ext cx="2962656" cy="292608"/>
          </a:xfrm>
          <a:prstGeom prst="rect">
            <a:avLst/>
          </a:prstGeom>
          <a:noFill/>
          <a:ln/>
        </p:spPr>
        <p:txBody>
          <a:bodyPr wrap="square" lIns="0" tIns="0" rIns="0" bIns="0" rtlCol="0" anchor="ctr"/>
          <a:lstStyle/>
          <a:p>
            <a:pPr indent="0" marL="0">
              <a:buNone/>
            </a:pPr>
            <a:r>
              <a:rPr lang="en-US" sz="1650" dirty="0">
                <a:solidFill>
                  <a:srgbClr val="FAF9F7"/>
                </a:solidFill>
                <a:latin typeface="Cambria" pitchFamily="34" charset="0"/>
                <a:ea typeface="Cambria" pitchFamily="34" charset="-122"/>
                <a:cs typeface="Cambria" pitchFamily="34" charset="-120"/>
              </a:rPr>
              <a:t>Juliana Bernstein</a:t>
            </a:r>
            <a:endParaRPr lang="en-US" sz="1650" dirty="0"/>
          </a:p>
        </p:txBody>
      </p:sp>
      <p:sp>
        <p:nvSpPr>
          <p:cNvPr id="10" name="Text 8"/>
          <p:cNvSpPr txBox="1"/>
          <p:nvPr/>
        </p:nvSpPr>
        <p:spPr>
          <a:xfrm>
            <a:off x="923544" y="2880360"/>
            <a:ext cx="2962656" cy="201168"/>
          </a:xfrm>
          <a:prstGeom prst="rect">
            <a:avLst/>
          </a:prstGeom>
          <a:noFill/>
          <a:ln/>
        </p:spPr>
        <p:txBody>
          <a:bodyPr wrap="square" lIns="0" tIns="0" rIns="0" bIns="0" rtlCol="0" anchor="ctr"/>
          <a:lstStyle/>
          <a:p>
            <a:pPr indent="0" marL="0">
              <a:buNone/>
            </a:pPr>
            <a:r>
              <a:rPr lang="en-US" sz="1000" b="1" spc="200" kern="0" dirty="0">
                <a:solidFill>
                  <a:srgbClr val="D4876F"/>
                </a:solidFill>
                <a:latin typeface="Calibri" pitchFamily="34" charset="0"/>
                <a:ea typeface="Calibri" pitchFamily="34" charset="-122"/>
                <a:cs typeface="Calibri" pitchFamily="34" charset="-120"/>
              </a:rPr>
              <a:t>CO-FOUNDER</a:t>
            </a:r>
            <a:endParaRPr lang="en-US" sz="1000" dirty="0"/>
          </a:p>
        </p:txBody>
      </p:sp>
      <p:sp>
        <p:nvSpPr>
          <p:cNvPr id="11" name="Text 9"/>
          <p:cNvSpPr txBox="1"/>
          <p:nvPr/>
        </p:nvSpPr>
        <p:spPr>
          <a:xfrm>
            <a:off x="923544" y="3145536"/>
            <a:ext cx="2962656" cy="1097280"/>
          </a:xfrm>
          <a:prstGeom prst="rect">
            <a:avLst/>
          </a:prstGeom>
          <a:noFill/>
          <a:ln/>
        </p:spPr>
        <p:txBody>
          <a:bodyPr wrap="square" lIns="0" tIns="0" rIns="0" bIns="0" rtlCol="0" anchor="ctr"/>
          <a:lstStyle/>
          <a:p>
            <a:pPr indent="0" marL="0">
              <a:lnSpc>
                <a:spcPts val="1400"/>
              </a:lnSpc>
              <a:buNone/>
            </a:pPr>
            <a:r>
              <a:rPr lang="en-US" sz="1050" dirty="0">
                <a:solidFill>
                  <a:srgbClr val="EFEBE5"/>
                </a:solidFill>
                <a:latin typeface="Calibri" pitchFamily="34" charset="0"/>
                <a:ea typeface="Calibri" pitchFamily="34" charset="-122"/>
                <a:cs typeface="Calibri" pitchFamily="34" charset="-120"/>
              </a:rPr>
              <a:t>Geriatric physician associate turned entrepreneur. Sixteen years in geriatric and palliative medicine, then founded Oregon’s first event company dedicated to living funerals and celebrations of life. Brown University; OHSU.</a:t>
            </a:r>
            <a:endParaRPr lang="en-US" sz="1050" dirty="0"/>
          </a:p>
        </p:txBody>
      </p:sp>
      <p:sp>
        <p:nvSpPr>
          <p:cNvPr id="12" name="Shape 10"/>
          <p:cNvSpPr/>
          <p:nvPr/>
        </p:nvSpPr>
        <p:spPr>
          <a:xfrm>
            <a:off x="4343400" y="1664208"/>
            <a:ext cx="3429000" cy="2761488"/>
          </a:xfrm>
          <a:prstGeom prst="roundRect">
            <a:avLst>
              <a:gd name="adj" fmla="val 3642"/>
            </a:avLst>
          </a:prstGeom>
          <a:solidFill>
            <a:srgbClr val="FAF9F7">
              <a:alpha val="8000"/>
            </a:srgbClr>
          </a:solidFill>
          <a:ln w="12700">
            <a:solidFill>
              <a:srgbClr val="4D7255"/>
            </a:solidFill>
            <a:prstDash val="solid"/>
          </a:ln>
        </p:spPr>
      </p:sp>
      <p:sp>
        <p:nvSpPr>
          <p:cNvPr id="13" name="Shape 11"/>
          <p:cNvSpPr/>
          <p:nvPr/>
        </p:nvSpPr>
        <p:spPr>
          <a:xfrm>
            <a:off x="4581144" y="1865376"/>
            <a:ext cx="585216" cy="585216"/>
          </a:xfrm>
          <a:prstGeom prst="ellipse">
            <a:avLst/>
          </a:prstGeom>
          <a:solidFill>
            <a:srgbClr val="7A9E82"/>
          </a:solidFill>
          <a:ln/>
        </p:spPr>
      </p:sp>
      <p:sp>
        <p:nvSpPr>
          <p:cNvPr id="14" name="Text 12"/>
          <p:cNvSpPr txBox="1"/>
          <p:nvPr/>
        </p:nvSpPr>
        <p:spPr>
          <a:xfrm>
            <a:off x="4581144" y="1865376"/>
            <a:ext cx="585216" cy="585216"/>
          </a:xfrm>
          <a:prstGeom prst="rect">
            <a:avLst/>
          </a:prstGeom>
          <a:noFill/>
          <a:ln/>
        </p:spPr>
        <p:txBody>
          <a:bodyPr wrap="square" lIns="0" tIns="0" rIns="0" bIns="0" rtlCol="0" anchor="ctr"/>
          <a:lstStyle/>
          <a:p>
            <a:pPr algn="ctr" indent="0" marL="0">
              <a:buNone/>
            </a:pPr>
            <a:r>
              <a:rPr lang="en-US" sz="1800" b="1" dirty="0">
                <a:solidFill>
                  <a:srgbClr val="2C2825"/>
                </a:solidFill>
                <a:latin typeface="Cambria" pitchFamily="34" charset="0"/>
                <a:ea typeface="Cambria" pitchFamily="34" charset="-122"/>
                <a:cs typeface="Cambria" pitchFamily="34" charset="-120"/>
              </a:rPr>
              <a:t>NL</a:t>
            </a:r>
            <a:endParaRPr lang="en-US" sz="1800" dirty="0"/>
          </a:p>
        </p:txBody>
      </p:sp>
      <p:sp>
        <p:nvSpPr>
          <p:cNvPr id="15" name="Text 13"/>
          <p:cNvSpPr txBox="1"/>
          <p:nvPr/>
        </p:nvSpPr>
        <p:spPr>
          <a:xfrm>
            <a:off x="4581144" y="2560320"/>
            <a:ext cx="2962656" cy="292608"/>
          </a:xfrm>
          <a:prstGeom prst="rect">
            <a:avLst/>
          </a:prstGeom>
          <a:noFill/>
          <a:ln/>
        </p:spPr>
        <p:txBody>
          <a:bodyPr wrap="square" lIns="0" tIns="0" rIns="0" bIns="0" rtlCol="0" anchor="ctr"/>
          <a:lstStyle/>
          <a:p>
            <a:pPr indent="0" marL="0">
              <a:buNone/>
            </a:pPr>
            <a:r>
              <a:rPr lang="en-US" sz="1650" dirty="0">
                <a:solidFill>
                  <a:srgbClr val="FAF9F7"/>
                </a:solidFill>
                <a:latin typeface="Cambria" pitchFamily="34" charset="0"/>
                <a:ea typeface="Cambria" pitchFamily="34" charset="-122"/>
                <a:cs typeface="Cambria" pitchFamily="34" charset="-120"/>
              </a:rPr>
              <a:t>Naomi Levy</a:t>
            </a:r>
            <a:endParaRPr lang="en-US" sz="1650" dirty="0"/>
          </a:p>
        </p:txBody>
      </p:sp>
      <p:sp>
        <p:nvSpPr>
          <p:cNvPr id="16" name="Text 14"/>
          <p:cNvSpPr txBox="1"/>
          <p:nvPr/>
        </p:nvSpPr>
        <p:spPr>
          <a:xfrm>
            <a:off x="4581144" y="2880360"/>
            <a:ext cx="2962656" cy="201168"/>
          </a:xfrm>
          <a:prstGeom prst="rect">
            <a:avLst/>
          </a:prstGeom>
          <a:noFill/>
          <a:ln/>
        </p:spPr>
        <p:txBody>
          <a:bodyPr wrap="square" lIns="0" tIns="0" rIns="0" bIns="0" rtlCol="0" anchor="ctr"/>
          <a:lstStyle/>
          <a:p>
            <a:pPr indent="0" marL="0">
              <a:buNone/>
            </a:pPr>
            <a:r>
              <a:rPr lang="en-US" sz="1000" b="1" spc="200" kern="0" dirty="0">
                <a:solidFill>
                  <a:srgbClr val="A8C4AC"/>
                </a:solidFill>
                <a:latin typeface="Calibri" pitchFamily="34" charset="0"/>
                <a:ea typeface="Calibri" pitchFamily="34" charset="-122"/>
                <a:cs typeface="Calibri" pitchFamily="34" charset="-120"/>
              </a:rPr>
              <a:t>CO-FOUNDER</a:t>
            </a:r>
            <a:endParaRPr lang="en-US" sz="1000" dirty="0"/>
          </a:p>
        </p:txBody>
      </p:sp>
      <p:sp>
        <p:nvSpPr>
          <p:cNvPr id="17" name="Text 15"/>
          <p:cNvSpPr txBox="1"/>
          <p:nvPr/>
        </p:nvSpPr>
        <p:spPr>
          <a:xfrm>
            <a:off x="4581144" y="3145536"/>
            <a:ext cx="2962656" cy="1097280"/>
          </a:xfrm>
          <a:prstGeom prst="rect">
            <a:avLst/>
          </a:prstGeom>
          <a:noFill/>
          <a:ln/>
        </p:spPr>
        <p:txBody>
          <a:bodyPr wrap="square" lIns="0" tIns="0" rIns="0" bIns="0" rtlCol="0" anchor="ctr"/>
          <a:lstStyle/>
          <a:p>
            <a:pPr indent="0" marL="0">
              <a:lnSpc>
                <a:spcPts val="1400"/>
              </a:lnSpc>
              <a:buNone/>
            </a:pPr>
            <a:r>
              <a:rPr lang="en-US" sz="1050" dirty="0">
                <a:solidFill>
                  <a:srgbClr val="EFEBE5"/>
                </a:solidFill>
                <a:latin typeface="Calibri" pitchFamily="34" charset="0"/>
                <a:ea typeface="Calibri" pitchFamily="34" charset="-122"/>
                <a:cs typeface="Calibri" pitchFamily="34" charset="-120"/>
              </a:rPr>
              <a:t>Seventeen years in product and project management of economic forecasts, then founded a home-organizing practice helping people manage their lives and belongings. Economics, New York University.</a:t>
            </a:r>
            <a:endParaRPr lang="en-US" sz="1050" dirty="0"/>
          </a:p>
        </p:txBody>
      </p:sp>
      <p:sp>
        <p:nvSpPr>
          <p:cNvPr id="18" name="Shape 16"/>
          <p:cNvSpPr/>
          <p:nvPr/>
        </p:nvSpPr>
        <p:spPr>
          <a:xfrm>
            <a:off x="8001000" y="1664208"/>
            <a:ext cx="3429000" cy="2761488"/>
          </a:xfrm>
          <a:prstGeom prst="roundRect">
            <a:avLst>
              <a:gd name="adj" fmla="val 3642"/>
            </a:avLst>
          </a:prstGeom>
          <a:solidFill>
            <a:srgbClr val="FAF9F7">
              <a:alpha val="8000"/>
            </a:srgbClr>
          </a:solidFill>
          <a:ln w="12700">
            <a:solidFill>
              <a:srgbClr val="8B3E2D"/>
            </a:solidFill>
            <a:prstDash val="solid"/>
          </a:ln>
        </p:spPr>
      </p:sp>
      <p:sp>
        <p:nvSpPr>
          <p:cNvPr id="19" name="Shape 17"/>
          <p:cNvSpPr/>
          <p:nvPr/>
        </p:nvSpPr>
        <p:spPr>
          <a:xfrm>
            <a:off x="8238744" y="1865376"/>
            <a:ext cx="585216" cy="585216"/>
          </a:xfrm>
          <a:prstGeom prst="ellipse">
            <a:avLst/>
          </a:prstGeom>
          <a:solidFill>
            <a:srgbClr val="C1634F"/>
          </a:solidFill>
          <a:ln/>
        </p:spPr>
      </p:sp>
      <p:sp>
        <p:nvSpPr>
          <p:cNvPr id="20" name="Text 18"/>
          <p:cNvSpPr txBox="1"/>
          <p:nvPr/>
        </p:nvSpPr>
        <p:spPr>
          <a:xfrm>
            <a:off x="8238744" y="1865376"/>
            <a:ext cx="585216" cy="585216"/>
          </a:xfrm>
          <a:prstGeom prst="rect">
            <a:avLst/>
          </a:prstGeom>
          <a:noFill/>
          <a:ln/>
        </p:spPr>
        <p:txBody>
          <a:bodyPr wrap="square" lIns="0" tIns="0" rIns="0" bIns="0" rtlCol="0" anchor="ctr"/>
          <a:lstStyle/>
          <a:p>
            <a:pPr algn="ctr" indent="0" marL="0">
              <a:buNone/>
            </a:pPr>
            <a:r>
              <a:rPr lang="en-US" sz="1800" b="1" dirty="0">
                <a:solidFill>
                  <a:srgbClr val="2C2825"/>
                </a:solidFill>
                <a:latin typeface="Cambria" pitchFamily="34" charset="0"/>
                <a:ea typeface="Cambria" pitchFamily="34" charset="-122"/>
                <a:cs typeface="Cambria" pitchFamily="34" charset="-120"/>
              </a:rPr>
              <a:t>AS</a:t>
            </a:r>
            <a:endParaRPr lang="en-US" sz="1800" dirty="0"/>
          </a:p>
        </p:txBody>
      </p:sp>
      <p:sp>
        <p:nvSpPr>
          <p:cNvPr id="21" name="Text 19"/>
          <p:cNvSpPr txBox="1"/>
          <p:nvPr/>
        </p:nvSpPr>
        <p:spPr>
          <a:xfrm>
            <a:off x="8238744" y="2560320"/>
            <a:ext cx="2962656" cy="292608"/>
          </a:xfrm>
          <a:prstGeom prst="rect">
            <a:avLst/>
          </a:prstGeom>
          <a:noFill/>
          <a:ln/>
        </p:spPr>
        <p:txBody>
          <a:bodyPr wrap="square" lIns="0" tIns="0" rIns="0" bIns="0" rtlCol="0" anchor="ctr"/>
          <a:lstStyle/>
          <a:p>
            <a:pPr indent="0" marL="0">
              <a:buNone/>
            </a:pPr>
            <a:r>
              <a:rPr lang="en-US" sz="1450" dirty="0">
                <a:solidFill>
                  <a:srgbClr val="FAF9F7"/>
                </a:solidFill>
                <a:latin typeface="Cambria" pitchFamily="34" charset="0"/>
                <a:ea typeface="Cambria" pitchFamily="34" charset="-122"/>
                <a:cs typeface="Cambria" pitchFamily="34" charset="-120"/>
              </a:rPr>
              <a:t>Alison Shmerling, MD, MPH</a:t>
            </a:r>
            <a:endParaRPr lang="en-US" sz="1450" dirty="0"/>
          </a:p>
        </p:txBody>
      </p:sp>
      <p:sp>
        <p:nvSpPr>
          <p:cNvPr id="22" name="Text 20"/>
          <p:cNvSpPr txBox="1"/>
          <p:nvPr/>
        </p:nvSpPr>
        <p:spPr>
          <a:xfrm>
            <a:off x="8238744" y="2880360"/>
            <a:ext cx="2962656" cy="201168"/>
          </a:xfrm>
          <a:prstGeom prst="rect">
            <a:avLst/>
          </a:prstGeom>
          <a:noFill/>
          <a:ln/>
        </p:spPr>
        <p:txBody>
          <a:bodyPr wrap="square" lIns="0" tIns="0" rIns="0" bIns="0" rtlCol="0" anchor="ctr"/>
          <a:lstStyle/>
          <a:p>
            <a:pPr indent="0" marL="0">
              <a:buNone/>
            </a:pPr>
            <a:r>
              <a:rPr lang="en-US" sz="1000" b="1" spc="200" kern="0" dirty="0">
                <a:solidFill>
                  <a:srgbClr val="D4876F"/>
                </a:solidFill>
                <a:latin typeface="Calibri" pitchFamily="34" charset="0"/>
                <a:ea typeface="Calibri" pitchFamily="34" charset="-122"/>
                <a:cs typeface="Calibri" pitchFamily="34" charset="-120"/>
              </a:rPr>
              <a:t>ADVISOR</a:t>
            </a:r>
            <a:endParaRPr lang="en-US" sz="1000" dirty="0"/>
          </a:p>
        </p:txBody>
      </p:sp>
      <p:sp>
        <p:nvSpPr>
          <p:cNvPr id="23" name="Text 21"/>
          <p:cNvSpPr txBox="1"/>
          <p:nvPr/>
        </p:nvSpPr>
        <p:spPr>
          <a:xfrm>
            <a:off x="8238744" y="3145536"/>
            <a:ext cx="2962656" cy="1097280"/>
          </a:xfrm>
          <a:prstGeom prst="rect">
            <a:avLst/>
          </a:prstGeom>
          <a:noFill/>
          <a:ln/>
        </p:spPr>
        <p:txBody>
          <a:bodyPr wrap="square" lIns="0" tIns="0" rIns="0" bIns="0" rtlCol="0" anchor="ctr"/>
          <a:lstStyle/>
          <a:p>
            <a:pPr indent="0" marL="0">
              <a:lnSpc>
                <a:spcPts val="1400"/>
              </a:lnSpc>
              <a:buNone/>
            </a:pPr>
            <a:r>
              <a:rPr lang="en-US" sz="1050" dirty="0">
                <a:solidFill>
                  <a:srgbClr val="EFEBE5"/>
                </a:solidFill>
                <a:latin typeface="Calibri" pitchFamily="34" charset="0"/>
                <a:ea typeface="Calibri" pitchFamily="34" charset="-122"/>
                <a:cs typeface="Calibri" pitchFamily="34" charset="-120"/>
              </a:rPr>
              <a:t>Physician in underserved care settings, building programs at the intersection of underserved care and healthcare technology. Northwestern University; Tufts University School of Medicine.</a:t>
            </a:r>
            <a:endParaRPr lang="en-US" sz="1050" dirty="0"/>
          </a:p>
        </p:txBody>
      </p:sp>
      <p:sp>
        <p:nvSpPr>
          <p:cNvPr id="24" name="Shape 22"/>
          <p:cNvSpPr/>
          <p:nvPr/>
        </p:nvSpPr>
        <p:spPr>
          <a:xfrm>
            <a:off x="685800" y="4700016"/>
            <a:ext cx="10789920" cy="1280160"/>
          </a:xfrm>
          <a:prstGeom prst="roundRect">
            <a:avLst>
              <a:gd name="adj" fmla="val 7857"/>
            </a:avLst>
          </a:prstGeom>
          <a:solidFill>
            <a:srgbClr val="8B3E2D">
              <a:alpha val="38000"/>
            </a:srgbClr>
          </a:solidFill>
          <a:ln w="12700">
            <a:solidFill>
              <a:srgbClr val="D4876F"/>
            </a:solidFill>
            <a:prstDash val="solid"/>
          </a:ln>
        </p:spPr>
      </p:sp>
      <p:sp>
        <p:nvSpPr>
          <p:cNvPr id="25" name="Text 23"/>
          <p:cNvSpPr txBox="1"/>
          <p:nvPr/>
        </p:nvSpPr>
        <p:spPr>
          <a:xfrm>
            <a:off x="960120" y="4864608"/>
            <a:ext cx="2743200" cy="274320"/>
          </a:xfrm>
          <a:prstGeom prst="rect">
            <a:avLst/>
          </a:prstGeom>
          <a:noFill/>
          <a:ln/>
        </p:spPr>
        <p:txBody>
          <a:bodyPr wrap="square" lIns="0" tIns="0" rIns="0" bIns="0" rtlCol="0" anchor="ctr"/>
          <a:lstStyle/>
          <a:p>
            <a:pPr indent="0" marL="0">
              <a:buNone/>
            </a:pPr>
            <a:r>
              <a:rPr lang="en-US" sz="1100" b="1" spc="200" kern="0" dirty="0">
                <a:solidFill>
                  <a:srgbClr val="D4876F"/>
                </a:solidFill>
                <a:latin typeface="Calibri" pitchFamily="34" charset="0"/>
                <a:ea typeface="Calibri" pitchFamily="34" charset="-122"/>
                <a:cs typeface="Calibri" pitchFamily="34" charset="-120"/>
              </a:rPr>
              <a:t>The ask</a:t>
            </a:r>
            <a:endParaRPr lang="en-US" sz="1100" dirty="0"/>
          </a:p>
        </p:txBody>
      </p:sp>
      <p:sp>
        <p:nvSpPr>
          <p:cNvPr id="26" name="Text 24"/>
          <p:cNvSpPr txBox="1"/>
          <p:nvPr/>
        </p:nvSpPr>
        <p:spPr>
          <a:xfrm>
            <a:off x="960120" y="5157216"/>
            <a:ext cx="7680960" cy="658368"/>
          </a:xfrm>
          <a:prstGeom prst="rect">
            <a:avLst/>
          </a:prstGeom>
          <a:noFill/>
          <a:ln/>
        </p:spPr>
        <p:txBody>
          <a:bodyPr wrap="square" lIns="0" tIns="0" rIns="0" bIns="0" rtlCol="0" anchor="ctr"/>
          <a:lstStyle/>
          <a:p>
            <a:pPr indent="0" marL="0">
              <a:lnSpc>
                <a:spcPts val="2300"/>
              </a:lnSpc>
              <a:buNone/>
            </a:pPr>
            <a:r>
              <a:rPr lang="en-US" sz="1600" dirty="0">
                <a:solidFill>
                  <a:srgbClr val="FAF9F7"/>
                </a:solidFill>
                <a:latin typeface="Cambria" pitchFamily="34" charset="0"/>
                <a:ea typeface="Cambria" pitchFamily="34" charset="-122"/>
                <a:cs typeface="Cambria" pitchFamily="34" charset="-120"/>
              </a:rPr>
              <a:t>We are raising [amount] to fund vendor recruitment in Portland and Denver through launch and the first twelve months.</a:t>
            </a:r>
            <a:endParaRPr lang="en-US" sz="1600" dirty="0"/>
          </a:p>
        </p:txBody>
      </p:sp>
      <p:sp>
        <p:nvSpPr>
          <p:cNvPr id="27" name="Text 25"/>
          <p:cNvSpPr txBox="1"/>
          <p:nvPr/>
        </p:nvSpPr>
        <p:spPr>
          <a:xfrm>
            <a:off x="8869680" y="5138928"/>
            <a:ext cx="2377440" cy="640080"/>
          </a:xfrm>
          <a:prstGeom prst="rect">
            <a:avLst/>
          </a:prstGeom>
          <a:noFill/>
          <a:ln/>
        </p:spPr>
        <p:txBody>
          <a:bodyPr wrap="square" lIns="0" tIns="0" rIns="0" bIns="0" rtlCol="0" anchor="ctr"/>
          <a:lstStyle/>
          <a:p>
            <a:pPr algn="r" indent="0" marL="0">
              <a:lnSpc>
                <a:spcPts val="1700"/>
              </a:lnSpc>
              <a:buNone/>
            </a:pPr>
            <a:r>
              <a:rPr lang="en-US" sz="1200" dirty="0">
                <a:solidFill>
                  <a:srgbClr val="EFEBE5"/>
                </a:solidFill>
                <a:latin typeface="Calibri" pitchFamily="34" charset="0"/>
                <a:ea typeface="Calibri" pitchFamily="34" charset="-122"/>
                <a:cs typeface="Calibri" pitchFamily="34" charset="-120"/>
              </a:rPr>
              <a:t>hello@codaco.market</a:t>
            </a:r>
            <a:endParaRPr lang="en-US" sz="1200" dirty="0"/>
          </a:p>
          <a:p>
            <a:pPr algn="r" indent="0" marL="0">
              <a:lnSpc>
                <a:spcPts val="1700"/>
              </a:lnSpc>
              <a:buNone/>
            </a:pPr>
            <a:r>
              <a:rPr lang="en-US" sz="1200" dirty="0">
                <a:solidFill>
                  <a:srgbClr val="EFEBE5"/>
                </a:solidFill>
                <a:latin typeface="Calibri" pitchFamily="34" charset="0"/>
                <a:ea typeface="Calibri" pitchFamily="34" charset="-122"/>
                <a:cs typeface="Calibri" pitchFamily="34" charset="-120"/>
              </a:rPr>
              <a:t>coda-co-nine.vercel.app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CodaCo Market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CodaCo — Investor Overview</dc:title>
  <dc:subject>PptxGenJS Presentation</dc:subject>
  <dc:creator>CodaCo Market</dc:creator>
  <cp:lastModifiedBy>CodaCo Market</cp:lastModifiedBy>
  <cp:revision>1</cp:revision>
  <dcterms:created xsi:type="dcterms:W3CDTF">2026-08-31T11:05:05Z</dcterms:created>
  <dcterms:modified xsi:type="dcterms:W3CDTF">2026-08-31T11:05:05Z</dcterms:modified>
</cp:coreProperties>
</file>